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8"/>
  </p:notesMasterIdLst>
  <p:sldIdLst>
    <p:sldId id="291" r:id="rId2"/>
    <p:sldId id="281" r:id="rId3"/>
    <p:sldId id="290" r:id="rId4"/>
    <p:sldId id="293" r:id="rId5"/>
    <p:sldId id="294" r:id="rId6"/>
    <p:sldId id="296" r:id="rId7"/>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8" d="100"/>
          <a:sy n="68" d="100"/>
        </p:scale>
        <p:origin x="792" y="72"/>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10/20/2026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10/20/2026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10/20/2026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10/20/2026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10/20/2026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10/20/2026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10/20/2026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10/20/2026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10/20/2026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10/20/2026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10/20/2026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10/20/2026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10/20/2026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hyperlink" Target="https://youtu.be/LYlQtrBbpes" TargetMode="External"/><Relationship Id="rId4" Type="http://schemas.openxmlformats.org/officeDocument/2006/relationships/image" Target="../media/image3.pn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3" Type="http://schemas.openxmlformats.org/officeDocument/2006/relationships/image" Target="../media/image2.png"/><Relationship Id="rId7" Type="http://schemas.openxmlformats.org/officeDocument/2006/relationships/image" Target="../media/image12.png"/><Relationship Id="rId12"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5.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2.png"/><Relationship Id="rId7" Type="http://schemas.openxmlformats.org/officeDocument/2006/relationships/image" Target="../media/image23.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5.png"/><Relationship Id="rId9" Type="http://schemas.openxmlformats.org/officeDocument/2006/relationships/image" Target="../media/image24.png"/></Relationships>
</file>

<file path=ppt/slides/_rels/slide6.xml.rels><?xml version="1.0" encoding="UTF-8" standalone="yes"?>
<Relationships xmlns="http://schemas.openxmlformats.org/package/2006/relationships"><Relationship Id="rId8" Type="http://schemas.openxmlformats.org/officeDocument/2006/relationships/hyperlink" Target="https://www.ejalshakti.gov.in/JJMReport/JJMIndia.aspx" TargetMode="External"/><Relationship Id="rId13" Type="http://schemas.openxmlformats.org/officeDocument/2006/relationships/hyperlink" Target="https://www.sih.gov.in/sih2026PS" TargetMode="External"/><Relationship Id="rId18" Type="http://schemas.openxmlformats.org/officeDocument/2006/relationships/hyperlink" Target="https://youtu.be/LYlQtrBbpes" TargetMode="External"/><Relationship Id="rId26" Type="http://schemas.openxmlformats.org/officeDocument/2006/relationships/image" Target="../media/image34.png"/><Relationship Id="rId3" Type="http://schemas.openxmlformats.org/officeDocument/2006/relationships/image" Target="../media/image2.png"/><Relationship Id="rId21" Type="http://schemas.openxmlformats.org/officeDocument/2006/relationships/image" Target="../media/image29.png"/><Relationship Id="rId7" Type="http://schemas.openxmlformats.org/officeDocument/2006/relationships/hyperlink" Target="https://www.pmindia.gov.in/en/news_updates/cabinet-approves-extension-of-jal-jeevan-mission-jjm-period-up-to-december-2028-with-enhanced-outlay-and-restructured-implementation-focusing-on-structural-reforms-in-rural-drinking-water-supply-sec/" TargetMode="External"/><Relationship Id="rId12" Type="http://schemas.openxmlformats.org/officeDocument/2006/relationships/hyperlink" Target="https://www.sciencedirect.com/science/article/pii/S1474706524000160" TargetMode="External"/><Relationship Id="rId17" Type="http://schemas.openxmlformats.org/officeDocument/2006/relationships/image" Target="../media/image28.png"/><Relationship Id="rId25" Type="http://schemas.openxmlformats.org/officeDocument/2006/relationships/image" Target="../media/image33.png"/><Relationship Id="rId2" Type="http://schemas.openxmlformats.org/officeDocument/2006/relationships/notesSlide" Target="../notesSlides/notesSlide5.xml"/><Relationship Id="rId16" Type="http://schemas.openxmlformats.org/officeDocument/2006/relationships/image" Target="../media/image27.png"/><Relationship Id="rId20"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hyperlink" Target="https://www.pib.gov.in/PressReleasePage.aspx?PRID=2209798" TargetMode="External"/><Relationship Id="rId11" Type="http://schemas.openxmlformats.org/officeDocument/2006/relationships/hyperlink" Target="https://jaljeevanmission.gov.in/sites/default/files/2025-05/JalJeevanSamvad-October-2023-en.pdf" TargetMode="External"/><Relationship Id="rId24" Type="http://schemas.openxmlformats.org/officeDocument/2006/relationships/image" Target="../media/image32.png"/><Relationship Id="rId5" Type="http://schemas.openxmlformats.org/officeDocument/2006/relationships/hyperlink" Target="https://www.pib.gov.in/PressReleasePage.aspx?PRID=2298959" TargetMode="External"/><Relationship Id="rId15" Type="http://schemas.openxmlformats.org/officeDocument/2006/relationships/image" Target="../media/image26.png"/><Relationship Id="rId23" Type="http://schemas.openxmlformats.org/officeDocument/2006/relationships/image" Target="../media/image31.png"/><Relationship Id="rId28" Type="http://schemas.openxmlformats.org/officeDocument/2006/relationships/image" Target="../media/image36.png"/><Relationship Id="rId10" Type="http://schemas.openxmlformats.org/officeDocument/2006/relationships/hyperlink" Target="https://www.pib.gov.in/PressReleaseIframePage.aspx?PRID=1708701" TargetMode="External"/><Relationship Id="rId19" Type="http://schemas.openxmlformats.org/officeDocument/2006/relationships/hyperlink" Target="https://github.com/Thrisha236/JalRakshak" TargetMode="External"/><Relationship Id="rId4" Type="http://schemas.openxmlformats.org/officeDocument/2006/relationships/hyperlink" Target="https://jaljeevanmission.gov.in/sites/default/files/2025-12/FHTC_National%20Report%202024.pdf" TargetMode="External"/><Relationship Id="rId9" Type="http://schemas.openxmlformats.org/officeDocument/2006/relationships/hyperlink" Target="https://www.ejalshakti.gov.in/WQMIS/" TargetMode="External"/><Relationship Id="rId14" Type="http://schemas.openxmlformats.org/officeDocument/2006/relationships/image" Target="../media/image25.png"/><Relationship Id="rId22" Type="http://schemas.openxmlformats.org/officeDocument/2006/relationships/image" Target="../media/image30.png"/><Relationship Id="rId27"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9120848B-B2B4-45BE-A961-AEC0B06CF41B}"/>
              </a:ext>
            </a:extLst>
          </p:cNvPr>
          <p:cNvPicPr>
            <a:picLocks noChangeAspect="1"/>
          </p:cNvPicPr>
          <p:nvPr/>
        </p:nvPicPr>
        <p:blipFill rotWithShape="1">
          <a:blip r:embed="rId2"/>
          <a:srcRect r="59916"/>
          <a:stretch/>
        </p:blipFill>
        <p:spPr>
          <a:xfrm>
            <a:off x="6854891" y="1715881"/>
            <a:ext cx="3203509" cy="3426237"/>
          </a:xfrm>
          <a:prstGeom prst="rect">
            <a:avLst/>
          </a:prstGeom>
        </p:spPr>
      </p:pic>
      <p:sp>
        <p:nvSpPr>
          <p:cNvPr id="4" name="Subtitle 3"/>
          <p:cNvSpPr>
            <a:spLocks noGrp="1"/>
          </p:cNvSpPr>
          <p:nvPr>
            <p:ph type="subTitle" idx="1"/>
          </p:nvPr>
        </p:nvSpPr>
        <p:spPr>
          <a:xfrm>
            <a:off x="1245686" y="648614"/>
            <a:ext cx="8534400" cy="1752600"/>
          </a:xfrm>
        </p:spPr>
        <p:txBody>
          <a:bodyPr/>
          <a:lstStyle/>
          <a:p>
            <a:r>
              <a:rPr lang="en-US" b="1">
                <a:solidFill>
                  <a:srgbClr val="0F766E"/>
                </a:solidFill>
                <a:latin typeface="Times New Roman" panose="02020603050405020304" pitchFamily="18" charset="0"/>
                <a:cs typeface="Times New Roman" panose="02020603050405020304" pitchFamily="18" charset="0"/>
              </a:rPr>
              <a:t>JalRakshak</a:t>
            </a:r>
            <a:endParaRPr lang="en-IN" b="1" dirty="0">
              <a:solidFill>
                <a:srgbClr val="0F766E"/>
              </a:solidFill>
              <a:latin typeface="Times New Roman" panose="02020603050405020304" pitchFamily="18" charset="0"/>
              <a:cs typeface="Times New Roman" panose="02020603050405020304" pitchFamily="18" charset="0"/>
            </a:endParaRPr>
          </a:p>
        </p:txBody>
      </p:sp>
      <p:sp>
        <p:nvSpPr>
          <p:cNvPr id="8" name="Title 7"/>
          <p:cNvSpPr>
            <a:spLocks noGrp="1"/>
          </p:cNvSpPr>
          <p:nvPr>
            <p:ph type="ctrTitle"/>
          </p:nvPr>
        </p:nvSpPr>
        <p:spPr>
          <a:xfrm>
            <a:off x="331286" y="-526757"/>
            <a:ext cx="10363200" cy="2076450"/>
          </a:xfrm>
        </p:spPr>
        <p:txBody>
          <a:bodyPr/>
          <a:lstStyle/>
          <a:p>
            <a:r>
              <a:rPr lang="en-US" sz="4000" b="1" dirty="0">
                <a:solidFill>
                  <a:schemeClr val="tx2"/>
                </a:solidFill>
                <a:latin typeface="Garamond" panose="02020404030301010803" pitchFamily="18" charset="0"/>
              </a:rPr>
              <a:t>SMART INDIA HACKATHON 2026</a:t>
            </a:r>
            <a:endParaRPr lang="en-IN" sz="4000" b="1" dirty="0">
              <a:solidFill>
                <a:schemeClr val="tx2"/>
              </a:solidFill>
              <a:latin typeface="Garamond" panose="02020404030301010803" pitchFamily="18" charset="0"/>
            </a:endParaRPr>
          </a:p>
        </p:txBody>
      </p:sp>
      <p:sp>
        <p:nvSpPr>
          <p:cNvPr id="10" name="TextBox 9"/>
          <p:cNvSpPr txBox="1"/>
          <p:nvPr/>
        </p:nvSpPr>
        <p:spPr>
          <a:xfrm>
            <a:off x="331286" y="1625599"/>
            <a:ext cx="6604000" cy="2922851"/>
          </a:xfrm>
          <a:prstGeom prst="rect">
            <a:avLst/>
          </a:prstGeom>
          <a:noFill/>
        </p:spPr>
        <p:txBody>
          <a:bodyPr wrap="square" rtlCol="0">
            <a:spAutoFit/>
          </a:bodyPr>
          <a:lstStyle/>
          <a:p>
            <a:pPr marL="342900" indent="-342900">
              <a:spcBef>
                <a:spcPts val="0"/>
              </a:spcBef>
              <a:spcAft>
                <a:spcPts val="700"/>
              </a:spcAft>
              <a:buFont typeface="+mj-lt"/>
              <a:buChar char="•"/>
            </a:pPr>
            <a:r>
              <a:rPr lang="en-US" sz="1250" b="1">
                <a:latin typeface="Arial" panose="020B0604020202020204" pitchFamily="34" charset="0"/>
              </a:rPr>
              <a:t>Problem Statement ID - </a:t>
            </a:r>
            <a:r>
              <a:rPr lang="en-US" sz="1250">
                <a:latin typeface="Arial" panose="020B0604020202020204" pitchFamily="34" charset="0"/>
              </a:rPr>
              <a:t>SIH26255</a:t>
            </a:r>
          </a:p>
          <a:p>
            <a:pPr marL="342900" indent="-342900">
              <a:spcBef>
                <a:spcPts val="0"/>
              </a:spcBef>
              <a:spcAft>
                <a:spcPts val="700"/>
              </a:spcAft>
              <a:buFont typeface="+mj-lt"/>
              <a:buChar char="•"/>
            </a:pPr>
            <a:r>
              <a:rPr lang="en-US" sz="1250" b="1">
                <a:latin typeface="Arial" panose="020B0604020202020204" pitchFamily="34" charset="0"/>
              </a:rPr>
              <a:t>Problem Statement Title - </a:t>
            </a:r>
            <a:r>
              <a:rPr lang="en-US" sz="1020">
                <a:latin typeface="Arial" panose="020B0604020202020204" pitchFamily="34" charset="0"/>
              </a:rPr>
              <a:t>Development of a solution using AI and ML to monitor the functionality of FHTC in real time at both the Gram Panchayat and household levels. This solution should provide alerts on water quality issues, allow village members to give feedback through mobile devices, and automatically sync data with IMIS/Sujal Gaon IDs.</a:t>
            </a:r>
          </a:p>
          <a:p>
            <a:pPr marL="342900" indent="-342900">
              <a:spcBef>
                <a:spcPts val="0"/>
              </a:spcBef>
              <a:spcAft>
                <a:spcPts val="700"/>
              </a:spcAft>
              <a:buFont typeface="+mj-lt"/>
              <a:buChar char="•"/>
            </a:pPr>
            <a:r>
              <a:rPr lang="en-US" sz="1250" b="1">
                <a:latin typeface="Arial" panose="020B0604020202020204" pitchFamily="34" charset="0"/>
              </a:rPr>
              <a:t>Organization - </a:t>
            </a:r>
            <a:r>
              <a:rPr lang="en-US" sz="1250">
                <a:latin typeface="Arial" panose="020B0604020202020204" pitchFamily="34" charset="0"/>
              </a:rPr>
              <a:t>Ministry of Jal Shakti (MoJS)</a:t>
            </a:r>
          </a:p>
          <a:p>
            <a:pPr marL="342900" indent="-342900">
              <a:spcBef>
                <a:spcPts val="0"/>
              </a:spcBef>
              <a:spcAft>
                <a:spcPts val="700"/>
              </a:spcAft>
              <a:buFont typeface="+mj-lt"/>
              <a:buChar char="•"/>
            </a:pPr>
            <a:r>
              <a:rPr lang="en-US" sz="1250" b="1">
                <a:latin typeface="Arial" panose="020B0604020202020204" pitchFamily="34" charset="0"/>
              </a:rPr>
              <a:t>Department - </a:t>
            </a:r>
            <a:r>
              <a:rPr lang="en-US" sz="1250">
                <a:latin typeface="Arial" panose="020B0604020202020204" pitchFamily="34" charset="0"/>
              </a:rPr>
              <a:t>National Jal Jeevan Mission (NJJM), Department of Drinking Water &amp; Sanitation (DDWS)</a:t>
            </a:r>
          </a:p>
          <a:p>
            <a:pPr marL="342900" indent="-342900">
              <a:spcBef>
                <a:spcPts val="0"/>
              </a:spcBef>
              <a:spcAft>
                <a:spcPts val="700"/>
              </a:spcAft>
              <a:buFont typeface="+mj-lt"/>
              <a:buChar char="•"/>
            </a:pPr>
            <a:r>
              <a:rPr lang="en-US" sz="1250" b="1">
                <a:latin typeface="Arial" panose="020B0604020202020204" pitchFamily="34" charset="0"/>
              </a:rPr>
              <a:t>Theme - </a:t>
            </a:r>
            <a:r>
              <a:rPr lang="en-US" sz="1250">
                <a:latin typeface="Arial" panose="020B0604020202020204" pitchFamily="34" charset="0"/>
              </a:rPr>
              <a:t>Clean &amp; Green Technology</a:t>
            </a:r>
          </a:p>
          <a:p>
            <a:pPr marL="342900" indent="-342900">
              <a:spcBef>
                <a:spcPts val="0"/>
              </a:spcBef>
              <a:spcAft>
                <a:spcPts val="700"/>
              </a:spcAft>
              <a:buFont typeface="+mj-lt"/>
              <a:buChar char="•"/>
            </a:pPr>
            <a:r>
              <a:rPr lang="en-US" sz="1250" b="1">
                <a:latin typeface="Arial" panose="020B0604020202020204" pitchFamily="34" charset="0"/>
              </a:rPr>
              <a:t>PS Category - </a:t>
            </a:r>
            <a:r>
              <a:rPr lang="en-US" sz="1250">
                <a:latin typeface="Arial" panose="020B0604020202020204" pitchFamily="34" charset="0"/>
              </a:rPr>
              <a:t>Hardware</a:t>
            </a:r>
          </a:p>
          <a:p>
            <a:pPr marL="342900" indent="-342900">
              <a:spcBef>
                <a:spcPts val="0"/>
              </a:spcBef>
              <a:spcAft>
                <a:spcPts val="700"/>
              </a:spcAft>
              <a:buFont typeface="+mj-lt"/>
              <a:buChar char="•"/>
            </a:pPr>
            <a:r>
              <a:rPr lang="en-US" sz="1250" b="1">
                <a:latin typeface="Arial" panose="020B0604020202020204" pitchFamily="34" charset="0"/>
              </a:rPr>
              <a:t>Team ID - </a:t>
            </a:r>
            <a:r>
              <a:rPr lang="en-US" sz="1250">
                <a:latin typeface="Arial" panose="020B0604020202020204" pitchFamily="34" charset="0"/>
              </a:rPr>
              <a:t>158724</a:t>
            </a:r>
          </a:p>
          <a:p>
            <a:pPr marL="342900" indent="-342900">
              <a:spcBef>
                <a:spcPts val="0"/>
              </a:spcBef>
              <a:spcAft>
                <a:spcPts val="700"/>
              </a:spcAft>
              <a:buFont typeface="+mj-lt"/>
              <a:buChar char="•"/>
            </a:pPr>
            <a:r>
              <a:rPr lang="en-US" sz="1250" b="1">
                <a:latin typeface="Arial" panose="020B0604020202020204" pitchFamily="34" charset="0"/>
              </a:rPr>
              <a:t>Team Name - </a:t>
            </a:r>
            <a:r>
              <a:rPr lang="en-US" sz="1250">
                <a:latin typeface="Arial" panose="020B0604020202020204" pitchFamily="34" charset="0"/>
              </a:rPr>
              <a:t>Team Vistaar</a:t>
            </a:r>
            <a:endParaRPr lang="en-IN" sz="1250" dirty="0">
              <a:latin typeface="Arial" panose="020B0604020202020204" pitchFamily="34" charset="0"/>
              <a:cs typeface="Arial" panose="020B0604020202020204" pitchFamily="34" charset="0"/>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3" name="TextBox 2">
            <a:extLst>
              <a:ext uri="{FF2B5EF4-FFF2-40B4-BE49-F238E27FC236}">
                <a16:creationId xmlns:a16="http://schemas.microsoft.com/office/drawing/2014/main" id="{F2DD4626-7B69-B44E-19E1-256FF0AE70E5}"/>
              </a:ext>
            </a:extLst>
          </p:cNvPr>
          <p:cNvSpPr txBox="1"/>
          <p:nvPr/>
        </p:nvSpPr>
        <p:spPr>
          <a:xfrm>
            <a:off x="1244600" y="1219200"/>
            <a:ext cx="85344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US" sz="1500" i="1">
                <a:solidFill>
                  <a:srgbClr val="475569"/>
                </a:solidFill>
                <a:latin typeface="Arial" panose="020B0604020202020204" pitchFamily="34" charset="0"/>
              </a:rPr>
              <a:t>Your Water. Your Village. Your Voice.</a:t>
            </a:r>
            <a:endParaRPr lang="en-IN" sz="1500" i="1">
              <a:solidFill>
                <a:srgbClr val="475569"/>
              </a:solidFill>
              <a:latin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5361" name="Title 1"/>
          <p:cNvSpPr>
            <a:spLocks noGrp="1"/>
          </p:cNvSpPr>
          <p:nvPr>
            <p:ph type="title"/>
          </p:nvPr>
        </p:nvSpPr>
        <p:spPr>
          <a:xfrm>
            <a:off x="1778000" y="0"/>
            <a:ext cx="7874000" cy="1143000"/>
          </a:xfrm>
        </p:spPr>
        <p:txBody>
          <a:bodyPr/>
          <a:lstStyle/>
          <a:p>
            <a:pPr eaLnBrk="1" hangingPunct="1"/>
            <a:r>
              <a:rPr lang="en-US" sz="2600" b="1">
                <a:latin typeface="Times New Roman" panose="02020603050405020304" pitchFamily="18" charset="0"/>
                <a:ea typeface="ＭＳ Ｐゴシック" pitchFamily="1" charset="-128"/>
                <a:cs typeface="Times New Roman" panose="02020603050405020304" pitchFamily="18" charset="0"/>
              </a:rPr>
              <a:t>THE PROBLEM &amp; OUR SOLUTION</a:t>
            </a:r>
            <a:endParaRPr lang="en-US" sz="2600" b="1" dirty="0">
              <a:latin typeface="Times New Roman" panose="02020603050405020304" pitchFamily="18" charset="0"/>
              <a:ea typeface="ＭＳ Ｐゴシック" pitchFamily="1" charset="-128"/>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rPr>
              <a:pPr/>
              <a:t>2</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0" name="Oval 9"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100"/>
              <a:t>Team Vistaar</a:t>
            </a:r>
            <a:endParaRPr lang="en-IN" sz="1100"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2" name="Rectangle: Rounded Corners 1">
            <a:extLst>
              <a:ext uri="{FF2B5EF4-FFF2-40B4-BE49-F238E27FC236}">
                <a16:creationId xmlns:a16="http://schemas.microsoft.com/office/drawing/2014/main" id="{1D8D7631-3565-AD6B-4366-6A368F771303}"/>
              </a:ext>
            </a:extLst>
          </p:cNvPr>
          <p:cNvSpPr/>
          <p:nvPr/>
        </p:nvSpPr>
        <p:spPr>
          <a:xfrm>
            <a:off x="304800" y="1168400"/>
            <a:ext cx="3022600" cy="4038600"/>
          </a:xfrm>
          <a:prstGeom prst="roundRect">
            <a:avLst>
              <a:gd name="adj" fmla="val 8000"/>
            </a:avLst>
          </a:prstGeom>
          <a:solidFill>
            <a:srgbClr val="FFF7F5"/>
          </a:solidFill>
          <a:ln w="9525">
            <a:solidFill>
              <a:srgbClr val="F3C9C0"/>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 name="Rectangle: Rounded Corners 2">
            <a:extLst>
              <a:ext uri="{FF2B5EF4-FFF2-40B4-BE49-F238E27FC236}">
                <a16:creationId xmlns:a16="http://schemas.microsoft.com/office/drawing/2014/main" id="{FAB86C95-0A4D-BBDC-77EF-51536873A164}"/>
              </a:ext>
            </a:extLst>
          </p:cNvPr>
          <p:cNvSpPr/>
          <p:nvPr/>
        </p:nvSpPr>
        <p:spPr>
          <a:xfrm>
            <a:off x="406400" y="1244600"/>
            <a:ext cx="2819400" cy="279400"/>
          </a:xfrm>
          <a:prstGeom prst="roundRect">
            <a:avLst>
              <a:gd name="adj" fmla="val 8000"/>
            </a:avLst>
          </a:prstGeom>
          <a:solidFill>
            <a:srgbClr val="B91C1C"/>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50" b="1">
                <a:solidFill>
                  <a:srgbClr val="FFFFFF"/>
                </a:solidFill>
                <a:latin typeface="Arial" panose="020B0604020202020204" pitchFamily="34" charset="0"/>
              </a:rPr>
              <a:t>THE PROBLEM</a:t>
            </a:r>
          </a:p>
        </p:txBody>
      </p:sp>
      <p:pic>
        <p:nvPicPr>
          <p:cNvPr id="5" name="Picture 4">
            <a:extLst>
              <a:ext uri="{FF2B5EF4-FFF2-40B4-BE49-F238E27FC236}">
                <a16:creationId xmlns:a16="http://schemas.microsoft.com/office/drawing/2014/main" id="{360A9A9A-B130-3DC5-9B4C-4D4578DE1B8B}"/>
              </a:ext>
            </a:extLst>
          </p:cNvPr>
          <p:cNvPicPr>
            <a:picLocks/>
          </p:cNvPicPr>
          <p:nvPr/>
        </p:nvPicPr>
        <p:blipFill>
          <a:blip r:embed="rId4"/>
          <a:stretch>
            <a:fillRect/>
          </a:stretch>
        </p:blipFill>
        <p:spPr>
          <a:xfrm>
            <a:off x="381000" y="1651000"/>
            <a:ext cx="355600" cy="355600"/>
          </a:xfrm>
          <a:prstGeom prst="rect">
            <a:avLst/>
          </a:prstGeom>
        </p:spPr>
      </p:pic>
      <p:sp>
        <p:nvSpPr>
          <p:cNvPr id="8" name="TextBox 7">
            <a:extLst>
              <a:ext uri="{FF2B5EF4-FFF2-40B4-BE49-F238E27FC236}">
                <a16:creationId xmlns:a16="http://schemas.microsoft.com/office/drawing/2014/main" id="{B676E538-3BA4-9B0E-6748-CE4BF511A671}"/>
              </a:ext>
            </a:extLst>
          </p:cNvPr>
          <p:cNvSpPr txBox="1"/>
          <p:nvPr/>
        </p:nvSpPr>
        <p:spPr>
          <a:xfrm>
            <a:off x="812800" y="1574800"/>
            <a:ext cx="24130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900" b="1">
                <a:solidFill>
                  <a:srgbClr val="1F2937"/>
                </a:solidFill>
                <a:latin typeface="Arial" panose="020B0604020202020204" pitchFamily="34" charset="0"/>
              </a:rPr>
              <a:t>Found out too late</a:t>
            </a:r>
          </a:p>
          <a:p>
            <a:pPr>
              <a:spcBef>
                <a:spcPts val="0"/>
              </a:spcBef>
              <a:spcAft>
                <a:spcPts val="300"/>
              </a:spcAft>
            </a:pPr>
            <a:r>
              <a:rPr lang="en-US" sz="770">
                <a:solidFill>
                  <a:srgbClr val="475569"/>
                </a:solidFill>
                <a:latin typeface="Arial" panose="020B0604020202020204" pitchFamily="34" charset="0"/>
              </a:rPr>
              <a:t>Problems surface through periodic reports and field inspections, by which time a tap may be dry for days</a:t>
            </a:r>
            <a:endParaRPr lang="en-IN" sz="770">
              <a:solidFill>
                <a:srgbClr val="475569"/>
              </a:solidFill>
              <a:latin typeface="Arial" panose="020B0604020202020204" pitchFamily="34" charset="0"/>
            </a:endParaRPr>
          </a:p>
        </p:txBody>
      </p:sp>
      <p:pic>
        <p:nvPicPr>
          <p:cNvPr id="13" name="Picture 12">
            <a:extLst>
              <a:ext uri="{FF2B5EF4-FFF2-40B4-BE49-F238E27FC236}">
                <a16:creationId xmlns:a16="http://schemas.microsoft.com/office/drawing/2014/main" id="{03C874ED-6519-F3D8-D599-96CFBFA30C58}"/>
              </a:ext>
            </a:extLst>
          </p:cNvPr>
          <p:cNvPicPr>
            <a:picLocks/>
          </p:cNvPicPr>
          <p:nvPr/>
        </p:nvPicPr>
        <p:blipFill>
          <a:blip r:embed="rId5"/>
          <a:stretch>
            <a:fillRect/>
          </a:stretch>
        </p:blipFill>
        <p:spPr>
          <a:xfrm>
            <a:off x="381000" y="2374900"/>
            <a:ext cx="355600" cy="355600"/>
          </a:xfrm>
          <a:prstGeom prst="rect">
            <a:avLst/>
          </a:prstGeom>
        </p:spPr>
      </p:pic>
      <p:sp>
        <p:nvSpPr>
          <p:cNvPr id="14" name="TextBox 13">
            <a:extLst>
              <a:ext uri="{FF2B5EF4-FFF2-40B4-BE49-F238E27FC236}">
                <a16:creationId xmlns:a16="http://schemas.microsoft.com/office/drawing/2014/main" id="{719586AB-C328-13E1-AC15-B2330F8D1447}"/>
              </a:ext>
            </a:extLst>
          </p:cNvPr>
          <p:cNvSpPr txBox="1"/>
          <p:nvPr/>
        </p:nvSpPr>
        <p:spPr>
          <a:xfrm>
            <a:off x="812800" y="2298700"/>
            <a:ext cx="24130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900" b="1">
                <a:solidFill>
                  <a:srgbClr val="1F2937"/>
                </a:solidFill>
                <a:latin typeface="Arial" panose="020B0604020202020204" pitchFamily="34" charset="0"/>
              </a:rPr>
              <a:t>Disruptions nobody sees</a:t>
            </a:r>
          </a:p>
          <a:p>
            <a:pPr>
              <a:spcBef>
                <a:spcPts val="0"/>
              </a:spcBef>
              <a:spcAft>
                <a:spcPts val="300"/>
              </a:spcAft>
            </a:pPr>
            <a:r>
              <a:rPr lang="en-US" sz="770">
                <a:solidFill>
                  <a:srgbClr val="475569"/>
                </a:solidFill>
                <a:latin typeface="Arial" panose="020B0604020202020204" pitchFamily="34" charset="0"/>
              </a:rPr>
              <a:t>Non-functional taps, intermittent supply, poor water quality, low pressure and failing pipes show up only when someone complains</a:t>
            </a:r>
            <a:endParaRPr lang="en-IN" sz="770">
              <a:solidFill>
                <a:srgbClr val="475569"/>
              </a:solidFill>
              <a:latin typeface="Arial" panose="020B0604020202020204" pitchFamily="34" charset="0"/>
            </a:endParaRPr>
          </a:p>
        </p:txBody>
      </p:sp>
      <p:pic>
        <p:nvPicPr>
          <p:cNvPr id="16" name="Picture 15">
            <a:extLst>
              <a:ext uri="{FF2B5EF4-FFF2-40B4-BE49-F238E27FC236}">
                <a16:creationId xmlns:a16="http://schemas.microsoft.com/office/drawing/2014/main" id="{AD97F5D7-1C6C-B86D-2AF9-F60AADE98AD6}"/>
              </a:ext>
            </a:extLst>
          </p:cNvPr>
          <p:cNvPicPr>
            <a:picLocks/>
          </p:cNvPicPr>
          <p:nvPr/>
        </p:nvPicPr>
        <p:blipFill>
          <a:blip r:embed="rId6"/>
          <a:stretch>
            <a:fillRect/>
          </a:stretch>
        </p:blipFill>
        <p:spPr>
          <a:xfrm>
            <a:off x="381000" y="3098800"/>
            <a:ext cx="355600" cy="355600"/>
          </a:xfrm>
          <a:prstGeom prst="rect">
            <a:avLst/>
          </a:prstGeom>
        </p:spPr>
      </p:pic>
      <p:sp>
        <p:nvSpPr>
          <p:cNvPr id="17" name="TextBox 16">
            <a:extLst>
              <a:ext uri="{FF2B5EF4-FFF2-40B4-BE49-F238E27FC236}">
                <a16:creationId xmlns:a16="http://schemas.microsoft.com/office/drawing/2014/main" id="{DC0388C5-DC38-0C46-70EB-728BAE50FEB1}"/>
              </a:ext>
            </a:extLst>
          </p:cNvPr>
          <p:cNvSpPr txBox="1"/>
          <p:nvPr/>
        </p:nvSpPr>
        <p:spPr>
          <a:xfrm>
            <a:off x="812800" y="3022600"/>
            <a:ext cx="24130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900" b="1">
                <a:solidFill>
                  <a:srgbClr val="1F2937"/>
                </a:solidFill>
                <a:latin typeface="Arial" panose="020B0604020202020204" pitchFamily="34" charset="0"/>
              </a:rPr>
              <a:t>Villagers have no easy voice</a:t>
            </a:r>
          </a:p>
          <a:p>
            <a:pPr>
              <a:spcBef>
                <a:spcPts val="0"/>
              </a:spcBef>
              <a:spcAft>
                <a:spcPts val="300"/>
              </a:spcAft>
            </a:pPr>
            <a:r>
              <a:rPr lang="en-US" sz="770">
                <a:solidFill>
                  <a:srgbClr val="475569"/>
                </a:solidFill>
                <a:latin typeface="Arial" panose="020B0604020202020204" pitchFamily="34" charset="0"/>
              </a:rPr>
              <a:t>No quick way to report a dry tap, share a photo, or confirm that the water really came back</a:t>
            </a:r>
            <a:endParaRPr lang="en-IN" sz="770">
              <a:solidFill>
                <a:srgbClr val="475569"/>
              </a:solidFill>
              <a:latin typeface="Arial" panose="020B0604020202020204" pitchFamily="34" charset="0"/>
            </a:endParaRPr>
          </a:p>
        </p:txBody>
      </p:sp>
      <p:pic>
        <p:nvPicPr>
          <p:cNvPr id="19" name="Picture 18">
            <a:extLst>
              <a:ext uri="{FF2B5EF4-FFF2-40B4-BE49-F238E27FC236}">
                <a16:creationId xmlns:a16="http://schemas.microsoft.com/office/drawing/2014/main" id="{0A5B3F85-B826-7F3B-A935-60ED14F1A8E6}"/>
              </a:ext>
            </a:extLst>
          </p:cNvPr>
          <p:cNvPicPr>
            <a:picLocks/>
          </p:cNvPicPr>
          <p:nvPr/>
        </p:nvPicPr>
        <p:blipFill>
          <a:blip r:embed="rId7"/>
          <a:stretch>
            <a:fillRect/>
          </a:stretch>
        </p:blipFill>
        <p:spPr>
          <a:xfrm>
            <a:off x="381000" y="3822700"/>
            <a:ext cx="355600" cy="355600"/>
          </a:xfrm>
          <a:prstGeom prst="rect">
            <a:avLst/>
          </a:prstGeom>
        </p:spPr>
      </p:pic>
      <p:sp>
        <p:nvSpPr>
          <p:cNvPr id="20" name="TextBox 19">
            <a:extLst>
              <a:ext uri="{FF2B5EF4-FFF2-40B4-BE49-F238E27FC236}">
                <a16:creationId xmlns:a16="http://schemas.microsoft.com/office/drawing/2014/main" id="{0F51B1A9-8154-83B0-59DD-EB537BFA626F}"/>
              </a:ext>
            </a:extLst>
          </p:cNvPr>
          <p:cNvSpPr txBox="1"/>
          <p:nvPr/>
        </p:nvSpPr>
        <p:spPr>
          <a:xfrm>
            <a:off x="812800" y="3746500"/>
            <a:ext cx="24130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900" b="1">
                <a:solidFill>
                  <a:srgbClr val="1F2937"/>
                </a:solidFill>
                <a:latin typeface="Arial" panose="020B0604020202020204" pitchFamily="34" charset="0"/>
              </a:rPr>
              <a:t>Data sits in separate places</a:t>
            </a:r>
          </a:p>
          <a:p>
            <a:pPr>
              <a:spcBef>
                <a:spcPts val="0"/>
              </a:spcBef>
              <a:spcAft>
                <a:spcPts val="300"/>
              </a:spcAft>
            </a:pPr>
            <a:r>
              <a:rPr lang="en-US" sz="770">
                <a:solidFill>
                  <a:srgbClr val="475569"/>
                </a:solidFill>
                <a:latin typeface="Arial" panose="020B0604020202020204" pitchFamily="34" charset="0"/>
              </a:rPr>
              <a:t>Sensors, mobile apps, water-quality results and citizen feedback are rarely seen together in one village view</a:t>
            </a:r>
            <a:endParaRPr lang="en-IN" sz="770">
              <a:solidFill>
                <a:srgbClr val="475569"/>
              </a:solidFill>
              <a:latin typeface="Arial" panose="020B0604020202020204" pitchFamily="34" charset="0"/>
            </a:endParaRPr>
          </a:p>
        </p:txBody>
      </p:sp>
      <p:pic>
        <p:nvPicPr>
          <p:cNvPr id="22" name="Picture 21">
            <a:extLst>
              <a:ext uri="{FF2B5EF4-FFF2-40B4-BE49-F238E27FC236}">
                <a16:creationId xmlns:a16="http://schemas.microsoft.com/office/drawing/2014/main" id="{351076F3-2EEE-4EE7-566B-A5012C69C69B}"/>
              </a:ext>
            </a:extLst>
          </p:cNvPr>
          <p:cNvPicPr>
            <a:picLocks/>
          </p:cNvPicPr>
          <p:nvPr/>
        </p:nvPicPr>
        <p:blipFill>
          <a:blip r:embed="rId8"/>
          <a:stretch>
            <a:fillRect/>
          </a:stretch>
        </p:blipFill>
        <p:spPr>
          <a:xfrm>
            <a:off x="381000" y="4546600"/>
            <a:ext cx="355600" cy="355600"/>
          </a:xfrm>
          <a:prstGeom prst="rect">
            <a:avLst/>
          </a:prstGeom>
        </p:spPr>
      </p:pic>
      <p:sp>
        <p:nvSpPr>
          <p:cNvPr id="23" name="TextBox 22">
            <a:extLst>
              <a:ext uri="{FF2B5EF4-FFF2-40B4-BE49-F238E27FC236}">
                <a16:creationId xmlns:a16="http://schemas.microsoft.com/office/drawing/2014/main" id="{BEDA1FE0-0470-280D-38DC-D255DFD9D0A6}"/>
              </a:ext>
            </a:extLst>
          </p:cNvPr>
          <p:cNvSpPr txBox="1"/>
          <p:nvPr/>
        </p:nvSpPr>
        <p:spPr>
          <a:xfrm>
            <a:off x="812800" y="4470400"/>
            <a:ext cx="24130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900" b="1">
                <a:solidFill>
                  <a:srgbClr val="1F2937"/>
                </a:solidFill>
                <a:latin typeface="Arial" panose="020B0604020202020204" pitchFamily="34" charset="0"/>
              </a:rPr>
              <a:t>A tap is not a service</a:t>
            </a:r>
          </a:p>
          <a:p>
            <a:pPr>
              <a:spcBef>
                <a:spcPts val="0"/>
              </a:spcBef>
              <a:spcAft>
                <a:spcPts val="300"/>
              </a:spcAft>
            </a:pPr>
            <a:r>
              <a:rPr lang="en-US" sz="770">
                <a:solidFill>
                  <a:srgbClr val="475569"/>
                </a:solidFill>
                <a:latin typeface="Arial" panose="020B0604020202020204" pitchFamily="34" charset="0"/>
              </a:rPr>
              <a:t>98.1% of surveyed homes had a tap, yet only 76.0% were assessed as functional [1]</a:t>
            </a:r>
            <a:endParaRPr lang="en-IN" sz="770">
              <a:solidFill>
                <a:srgbClr val="475569"/>
              </a:solidFill>
              <a:latin typeface="Arial" panose="020B0604020202020204" pitchFamily="34" charset="0"/>
            </a:endParaRPr>
          </a:p>
        </p:txBody>
      </p:sp>
      <p:pic>
        <p:nvPicPr>
          <p:cNvPr id="25" name="Picture 24">
            <a:extLst>
              <a:ext uri="{FF2B5EF4-FFF2-40B4-BE49-F238E27FC236}">
                <a16:creationId xmlns:a16="http://schemas.microsoft.com/office/drawing/2014/main" id="{96239B8A-816F-1B32-CBC9-8E8ED257F76C}"/>
              </a:ext>
            </a:extLst>
          </p:cNvPr>
          <p:cNvPicPr>
            <a:picLocks/>
          </p:cNvPicPr>
          <p:nvPr/>
        </p:nvPicPr>
        <p:blipFill>
          <a:blip r:embed="rId9"/>
          <a:stretch>
            <a:fillRect/>
          </a:stretch>
        </p:blipFill>
        <p:spPr>
          <a:xfrm>
            <a:off x="3403600" y="1168400"/>
            <a:ext cx="5207000" cy="4064000"/>
          </a:xfrm>
          <a:prstGeom prst="rect">
            <a:avLst/>
          </a:prstGeom>
          <a:ln w="9525">
            <a:solidFill>
              <a:srgbClr val="CBD5E1"/>
            </a:solidFill>
          </a:ln>
        </p:spPr>
      </p:pic>
      <p:sp>
        <p:nvSpPr>
          <p:cNvPr id="26" name="Rectangle: Rounded Corners 25">
            <a:extLst>
              <a:ext uri="{FF2B5EF4-FFF2-40B4-BE49-F238E27FC236}">
                <a16:creationId xmlns:a16="http://schemas.microsoft.com/office/drawing/2014/main" id="{AF067D67-F196-8DD0-2472-77B80969E7BE}"/>
              </a:ext>
            </a:extLst>
          </p:cNvPr>
          <p:cNvSpPr/>
          <p:nvPr/>
        </p:nvSpPr>
        <p:spPr>
          <a:xfrm>
            <a:off x="8686800" y="1168400"/>
            <a:ext cx="3200400" cy="4038600"/>
          </a:xfrm>
          <a:prstGeom prst="roundRect">
            <a:avLst>
              <a:gd name="adj" fmla="val 8000"/>
            </a:avLst>
          </a:prstGeom>
          <a:solidFill>
            <a:srgbClr val="F3FBF5"/>
          </a:solidFill>
          <a:ln w="9525">
            <a:solidFill>
              <a:srgbClr val="BFE3C8"/>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7" name="Rectangle: Rounded Corners 26">
            <a:extLst>
              <a:ext uri="{FF2B5EF4-FFF2-40B4-BE49-F238E27FC236}">
                <a16:creationId xmlns:a16="http://schemas.microsoft.com/office/drawing/2014/main" id="{AFDB70C2-2822-82AD-F0BE-4416B04B79DC}"/>
              </a:ext>
            </a:extLst>
          </p:cNvPr>
          <p:cNvSpPr/>
          <p:nvPr/>
        </p:nvSpPr>
        <p:spPr>
          <a:xfrm>
            <a:off x="8788400" y="1244600"/>
            <a:ext cx="2997200" cy="279400"/>
          </a:xfrm>
          <a:prstGeom prst="roundRect">
            <a:avLst>
              <a:gd name="adj" fmla="val 8000"/>
            </a:avLst>
          </a:prstGeom>
          <a:solidFill>
            <a:srgbClr val="15803D"/>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50" b="1">
                <a:solidFill>
                  <a:srgbClr val="FFFFFF"/>
                </a:solidFill>
                <a:latin typeface="Arial" panose="020B0604020202020204" pitchFamily="34" charset="0"/>
              </a:rPr>
              <a:t>OUR SOLUTION: JALRAKSHAK</a:t>
            </a:r>
          </a:p>
        </p:txBody>
      </p:sp>
      <p:sp>
        <p:nvSpPr>
          <p:cNvPr id="28" name="Oval 27">
            <a:extLst>
              <a:ext uri="{FF2B5EF4-FFF2-40B4-BE49-F238E27FC236}">
                <a16:creationId xmlns:a16="http://schemas.microsoft.com/office/drawing/2014/main" id="{2A9679F5-7614-3CBF-82B2-58D79F6030B1}"/>
              </a:ext>
            </a:extLst>
          </p:cNvPr>
          <p:cNvSpPr/>
          <p:nvPr/>
        </p:nvSpPr>
        <p:spPr>
          <a:xfrm>
            <a:off x="8839200" y="161290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1</a:t>
            </a:r>
          </a:p>
        </p:txBody>
      </p:sp>
      <p:sp>
        <p:nvSpPr>
          <p:cNvPr id="29" name="TextBox 28">
            <a:extLst>
              <a:ext uri="{FF2B5EF4-FFF2-40B4-BE49-F238E27FC236}">
                <a16:creationId xmlns:a16="http://schemas.microsoft.com/office/drawing/2014/main" id="{836BB4AB-28B9-17A3-D4BF-FF74A0F529D9}"/>
              </a:ext>
            </a:extLst>
          </p:cNvPr>
          <p:cNvSpPr txBox="1"/>
          <p:nvPr/>
        </p:nvSpPr>
        <p:spPr>
          <a:xfrm>
            <a:off x="9093200" y="1574800"/>
            <a:ext cx="27432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880" b="1">
                <a:solidFill>
                  <a:srgbClr val="1F2937"/>
                </a:solidFill>
                <a:latin typeface="Arial" panose="020B0604020202020204" pitchFamily="34" charset="0"/>
              </a:rPr>
              <a:t>Continuous FHTC monitoring</a:t>
            </a:r>
          </a:p>
          <a:p>
            <a:pPr>
              <a:spcBef>
                <a:spcPts val="0"/>
              </a:spcBef>
              <a:spcAft>
                <a:spcPts val="300"/>
              </a:spcAft>
            </a:pPr>
            <a:r>
              <a:rPr lang="en-US" sz="740">
                <a:solidFill>
                  <a:srgbClr val="475569"/>
                </a:solidFill>
                <a:latin typeface="Arial" panose="020B0604020202020204" pitchFamily="34" charset="0"/>
              </a:rPr>
              <a:t>sensor nodes on the pipeline + a daily villager tap check give household-level status, analysed with AI/ML</a:t>
            </a:r>
            <a:endParaRPr lang="en-IN" sz="740">
              <a:solidFill>
                <a:srgbClr val="475569"/>
              </a:solidFill>
              <a:latin typeface="Arial" panose="020B0604020202020204" pitchFamily="34" charset="0"/>
            </a:endParaRPr>
          </a:p>
        </p:txBody>
      </p:sp>
      <p:sp>
        <p:nvSpPr>
          <p:cNvPr id="30" name="Oval 29">
            <a:extLst>
              <a:ext uri="{FF2B5EF4-FFF2-40B4-BE49-F238E27FC236}">
                <a16:creationId xmlns:a16="http://schemas.microsoft.com/office/drawing/2014/main" id="{B8B1008D-EC33-1579-2153-D8309F77961F}"/>
              </a:ext>
            </a:extLst>
          </p:cNvPr>
          <p:cNvSpPr/>
          <p:nvPr/>
        </p:nvSpPr>
        <p:spPr>
          <a:xfrm>
            <a:off x="8839200" y="212852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2</a:t>
            </a:r>
          </a:p>
        </p:txBody>
      </p:sp>
      <p:sp>
        <p:nvSpPr>
          <p:cNvPr id="31" name="TextBox 30">
            <a:extLst>
              <a:ext uri="{FF2B5EF4-FFF2-40B4-BE49-F238E27FC236}">
                <a16:creationId xmlns:a16="http://schemas.microsoft.com/office/drawing/2014/main" id="{C00EB056-13AC-5FB6-92E0-C7B3E0F2BFF9}"/>
              </a:ext>
            </a:extLst>
          </p:cNvPr>
          <p:cNvSpPr txBox="1"/>
          <p:nvPr/>
        </p:nvSpPr>
        <p:spPr>
          <a:xfrm>
            <a:off x="9093200" y="2090420"/>
            <a:ext cx="27432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880" b="1">
                <a:solidFill>
                  <a:srgbClr val="1F2937"/>
                </a:solidFill>
                <a:latin typeface="Arial" panose="020B0604020202020204" pitchFamily="34" charset="0"/>
              </a:rPr>
              <a:t>Real-time alerts</a:t>
            </a:r>
          </a:p>
          <a:p>
            <a:pPr>
              <a:spcBef>
                <a:spcPts val="0"/>
              </a:spcBef>
              <a:spcAft>
                <a:spcPts val="300"/>
              </a:spcAft>
            </a:pPr>
            <a:r>
              <a:rPr lang="en-US" sz="740">
                <a:solidFill>
                  <a:srgbClr val="475569"/>
                </a:solidFill>
                <a:latin typeface="Arial" panose="020B0604020202020204" pitchFamily="34" charset="0"/>
              </a:rPr>
              <a:t>for supply disruption, water quality deterioration, low pressure, leakages and infrastructure failure</a:t>
            </a:r>
            <a:endParaRPr lang="en-IN" sz="740">
              <a:solidFill>
                <a:srgbClr val="475569"/>
              </a:solidFill>
              <a:latin typeface="Arial" panose="020B0604020202020204" pitchFamily="34" charset="0"/>
            </a:endParaRPr>
          </a:p>
        </p:txBody>
      </p:sp>
      <p:sp>
        <p:nvSpPr>
          <p:cNvPr id="32" name="Oval 31">
            <a:extLst>
              <a:ext uri="{FF2B5EF4-FFF2-40B4-BE49-F238E27FC236}">
                <a16:creationId xmlns:a16="http://schemas.microsoft.com/office/drawing/2014/main" id="{0C01DE1F-6ABA-3DC7-BD31-ACD31D243791}"/>
              </a:ext>
            </a:extLst>
          </p:cNvPr>
          <p:cNvSpPr/>
          <p:nvPr/>
        </p:nvSpPr>
        <p:spPr>
          <a:xfrm>
            <a:off x="8839200" y="264414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3</a:t>
            </a:r>
          </a:p>
        </p:txBody>
      </p:sp>
      <p:sp>
        <p:nvSpPr>
          <p:cNvPr id="33" name="TextBox 32">
            <a:extLst>
              <a:ext uri="{FF2B5EF4-FFF2-40B4-BE49-F238E27FC236}">
                <a16:creationId xmlns:a16="http://schemas.microsoft.com/office/drawing/2014/main" id="{A1CCE26B-08A6-B4E6-FD4A-1BE34930FCF3}"/>
              </a:ext>
            </a:extLst>
          </p:cNvPr>
          <p:cNvSpPr txBox="1"/>
          <p:nvPr/>
        </p:nvSpPr>
        <p:spPr>
          <a:xfrm>
            <a:off x="9093200" y="2606040"/>
            <a:ext cx="27432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880" b="1">
                <a:solidFill>
                  <a:srgbClr val="1F2937"/>
                </a:solidFill>
                <a:latin typeface="Arial" panose="020B0604020202020204" pitchFamily="34" charset="0"/>
              </a:rPr>
              <a:t>Villagers speak up</a:t>
            </a:r>
          </a:p>
          <a:p>
            <a:pPr>
              <a:spcBef>
                <a:spcPts val="0"/>
              </a:spcBef>
              <a:spcAft>
                <a:spcPts val="300"/>
              </a:spcAft>
            </a:pPr>
            <a:r>
              <a:rPr lang="en-US" sz="740">
                <a:solidFill>
                  <a:srgbClr val="475569"/>
                </a:solidFill>
                <a:latin typeface="Arial" panose="020B0604020202020204" pitchFamily="34" charset="0"/>
              </a:rPr>
              <a:t>feedback, complaints, photographs and geo-tagged observations from a phone, in local languages</a:t>
            </a:r>
            <a:endParaRPr lang="en-IN" sz="740">
              <a:solidFill>
                <a:srgbClr val="475569"/>
              </a:solidFill>
              <a:latin typeface="Arial" panose="020B0604020202020204" pitchFamily="34" charset="0"/>
            </a:endParaRPr>
          </a:p>
        </p:txBody>
      </p:sp>
      <p:sp>
        <p:nvSpPr>
          <p:cNvPr id="34" name="Oval 33">
            <a:extLst>
              <a:ext uri="{FF2B5EF4-FFF2-40B4-BE49-F238E27FC236}">
                <a16:creationId xmlns:a16="http://schemas.microsoft.com/office/drawing/2014/main" id="{1F3CFDA1-1BE6-18E2-16E7-2A4DCC24F466}"/>
              </a:ext>
            </a:extLst>
          </p:cNvPr>
          <p:cNvSpPr/>
          <p:nvPr/>
        </p:nvSpPr>
        <p:spPr>
          <a:xfrm>
            <a:off x="8839200" y="315976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4</a:t>
            </a:r>
          </a:p>
        </p:txBody>
      </p:sp>
      <p:sp>
        <p:nvSpPr>
          <p:cNvPr id="35" name="TextBox 34">
            <a:extLst>
              <a:ext uri="{FF2B5EF4-FFF2-40B4-BE49-F238E27FC236}">
                <a16:creationId xmlns:a16="http://schemas.microsoft.com/office/drawing/2014/main" id="{EFFACB81-2928-2F2E-CB71-50BE453AA4A2}"/>
              </a:ext>
            </a:extLst>
          </p:cNvPr>
          <p:cNvSpPr txBox="1"/>
          <p:nvPr/>
        </p:nvSpPr>
        <p:spPr>
          <a:xfrm>
            <a:off x="9093200" y="3121660"/>
            <a:ext cx="27432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880" b="1">
                <a:solidFill>
                  <a:srgbClr val="1F2937"/>
                </a:solidFill>
                <a:latin typeface="Arial" panose="020B0604020202020204" pitchFamily="34" charset="0"/>
              </a:rPr>
              <a:t>Early detection and prediction</a:t>
            </a:r>
          </a:p>
          <a:p>
            <a:pPr>
              <a:spcBef>
                <a:spcPts val="0"/>
              </a:spcBef>
              <a:spcAft>
                <a:spcPts val="300"/>
              </a:spcAft>
            </a:pPr>
            <a:r>
              <a:rPr lang="en-US" sz="740">
                <a:solidFill>
                  <a:srgbClr val="475569"/>
                </a:solidFill>
                <a:latin typeface="Arial" panose="020B0604020202020204" pitchFamily="34" charset="0"/>
              </a:rPr>
              <a:t>AI/ML spots abnormal service patterns early, predicts failures and ranks maintenance</a:t>
            </a:r>
            <a:endParaRPr lang="en-IN" sz="740">
              <a:solidFill>
                <a:srgbClr val="475569"/>
              </a:solidFill>
              <a:latin typeface="Arial" panose="020B0604020202020204" pitchFamily="34" charset="0"/>
            </a:endParaRPr>
          </a:p>
        </p:txBody>
      </p:sp>
      <p:sp>
        <p:nvSpPr>
          <p:cNvPr id="36" name="Oval 35">
            <a:extLst>
              <a:ext uri="{FF2B5EF4-FFF2-40B4-BE49-F238E27FC236}">
                <a16:creationId xmlns:a16="http://schemas.microsoft.com/office/drawing/2014/main" id="{58FDCE4B-ECD0-A95E-8EDF-764B08EAE5D8}"/>
              </a:ext>
            </a:extLst>
          </p:cNvPr>
          <p:cNvSpPr/>
          <p:nvPr/>
        </p:nvSpPr>
        <p:spPr>
          <a:xfrm>
            <a:off x="8839200" y="367538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5</a:t>
            </a:r>
          </a:p>
        </p:txBody>
      </p:sp>
      <p:sp>
        <p:nvSpPr>
          <p:cNvPr id="37" name="TextBox 36">
            <a:extLst>
              <a:ext uri="{FF2B5EF4-FFF2-40B4-BE49-F238E27FC236}">
                <a16:creationId xmlns:a16="http://schemas.microsoft.com/office/drawing/2014/main" id="{5B747987-4DF1-0F7F-73BE-EDCE6B9F0D5F}"/>
              </a:ext>
            </a:extLst>
          </p:cNvPr>
          <p:cNvSpPr txBox="1"/>
          <p:nvPr/>
        </p:nvSpPr>
        <p:spPr>
          <a:xfrm>
            <a:off x="9093200" y="3637280"/>
            <a:ext cx="27432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880" b="1">
                <a:solidFill>
                  <a:srgbClr val="1F2937"/>
                </a:solidFill>
                <a:latin typeface="Arial" panose="020B0604020202020204" pitchFamily="34" charset="0"/>
              </a:rPr>
              <a:t>Ready to sync</a:t>
            </a:r>
          </a:p>
          <a:p>
            <a:pPr>
              <a:spcBef>
                <a:spcPts val="0"/>
              </a:spcBef>
              <a:spcAft>
                <a:spcPts val="300"/>
              </a:spcAft>
            </a:pPr>
            <a:r>
              <a:rPr lang="en-US" sz="740">
                <a:solidFill>
                  <a:srgbClr val="475569"/>
                </a:solidFill>
                <a:latin typeface="Arial" panose="020B0604020202020204" pitchFamily="34" charset="0"/>
              </a:rPr>
              <a:t>records keyed to Sujal Gaon IDs; IMIS / JJM adapters built, official API access needed</a:t>
            </a:r>
            <a:endParaRPr lang="en-IN" sz="740">
              <a:solidFill>
                <a:srgbClr val="475569"/>
              </a:solidFill>
              <a:latin typeface="Arial" panose="020B0604020202020204" pitchFamily="34" charset="0"/>
            </a:endParaRPr>
          </a:p>
        </p:txBody>
      </p:sp>
      <p:sp>
        <p:nvSpPr>
          <p:cNvPr id="38" name="Oval 37">
            <a:extLst>
              <a:ext uri="{FF2B5EF4-FFF2-40B4-BE49-F238E27FC236}">
                <a16:creationId xmlns:a16="http://schemas.microsoft.com/office/drawing/2014/main" id="{63E26E38-7801-2261-DD43-A3EBBDB42DAE}"/>
              </a:ext>
            </a:extLst>
          </p:cNvPr>
          <p:cNvSpPr/>
          <p:nvPr/>
        </p:nvSpPr>
        <p:spPr>
          <a:xfrm>
            <a:off x="8839200" y="419100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6</a:t>
            </a:r>
          </a:p>
        </p:txBody>
      </p:sp>
      <p:sp>
        <p:nvSpPr>
          <p:cNvPr id="39" name="TextBox 38">
            <a:extLst>
              <a:ext uri="{FF2B5EF4-FFF2-40B4-BE49-F238E27FC236}">
                <a16:creationId xmlns:a16="http://schemas.microsoft.com/office/drawing/2014/main" id="{3D14F8D6-5F81-84BE-B7E8-9E835AF1BCDB}"/>
              </a:ext>
            </a:extLst>
          </p:cNvPr>
          <p:cNvSpPr txBox="1"/>
          <p:nvPr/>
        </p:nvSpPr>
        <p:spPr>
          <a:xfrm>
            <a:off x="9093200" y="4152900"/>
            <a:ext cx="27432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880" b="1">
                <a:solidFill>
                  <a:srgbClr val="1F2937"/>
                </a:solidFill>
                <a:latin typeface="Arial" panose="020B0604020202020204" pitchFamily="34" charset="0"/>
              </a:rPr>
              <a:t>Dashboards for every level</a:t>
            </a:r>
          </a:p>
          <a:p>
            <a:pPr>
              <a:spcBef>
                <a:spcPts val="0"/>
              </a:spcBef>
              <a:spcAft>
                <a:spcPts val="300"/>
              </a:spcAft>
            </a:pPr>
            <a:r>
              <a:rPr lang="en-US" sz="740">
                <a:solidFill>
                  <a:srgbClr val="475569"/>
                </a:solidFill>
                <a:latin typeface="Arial" panose="020B0604020202020204" pitchFamily="34" charset="0"/>
              </a:rPr>
              <a:t>GIS maps, service status indicators and analytics from VWSC to State</a:t>
            </a:r>
            <a:endParaRPr lang="en-IN" sz="740">
              <a:solidFill>
                <a:srgbClr val="475569"/>
              </a:solidFill>
              <a:latin typeface="Arial" panose="020B0604020202020204" pitchFamily="34" charset="0"/>
            </a:endParaRPr>
          </a:p>
        </p:txBody>
      </p:sp>
      <p:sp>
        <p:nvSpPr>
          <p:cNvPr id="40" name="Oval 39">
            <a:extLst>
              <a:ext uri="{FF2B5EF4-FFF2-40B4-BE49-F238E27FC236}">
                <a16:creationId xmlns:a16="http://schemas.microsoft.com/office/drawing/2014/main" id="{A6EF66C5-994E-C348-7F4F-6F251CBA0BE2}"/>
              </a:ext>
            </a:extLst>
          </p:cNvPr>
          <p:cNvSpPr/>
          <p:nvPr/>
        </p:nvSpPr>
        <p:spPr>
          <a:xfrm>
            <a:off x="8839200" y="470662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7</a:t>
            </a:r>
          </a:p>
        </p:txBody>
      </p:sp>
      <p:sp>
        <p:nvSpPr>
          <p:cNvPr id="41" name="TextBox 40">
            <a:extLst>
              <a:ext uri="{FF2B5EF4-FFF2-40B4-BE49-F238E27FC236}">
                <a16:creationId xmlns:a16="http://schemas.microsoft.com/office/drawing/2014/main" id="{7D59985B-26CB-D848-CC69-4854D35B8EF3}"/>
              </a:ext>
            </a:extLst>
          </p:cNvPr>
          <p:cNvSpPr txBox="1"/>
          <p:nvPr/>
        </p:nvSpPr>
        <p:spPr>
          <a:xfrm>
            <a:off x="9093200" y="4668520"/>
            <a:ext cx="27432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880" b="1">
                <a:solidFill>
                  <a:srgbClr val="1F2937"/>
                </a:solidFill>
                <a:latin typeface="Arial" panose="020B0604020202020204" pitchFamily="34" charset="0"/>
              </a:rPr>
              <a:t>What is new</a:t>
            </a:r>
          </a:p>
          <a:p>
            <a:pPr>
              <a:spcBef>
                <a:spcPts val="0"/>
              </a:spcBef>
              <a:spcAft>
                <a:spcPts val="300"/>
              </a:spcAft>
            </a:pPr>
            <a:r>
              <a:rPr lang="en-US" sz="740">
                <a:solidFill>
                  <a:srgbClr val="475569"/>
                </a:solidFill>
                <a:latin typeface="Arial" panose="020B0604020202020204" pitchFamily="34" charset="0"/>
              </a:rPr>
              <a:t>Beyond sensor-only IoT pilots: HIGH alerts need sensor + villager evidence; repairs close only when readings recover and villagers confirm</a:t>
            </a:r>
            <a:endParaRPr lang="en-IN" sz="740">
              <a:solidFill>
                <a:srgbClr val="475569"/>
              </a:solidFill>
              <a:latin typeface="Arial" panose="020B0604020202020204" pitchFamily="34" charset="0"/>
            </a:endParaRPr>
          </a:p>
        </p:txBody>
      </p:sp>
      <p:sp>
        <p:nvSpPr>
          <p:cNvPr id="42" name="Arrow: Pentagon 41">
            <a:extLst>
              <a:ext uri="{FF2B5EF4-FFF2-40B4-BE49-F238E27FC236}">
                <a16:creationId xmlns:a16="http://schemas.microsoft.com/office/drawing/2014/main" id="{E27E1B96-8E3D-B32B-4405-A0AEB87A9CC4}"/>
              </a:ext>
            </a:extLst>
          </p:cNvPr>
          <p:cNvSpPr/>
          <p:nvPr/>
        </p:nvSpPr>
        <p:spPr>
          <a:xfrm>
            <a:off x="304800" y="5308600"/>
            <a:ext cx="1701800" cy="508000"/>
          </a:xfrm>
          <a:prstGeom prst="homePlat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50" b="1">
                <a:solidFill>
                  <a:srgbClr val="FFFFFF"/>
                </a:solidFill>
                <a:latin typeface="Arial" panose="020B0604020202020204" pitchFamily="34" charset="0"/>
              </a:rPr>
              <a:t>SENSE</a:t>
            </a:r>
          </a:p>
          <a:p>
            <a:pPr algn="ctr">
              <a:spcBef>
                <a:spcPts val="0"/>
              </a:spcBef>
              <a:spcAft>
                <a:spcPts val="300"/>
              </a:spcAft>
            </a:pPr>
            <a:r>
              <a:rPr lang="en-IN" sz="750">
                <a:solidFill>
                  <a:srgbClr val="FFFFFF"/>
                </a:solidFill>
                <a:latin typeface="Arial" panose="020B0604020202020204" pitchFamily="34" charset="0"/>
              </a:rPr>
              <a:t>Nodes + villagers</a:t>
            </a:r>
          </a:p>
        </p:txBody>
      </p:sp>
      <p:sp>
        <p:nvSpPr>
          <p:cNvPr id="43" name="Arrow: Chevron 42">
            <a:extLst>
              <a:ext uri="{FF2B5EF4-FFF2-40B4-BE49-F238E27FC236}">
                <a16:creationId xmlns:a16="http://schemas.microsoft.com/office/drawing/2014/main" id="{439E2315-C3BB-4492-C6F7-B528BEF2ED99}"/>
              </a:ext>
            </a:extLst>
          </p:cNvPr>
          <p:cNvSpPr/>
          <p:nvPr/>
        </p:nvSpPr>
        <p:spPr>
          <a:xfrm>
            <a:off x="1930400" y="5308600"/>
            <a:ext cx="1701800" cy="508000"/>
          </a:xfrm>
          <a:prstGeom prst="chevron">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50" b="1">
                <a:solidFill>
                  <a:srgbClr val="FFFFFF"/>
                </a:solidFill>
                <a:latin typeface="Arial" panose="020B0604020202020204" pitchFamily="34" charset="0"/>
              </a:rPr>
              <a:t>UNDERSTAND</a:t>
            </a:r>
          </a:p>
          <a:p>
            <a:pPr algn="ctr">
              <a:spcBef>
                <a:spcPts val="0"/>
              </a:spcBef>
              <a:spcAft>
                <a:spcPts val="300"/>
              </a:spcAft>
            </a:pPr>
            <a:r>
              <a:rPr lang="en-IN" sz="750">
                <a:solidFill>
                  <a:srgbClr val="FFFFFF"/>
                </a:solidFill>
                <a:latin typeface="Arial" panose="020B0604020202020204" pitchFamily="34" charset="0"/>
              </a:rPr>
              <a:t>Rules + AI/ML</a:t>
            </a:r>
          </a:p>
        </p:txBody>
      </p:sp>
      <p:sp>
        <p:nvSpPr>
          <p:cNvPr id="44" name="Arrow: Chevron 43">
            <a:extLst>
              <a:ext uri="{FF2B5EF4-FFF2-40B4-BE49-F238E27FC236}">
                <a16:creationId xmlns:a16="http://schemas.microsoft.com/office/drawing/2014/main" id="{F8723974-1F8A-4B54-4CC7-E39F50DBD76D}"/>
              </a:ext>
            </a:extLst>
          </p:cNvPr>
          <p:cNvSpPr/>
          <p:nvPr/>
        </p:nvSpPr>
        <p:spPr>
          <a:xfrm>
            <a:off x="3556000" y="5308600"/>
            <a:ext cx="1701800" cy="508000"/>
          </a:xfrm>
          <a:prstGeom prst="chevron">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50" b="1">
                <a:solidFill>
                  <a:srgbClr val="FFFFFF"/>
                </a:solidFill>
                <a:latin typeface="Arial" panose="020B0604020202020204" pitchFamily="34" charset="0"/>
              </a:rPr>
              <a:t>ALERT</a:t>
            </a:r>
          </a:p>
          <a:p>
            <a:pPr algn="ctr">
              <a:spcBef>
                <a:spcPts val="0"/>
              </a:spcBef>
              <a:spcAft>
                <a:spcPts val="300"/>
              </a:spcAft>
            </a:pPr>
            <a:r>
              <a:rPr lang="en-IN" sz="750">
                <a:solidFill>
                  <a:srgbClr val="FFFFFF"/>
                </a:solidFill>
                <a:latin typeface="Arial" panose="020B0604020202020204" pitchFamily="34" charset="0"/>
              </a:rPr>
              <a:t>Alert Center</a:t>
            </a:r>
          </a:p>
        </p:txBody>
      </p:sp>
      <p:sp>
        <p:nvSpPr>
          <p:cNvPr id="45" name="Arrow: Chevron 44">
            <a:extLst>
              <a:ext uri="{FF2B5EF4-FFF2-40B4-BE49-F238E27FC236}">
                <a16:creationId xmlns:a16="http://schemas.microsoft.com/office/drawing/2014/main" id="{B82B4A0C-5B41-5EDD-4677-1160801922A3}"/>
              </a:ext>
            </a:extLst>
          </p:cNvPr>
          <p:cNvSpPr/>
          <p:nvPr/>
        </p:nvSpPr>
        <p:spPr>
          <a:xfrm>
            <a:off x="5181600" y="5308600"/>
            <a:ext cx="1701800" cy="508000"/>
          </a:xfrm>
          <a:prstGeom prst="chevron">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50" b="1">
                <a:solidFill>
                  <a:srgbClr val="FFFFFF"/>
                </a:solidFill>
                <a:latin typeface="Arial" panose="020B0604020202020204" pitchFamily="34" charset="0"/>
              </a:rPr>
              <a:t>REPORT</a:t>
            </a:r>
          </a:p>
          <a:p>
            <a:pPr algn="ctr">
              <a:spcBef>
                <a:spcPts val="0"/>
              </a:spcBef>
              <a:spcAft>
                <a:spcPts val="300"/>
              </a:spcAft>
            </a:pPr>
            <a:r>
              <a:rPr lang="en-IN" sz="750">
                <a:solidFill>
                  <a:srgbClr val="FFFFFF"/>
                </a:solidFill>
                <a:latin typeface="Arial" panose="020B0604020202020204" pitchFamily="34" charset="0"/>
              </a:rPr>
              <a:t>IMIS / JJM platforms</a:t>
            </a:r>
          </a:p>
        </p:txBody>
      </p:sp>
      <p:sp>
        <p:nvSpPr>
          <p:cNvPr id="46" name="Arrow: Chevron 45">
            <a:extLst>
              <a:ext uri="{FF2B5EF4-FFF2-40B4-BE49-F238E27FC236}">
                <a16:creationId xmlns:a16="http://schemas.microsoft.com/office/drawing/2014/main" id="{12E147C6-B007-D4DD-FACB-D547EE785DEB}"/>
              </a:ext>
            </a:extLst>
          </p:cNvPr>
          <p:cNvSpPr/>
          <p:nvPr/>
        </p:nvSpPr>
        <p:spPr>
          <a:xfrm>
            <a:off x="6807200" y="5308600"/>
            <a:ext cx="1701800" cy="508000"/>
          </a:xfrm>
          <a:prstGeom prst="chevron">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50" b="1">
                <a:solidFill>
                  <a:srgbClr val="FFFFFF"/>
                </a:solidFill>
                <a:latin typeface="Arial" panose="020B0604020202020204" pitchFamily="34" charset="0"/>
              </a:rPr>
              <a:t>FIX</a:t>
            </a:r>
          </a:p>
          <a:p>
            <a:pPr algn="ctr">
              <a:spcBef>
                <a:spcPts val="0"/>
              </a:spcBef>
              <a:spcAft>
                <a:spcPts val="300"/>
              </a:spcAft>
            </a:pPr>
            <a:r>
              <a:rPr lang="en-IN" sz="750">
                <a:solidFill>
                  <a:srgbClr val="FFFFFF"/>
                </a:solidFill>
                <a:latin typeface="Arial" panose="020B0604020202020204" pitchFamily="34" charset="0"/>
              </a:rPr>
              <a:t>Task + repair</a:t>
            </a:r>
          </a:p>
        </p:txBody>
      </p:sp>
      <p:sp>
        <p:nvSpPr>
          <p:cNvPr id="47" name="Arrow: Chevron 46">
            <a:extLst>
              <a:ext uri="{FF2B5EF4-FFF2-40B4-BE49-F238E27FC236}">
                <a16:creationId xmlns:a16="http://schemas.microsoft.com/office/drawing/2014/main" id="{9575663A-B7A2-4DF4-9E53-010D8EEE0FD9}"/>
              </a:ext>
            </a:extLst>
          </p:cNvPr>
          <p:cNvSpPr/>
          <p:nvPr/>
        </p:nvSpPr>
        <p:spPr>
          <a:xfrm>
            <a:off x="8432800" y="5308600"/>
            <a:ext cx="1701800" cy="508000"/>
          </a:xfrm>
          <a:prstGeom prst="chevron">
            <a:avLst/>
          </a:prstGeom>
          <a:solidFill>
            <a:srgbClr val="15803D"/>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50" b="1">
                <a:solidFill>
                  <a:srgbClr val="FFFFFF"/>
                </a:solidFill>
                <a:latin typeface="Arial" panose="020B0604020202020204" pitchFamily="34" charset="0"/>
              </a:rPr>
              <a:t>VERIFY</a:t>
            </a:r>
          </a:p>
          <a:p>
            <a:pPr algn="ctr">
              <a:spcBef>
                <a:spcPts val="0"/>
              </a:spcBef>
              <a:spcAft>
                <a:spcPts val="300"/>
              </a:spcAft>
            </a:pPr>
            <a:r>
              <a:rPr lang="en-IN" sz="750">
                <a:solidFill>
                  <a:srgbClr val="FFFFFF"/>
                </a:solidFill>
                <a:latin typeface="Arial" panose="020B0604020202020204" pitchFamily="34" charset="0"/>
              </a:rPr>
              <a:t>Readings recover</a:t>
            </a:r>
          </a:p>
        </p:txBody>
      </p:sp>
      <p:sp>
        <p:nvSpPr>
          <p:cNvPr id="48" name="Rectangle: Rounded Corners 47">
            <a:extLst>
              <a:ext uri="{FF2B5EF4-FFF2-40B4-BE49-F238E27FC236}">
                <a16:creationId xmlns:a16="http://schemas.microsoft.com/office/drawing/2014/main" id="{DE9F5F18-E430-D281-9D1B-B94C58A968AA}"/>
              </a:ext>
            </a:extLst>
          </p:cNvPr>
          <p:cNvSpPr/>
          <p:nvPr/>
        </p:nvSpPr>
        <p:spPr>
          <a:xfrm>
            <a:off x="10160000" y="5308600"/>
            <a:ext cx="1727200" cy="508000"/>
          </a:xfrm>
          <a:prstGeom prst="roundRect">
            <a:avLst>
              <a:gd name="adj" fmla="val 8000"/>
            </a:avLst>
          </a:prstGeom>
          <a:solidFill>
            <a:srgbClr val="FFFFFF"/>
          </a:solidFill>
          <a:ln w="9525">
            <a:solidFill>
              <a:srgbClr val="0070C0"/>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900" b="1">
                <a:solidFill>
                  <a:srgbClr val="0070C0"/>
                </a:solidFill>
                <a:latin typeface="Arial" panose="020B0604020202020204" pitchFamily="34" charset="0"/>
              </a:rPr>
              <a:t>DEMO VIDEO (YouTube)</a:t>
            </a:r>
          </a:p>
          <a:p>
            <a:pPr algn="ctr">
              <a:spcBef>
                <a:spcPts val="0"/>
              </a:spcBef>
              <a:spcAft>
                <a:spcPts val="300"/>
              </a:spcAft>
            </a:pPr>
            <a:r>
              <a:rPr lang="en-IN" sz="850">
                <a:solidFill>
                  <a:srgbClr val="0070C0"/>
                </a:solidFill>
                <a:latin typeface="Arial" panose="020B0604020202020204" pitchFamily="34" charset="0"/>
                <a:hlinkClick r:id="rId10"/>
              </a:rPr>
              <a:t>youtu.be/LYlQtrBbpes</a:t>
            </a:r>
            <a:endParaRPr lang="en-IN" sz="850">
              <a:solidFill>
                <a:srgbClr val="0070C0"/>
              </a:solidFill>
              <a:latin typeface="Arial" panose="020B0604020202020204" pitchFamily="34" charset="0"/>
            </a:endParaRPr>
          </a:p>
        </p:txBody>
      </p:sp>
      <p:sp>
        <p:nvSpPr>
          <p:cNvPr id="49" name="TextBox 48">
            <a:extLst>
              <a:ext uri="{FF2B5EF4-FFF2-40B4-BE49-F238E27FC236}">
                <a16:creationId xmlns:a16="http://schemas.microsoft.com/office/drawing/2014/main" id="{14AF3C94-D96B-23D0-42F5-45AA87DFBCEB}"/>
              </a:ext>
            </a:extLst>
          </p:cNvPr>
          <p:cNvSpPr txBox="1"/>
          <p:nvPr/>
        </p:nvSpPr>
        <p:spPr>
          <a:xfrm>
            <a:off x="304800" y="5867400"/>
            <a:ext cx="115824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900" b="1">
                <a:solidFill>
                  <a:srgbClr val="0F766E"/>
                </a:solidFill>
                <a:latin typeface="Arial" panose="020B0604020202020204" pitchFamily="34" charset="0"/>
              </a:rPr>
              <a:t>For: </a:t>
            </a:r>
            <a:r>
              <a:rPr lang="en-US" sz="900">
                <a:solidFill>
                  <a:srgbClr val="1F2937"/>
                </a:solidFill>
                <a:latin typeface="Arial" panose="020B0604020202020204" pitchFamily="34" charset="0"/>
              </a:rPr>
              <a:t>Village Water &amp; Sanitation Committees (VWSCs), Gram Panchayats, implementing agencies and State authorities.</a:t>
            </a:r>
          </a:p>
          <a:p>
            <a:pPr>
              <a:spcBef>
                <a:spcPts val="0"/>
              </a:spcBef>
              <a:spcAft>
                <a:spcPts val="300"/>
              </a:spcAft>
            </a:pPr>
            <a:r>
              <a:rPr lang="en-US" sz="750" i="1">
                <a:solidFill>
                  <a:srgbClr val="475569"/>
                </a:solidFill>
                <a:latin typeface="Arial" panose="020B0604020202020204" pitchFamily="34" charset="0"/>
              </a:rPr>
              <a:t>[1] DDWS, Functionality Assessment of Household Tap Connection, National Report 2024 (weighted sample estimates).</a:t>
            </a:r>
            <a:endParaRPr lang="en-IN" sz="750" i="1">
              <a:solidFill>
                <a:srgbClr val="475569"/>
              </a:solidFill>
              <a:latin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TECHNICAL APPROACH</a:t>
            </a:r>
          </a:p>
        </p:txBody>
      </p:sp>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3</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1" name="Oval 10"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100"/>
              <a:t>Team Vistaar</a:t>
            </a:r>
            <a:endParaRPr lang="en-IN" sz="1100"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pic>
        <p:nvPicPr>
          <p:cNvPr id="3" name="Picture 2">
            <a:extLst>
              <a:ext uri="{FF2B5EF4-FFF2-40B4-BE49-F238E27FC236}">
                <a16:creationId xmlns:a16="http://schemas.microsoft.com/office/drawing/2014/main" id="{F6795E78-6E7F-D163-D64D-81BC418E6362}"/>
              </a:ext>
            </a:extLst>
          </p:cNvPr>
          <p:cNvPicPr>
            <a:picLocks/>
          </p:cNvPicPr>
          <p:nvPr/>
        </p:nvPicPr>
        <p:blipFill>
          <a:blip r:embed="rId4"/>
          <a:stretch>
            <a:fillRect/>
          </a:stretch>
        </p:blipFill>
        <p:spPr>
          <a:xfrm>
            <a:off x="304800" y="1143000"/>
            <a:ext cx="11582400" cy="3276600"/>
          </a:xfrm>
          <a:prstGeom prst="rect">
            <a:avLst/>
          </a:prstGeom>
          <a:ln w="9525">
            <a:solidFill>
              <a:srgbClr val="CBD5E1"/>
            </a:solidFill>
          </a:ln>
        </p:spPr>
      </p:pic>
      <p:sp>
        <p:nvSpPr>
          <p:cNvPr id="4" name="Rectangle: Rounded Corners 3">
            <a:extLst>
              <a:ext uri="{FF2B5EF4-FFF2-40B4-BE49-F238E27FC236}">
                <a16:creationId xmlns:a16="http://schemas.microsoft.com/office/drawing/2014/main" id="{2A93B718-3268-D914-E488-EA825FC2C0DB}"/>
              </a:ext>
            </a:extLst>
          </p:cNvPr>
          <p:cNvSpPr/>
          <p:nvPr/>
        </p:nvSpPr>
        <p:spPr>
          <a:xfrm>
            <a:off x="304800" y="4495800"/>
            <a:ext cx="11582400" cy="1854200"/>
          </a:xfrm>
          <a:prstGeom prst="roundRect">
            <a:avLst>
              <a:gd name="adj" fmla="val 8000"/>
            </a:avLst>
          </a:prstGeom>
          <a:solidFill>
            <a:srgbClr val="F8FAFC"/>
          </a:solidFill>
          <a:ln w="9525">
            <a:solidFill>
              <a:srgbClr val="CBD5E1"/>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37072C13-C0C5-1650-CF96-671AAD87683D}"/>
              </a:ext>
            </a:extLst>
          </p:cNvPr>
          <p:cNvSpPr txBox="1"/>
          <p:nvPr/>
        </p:nvSpPr>
        <p:spPr>
          <a:xfrm>
            <a:off x="381000" y="4546600"/>
            <a:ext cx="114300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1150" b="1">
                <a:solidFill>
                  <a:srgbClr val="0F766E"/>
                </a:solidFill>
                <a:latin typeface="Arial" panose="020B0604020202020204" pitchFamily="34" charset="0"/>
              </a:rPr>
              <a:t>Proposed hardware and how it connects (firmware tested in simulation; bench build next; circuit on the next slide)</a:t>
            </a:r>
            <a:endParaRPr lang="en-IN" sz="1150" b="1">
              <a:solidFill>
                <a:srgbClr val="0F766E"/>
              </a:solidFill>
              <a:latin typeface="Arial" panose="020B0604020202020204" pitchFamily="34" charset="0"/>
            </a:endParaRPr>
          </a:p>
        </p:txBody>
      </p:sp>
      <p:pic>
        <p:nvPicPr>
          <p:cNvPr id="9" name="Picture 8">
            <a:extLst>
              <a:ext uri="{FF2B5EF4-FFF2-40B4-BE49-F238E27FC236}">
                <a16:creationId xmlns:a16="http://schemas.microsoft.com/office/drawing/2014/main" id="{369A7FF8-5758-4640-A757-716EF572D6A9}"/>
              </a:ext>
            </a:extLst>
          </p:cNvPr>
          <p:cNvPicPr>
            <a:picLocks/>
          </p:cNvPicPr>
          <p:nvPr/>
        </p:nvPicPr>
        <p:blipFill>
          <a:blip r:embed="rId5"/>
          <a:stretch>
            <a:fillRect/>
          </a:stretch>
        </p:blipFill>
        <p:spPr>
          <a:xfrm>
            <a:off x="558800" y="4800600"/>
            <a:ext cx="838200" cy="584200"/>
          </a:xfrm>
          <a:prstGeom prst="rect">
            <a:avLst/>
          </a:prstGeom>
        </p:spPr>
      </p:pic>
      <p:sp>
        <p:nvSpPr>
          <p:cNvPr id="13" name="TextBox 12">
            <a:extLst>
              <a:ext uri="{FF2B5EF4-FFF2-40B4-BE49-F238E27FC236}">
                <a16:creationId xmlns:a16="http://schemas.microsoft.com/office/drawing/2014/main" id="{A264365D-628A-D9F4-8B31-5B2AF1426C71}"/>
              </a:ext>
            </a:extLst>
          </p:cNvPr>
          <p:cNvSpPr txBox="1"/>
          <p:nvPr/>
        </p:nvSpPr>
        <p:spPr>
          <a:xfrm>
            <a:off x="342900" y="5410200"/>
            <a:ext cx="12573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IN" sz="860" b="1">
                <a:solidFill>
                  <a:srgbClr val="1F2937"/>
                </a:solidFill>
                <a:latin typeface="Arial" panose="020B0604020202020204" pitchFamily="34" charset="0"/>
              </a:rPr>
              <a:t>ESP32 node</a:t>
            </a:r>
          </a:p>
        </p:txBody>
      </p:sp>
      <p:sp>
        <p:nvSpPr>
          <p:cNvPr id="14" name="TextBox 13">
            <a:extLst>
              <a:ext uri="{FF2B5EF4-FFF2-40B4-BE49-F238E27FC236}">
                <a16:creationId xmlns:a16="http://schemas.microsoft.com/office/drawing/2014/main" id="{5239E02C-3C78-D539-6DAF-FC50EEA176B1}"/>
              </a:ext>
            </a:extLst>
          </p:cNvPr>
          <p:cNvSpPr txBox="1"/>
          <p:nvPr/>
        </p:nvSpPr>
        <p:spPr>
          <a:xfrm>
            <a:off x="355600" y="5600700"/>
            <a:ext cx="12319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US" sz="750">
                <a:solidFill>
                  <a:srgbClr val="475569"/>
                </a:solidFill>
                <a:latin typeface="Arial" panose="020B0604020202020204" pitchFamily="34" charset="0"/>
              </a:rPr>
              <a:t>Reads sensors through ADC, I2C and GPIO; sleeps between samples</a:t>
            </a:r>
            <a:endParaRPr lang="en-IN" sz="750">
              <a:solidFill>
                <a:srgbClr val="475569"/>
              </a:solidFill>
              <a:latin typeface="Arial" panose="020B0604020202020204" pitchFamily="34" charset="0"/>
            </a:endParaRPr>
          </a:p>
        </p:txBody>
      </p:sp>
      <p:pic>
        <p:nvPicPr>
          <p:cNvPr id="16" name="Picture 15">
            <a:extLst>
              <a:ext uri="{FF2B5EF4-FFF2-40B4-BE49-F238E27FC236}">
                <a16:creationId xmlns:a16="http://schemas.microsoft.com/office/drawing/2014/main" id="{3ABB6EC5-AC7D-60BD-D735-3A3147F4A033}"/>
              </a:ext>
            </a:extLst>
          </p:cNvPr>
          <p:cNvPicPr>
            <a:picLocks/>
          </p:cNvPicPr>
          <p:nvPr/>
        </p:nvPicPr>
        <p:blipFill>
          <a:blip r:embed="rId6"/>
          <a:stretch>
            <a:fillRect/>
          </a:stretch>
        </p:blipFill>
        <p:spPr>
          <a:xfrm>
            <a:off x="1835150" y="4800600"/>
            <a:ext cx="838200" cy="584200"/>
          </a:xfrm>
          <a:prstGeom prst="rect">
            <a:avLst/>
          </a:prstGeom>
        </p:spPr>
      </p:pic>
      <p:sp>
        <p:nvSpPr>
          <p:cNvPr id="17" name="TextBox 16">
            <a:extLst>
              <a:ext uri="{FF2B5EF4-FFF2-40B4-BE49-F238E27FC236}">
                <a16:creationId xmlns:a16="http://schemas.microsoft.com/office/drawing/2014/main" id="{C8AB669B-A135-A2C8-9181-603FEC69B8D8}"/>
              </a:ext>
            </a:extLst>
          </p:cNvPr>
          <p:cNvSpPr txBox="1"/>
          <p:nvPr/>
        </p:nvSpPr>
        <p:spPr>
          <a:xfrm>
            <a:off x="1619250" y="5410200"/>
            <a:ext cx="12573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IN" sz="860" b="1">
                <a:solidFill>
                  <a:srgbClr val="1F2937"/>
                </a:solidFill>
                <a:latin typeface="Arial" panose="020B0604020202020204" pitchFamily="34" charset="0"/>
              </a:rPr>
              <a:t>LoRa SX1276</a:t>
            </a:r>
          </a:p>
        </p:txBody>
      </p:sp>
      <p:sp>
        <p:nvSpPr>
          <p:cNvPr id="18" name="TextBox 17">
            <a:extLst>
              <a:ext uri="{FF2B5EF4-FFF2-40B4-BE49-F238E27FC236}">
                <a16:creationId xmlns:a16="http://schemas.microsoft.com/office/drawing/2014/main" id="{6E9B9AF4-FE20-E58C-14D9-0E448D7B7905}"/>
              </a:ext>
            </a:extLst>
          </p:cNvPr>
          <p:cNvSpPr txBox="1"/>
          <p:nvPr/>
        </p:nvSpPr>
        <p:spPr>
          <a:xfrm>
            <a:off x="1631950" y="5600700"/>
            <a:ext cx="12319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IN" sz="750">
                <a:solidFill>
                  <a:srgbClr val="475569"/>
                </a:solidFill>
                <a:latin typeface="Arial" panose="020B0604020202020204" pitchFamily="34" charset="0"/>
              </a:rPr>
              <a:t>SPI radio, 865-867 MHz, node to village gateway</a:t>
            </a:r>
          </a:p>
        </p:txBody>
      </p:sp>
      <p:pic>
        <p:nvPicPr>
          <p:cNvPr id="20" name="Picture 19">
            <a:extLst>
              <a:ext uri="{FF2B5EF4-FFF2-40B4-BE49-F238E27FC236}">
                <a16:creationId xmlns:a16="http://schemas.microsoft.com/office/drawing/2014/main" id="{3519345A-3154-4750-E6A8-DE17B9B0BE45}"/>
              </a:ext>
            </a:extLst>
          </p:cNvPr>
          <p:cNvPicPr>
            <a:picLocks/>
          </p:cNvPicPr>
          <p:nvPr/>
        </p:nvPicPr>
        <p:blipFill>
          <a:blip r:embed="rId7"/>
          <a:stretch>
            <a:fillRect/>
          </a:stretch>
        </p:blipFill>
        <p:spPr>
          <a:xfrm>
            <a:off x="3111500" y="4800600"/>
            <a:ext cx="838200" cy="584200"/>
          </a:xfrm>
          <a:prstGeom prst="rect">
            <a:avLst/>
          </a:prstGeom>
        </p:spPr>
      </p:pic>
      <p:sp>
        <p:nvSpPr>
          <p:cNvPr id="21" name="TextBox 20">
            <a:extLst>
              <a:ext uri="{FF2B5EF4-FFF2-40B4-BE49-F238E27FC236}">
                <a16:creationId xmlns:a16="http://schemas.microsoft.com/office/drawing/2014/main" id="{CCB51032-7D77-743F-7586-8538BEE0E93A}"/>
              </a:ext>
            </a:extLst>
          </p:cNvPr>
          <p:cNvSpPr txBox="1"/>
          <p:nvPr/>
        </p:nvSpPr>
        <p:spPr>
          <a:xfrm>
            <a:off x="2895600" y="5410200"/>
            <a:ext cx="12573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IN" sz="860" b="1">
                <a:solidFill>
                  <a:srgbClr val="1F2937"/>
                </a:solidFill>
                <a:latin typeface="Arial" panose="020B0604020202020204" pitchFamily="34" charset="0"/>
              </a:rPr>
              <a:t>Pi gateway</a:t>
            </a:r>
          </a:p>
        </p:txBody>
      </p:sp>
      <p:sp>
        <p:nvSpPr>
          <p:cNvPr id="22" name="TextBox 21">
            <a:extLst>
              <a:ext uri="{FF2B5EF4-FFF2-40B4-BE49-F238E27FC236}">
                <a16:creationId xmlns:a16="http://schemas.microsoft.com/office/drawing/2014/main" id="{0162408C-C6CD-F8CC-EE7A-68708BF0A8FA}"/>
              </a:ext>
            </a:extLst>
          </p:cNvPr>
          <p:cNvSpPr txBox="1"/>
          <p:nvPr/>
        </p:nvSpPr>
        <p:spPr>
          <a:xfrm>
            <a:off x="2908300" y="5600700"/>
            <a:ext cx="12319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US" sz="750">
                <a:solidFill>
                  <a:srgbClr val="475569"/>
                </a:solidFill>
                <a:latin typeface="Arial" panose="020B0604020202020204" pitchFamily="34" charset="0"/>
              </a:rPr>
              <a:t>Buffers readings, sends over 4G MQTT to the ingestion API</a:t>
            </a:r>
            <a:endParaRPr lang="en-IN" sz="750">
              <a:solidFill>
                <a:srgbClr val="475569"/>
              </a:solidFill>
              <a:latin typeface="Arial" panose="020B0604020202020204" pitchFamily="34" charset="0"/>
            </a:endParaRPr>
          </a:p>
        </p:txBody>
      </p:sp>
      <p:sp>
        <p:nvSpPr>
          <p:cNvPr id="23" name="Rectangle: Rounded Corners 22">
            <a:extLst>
              <a:ext uri="{FF2B5EF4-FFF2-40B4-BE49-F238E27FC236}">
                <a16:creationId xmlns:a16="http://schemas.microsoft.com/office/drawing/2014/main" id="{CE1D1438-F50A-AB85-C875-958C38268003}"/>
              </a:ext>
            </a:extLst>
          </p:cNvPr>
          <p:cNvSpPr/>
          <p:nvPr/>
        </p:nvSpPr>
        <p:spPr>
          <a:xfrm>
            <a:off x="4171950" y="4775200"/>
            <a:ext cx="1257300" cy="1549400"/>
          </a:xfrm>
          <a:prstGeom prst="roundRect">
            <a:avLst>
              <a:gd name="adj" fmla="val 8000"/>
            </a:avLst>
          </a:prstGeom>
          <a:solidFill>
            <a:srgbClr val="FFF7E6"/>
          </a:solidFill>
          <a:ln w="9525">
            <a:solidFill>
              <a:srgbClr val="F59E0B"/>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pic>
        <p:nvPicPr>
          <p:cNvPr id="25" name="Picture 24">
            <a:extLst>
              <a:ext uri="{FF2B5EF4-FFF2-40B4-BE49-F238E27FC236}">
                <a16:creationId xmlns:a16="http://schemas.microsoft.com/office/drawing/2014/main" id="{CEB8728A-CB10-DB49-1318-55CF54192AB5}"/>
              </a:ext>
            </a:extLst>
          </p:cNvPr>
          <p:cNvPicPr>
            <a:picLocks/>
          </p:cNvPicPr>
          <p:nvPr/>
        </p:nvPicPr>
        <p:blipFill>
          <a:blip r:embed="rId8"/>
          <a:stretch>
            <a:fillRect/>
          </a:stretch>
        </p:blipFill>
        <p:spPr>
          <a:xfrm>
            <a:off x="4387850" y="4800600"/>
            <a:ext cx="838200" cy="584200"/>
          </a:xfrm>
          <a:prstGeom prst="rect">
            <a:avLst/>
          </a:prstGeom>
        </p:spPr>
      </p:pic>
      <p:sp>
        <p:nvSpPr>
          <p:cNvPr id="26" name="TextBox 25">
            <a:extLst>
              <a:ext uri="{FF2B5EF4-FFF2-40B4-BE49-F238E27FC236}">
                <a16:creationId xmlns:a16="http://schemas.microsoft.com/office/drawing/2014/main" id="{5039E75B-7F68-8AEB-052D-F609CA306BB4}"/>
              </a:ext>
            </a:extLst>
          </p:cNvPr>
          <p:cNvSpPr txBox="1"/>
          <p:nvPr/>
        </p:nvSpPr>
        <p:spPr>
          <a:xfrm>
            <a:off x="4171950" y="5410200"/>
            <a:ext cx="12573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IN" sz="860" b="1">
                <a:solidFill>
                  <a:srgbClr val="1F2937"/>
                </a:solidFill>
                <a:latin typeface="Arial" panose="020B0604020202020204" pitchFamily="34" charset="0"/>
              </a:rPr>
              <a:t>Acoustic sensor</a:t>
            </a:r>
          </a:p>
        </p:txBody>
      </p:sp>
      <p:sp>
        <p:nvSpPr>
          <p:cNvPr id="27" name="TextBox 26">
            <a:extLst>
              <a:ext uri="{FF2B5EF4-FFF2-40B4-BE49-F238E27FC236}">
                <a16:creationId xmlns:a16="http://schemas.microsoft.com/office/drawing/2014/main" id="{393843AB-1586-2E2F-F550-9825023B6EE1}"/>
              </a:ext>
            </a:extLst>
          </p:cNvPr>
          <p:cNvSpPr txBox="1"/>
          <p:nvPr/>
        </p:nvSpPr>
        <p:spPr>
          <a:xfrm>
            <a:off x="4184650" y="5600700"/>
            <a:ext cx="12319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US" sz="750">
                <a:solidFill>
                  <a:srgbClr val="475569"/>
                </a:solidFill>
                <a:latin typeface="Arial" panose="020B0604020202020204" pitchFamily="34" charset="0"/>
              </a:rPr>
              <a:t>Piezo clamp at critical points; leak-noise indicator, confirmed by flow and pressure</a:t>
            </a:r>
            <a:endParaRPr lang="en-IN" sz="750">
              <a:solidFill>
                <a:srgbClr val="475569"/>
              </a:solidFill>
              <a:latin typeface="Arial" panose="020B0604020202020204" pitchFamily="34" charset="0"/>
            </a:endParaRPr>
          </a:p>
        </p:txBody>
      </p:sp>
      <p:sp>
        <p:nvSpPr>
          <p:cNvPr id="28" name="Rectangle: Rounded Corners 27">
            <a:extLst>
              <a:ext uri="{FF2B5EF4-FFF2-40B4-BE49-F238E27FC236}">
                <a16:creationId xmlns:a16="http://schemas.microsoft.com/office/drawing/2014/main" id="{29F77EBE-4D18-07EC-57BD-811188B48414}"/>
              </a:ext>
            </a:extLst>
          </p:cNvPr>
          <p:cNvSpPr/>
          <p:nvPr/>
        </p:nvSpPr>
        <p:spPr>
          <a:xfrm>
            <a:off x="5448300" y="4775200"/>
            <a:ext cx="1257300" cy="1549400"/>
          </a:xfrm>
          <a:prstGeom prst="roundRect">
            <a:avLst>
              <a:gd name="adj" fmla="val 8000"/>
            </a:avLst>
          </a:prstGeom>
          <a:solidFill>
            <a:srgbClr val="FFF7E6"/>
          </a:solidFill>
          <a:ln w="9525">
            <a:solidFill>
              <a:srgbClr val="F59E0B"/>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pic>
        <p:nvPicPr>
          <p:cNvPr id="30" name="Picture 29">
            <a:extLst>
              <a:ext uri="{FF2B5EF4-FFF2-40B4-BE49-F238E27FC236}">
                <a16:creationId xmlns:a16="http://schemas.microsoft.com/office/drawing/2014/main" id="{EFE91741-6272-9024-29F7-44ABF1FEE852}"/>
              </a:ext>
            </a:extLst>
          </p:cNvPr>
          <p:cNvPicPr>
            <a:picLocks/>
          </p:cNvPicPr>
          <p:nvPr/>
        </p:nvPicPr>
        <p:blipFill>
          <a:blip r:embed="rId9"/>
          <a:stretch>
            <a:fillRect/>
          </a:stretch>
        </p:blipFill>
        <p:spPr>
          <a:xfrm>
            <a:off x="5664200" y="4800600"/>
            <a:ext cx="838200" cy="584200"/>
          </a:xfrm>
          <a:prstGeom prst="rect">
            <a:avLst/>
          </a:prstGeom>
        </p:spPr>
      </p:pic>
      <p:sp>
        <p:nvSpPr>
          <p:cNvPr id="31" name="TextBox 30">
            <a:extLst>
              <a:ext uri="{FF2B5EF4-FFF2-40B4-BE49-F238E27FC236}">
                <a16:creationId xmlns:a16="http://schemas.microsoft.com/office/drawing/2014/main" id="{837A2A9A-0B8F-AF47-1500-8BF2C18F5706}"/>
              </a:ext>
            </a:extLst>
          </p:cNvPr>
          <p:cNvSpPr txBox="1"/>
          <p:nvPr/>
        </p:nvSpPr>
        <p:spPr>
          <a:xfrm>
            <a:off x="5448300" y="5410200"/>
            <a:ext cx="12573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IN" sz="860" b="1">
                <a:solidFill>
                  <a:srgbClr val="1F2937"/>
                </a:solidFill>
                <a:latin typeface="Arial" panose="020B0604020202020204" pitchFamily="34" charset="0"/>
              </a:rPr>
              <a:t>Chlorine sensor</a:t>
            </a:r>
          </a:p>
        </p:txBody>
      </p:sp>
      <p:sp>
        <p:nvSpPr>
          <p:cNvPr id="32" name="TextBox 31">
            <a:extLst>
              <a:ext uri="{FF2B5EF4-FFF2-40B4-BE49-F238E27FC236}">
                <a16:creationId xmlns:a16="http://schemas.microsoft.com/office/drawing/2014/main" id="{BE82E53D-06C1-2E6C-EB3A-7C226CB16C53}"/>
              </a:ext>
            </a:extLst>
          </p:cNvPr>
          <p:cNvSpPr txBox="1"/>
          <p:nvPr/>
        </p:nvSpPr>
        <p:spPr>
          <a:xfrm>
            <a:off x="5461000" y="5600700"/>
            <a:ext cx="12319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US" sz="750">
                <a:solidFill>
                  <a:srgbClr val="475569"/>
                </a:solidFill>
                <a:latin typeface="Arial" panose="020B0604020202020204" pitchFamily="34" charset="0"/>
              </a:rPr>
              <a:t>4-20 mA probe in a flow cell at the tail end; measured mg/L, low-chlorine alert</a:t>
            </a:r>
            <a:endParaRPr lang="en-IN" sz="750">
              <a:solidFill>
                <a:srgbClr val="475569"/>
              </a:solidFill>
              <a:latin typeface="Arial" panose="020B0604020202020204" pitchFamily="34" charset="0"/>
            </a:endParaRPr>
          </a:p>
        </p:txBody>
      </p:sp>
      <p:pic>
        <p:nvPicPr>
          <p:cNvPr id="34" name="Picture 33">
            <a:extLst>
              <a:ext uri="{FF2B5EF4-FFF2-40B4-BE49-F238E27FC236}">
                <a16:creationId xmlns:a16="http://schemas.microsoft.com/office/drawing/2014/main" id="{03A5DAF4-F136-A930-4A36-E8EDDE5226DD}"/>
              </a:ext>
            </a:extLst>
          </p:cNvPr>
          <p:cNvPicPr>
            <a:picLocks/>
          </p:cNvPicPr>
          <p:nvPr/>
        </p:nvPicPr>
        <p:blipFill>
          <a:blip r:embed="rId10"/>
          <a:stretch>
            <a:fillRect/>
          </a:stretch>
        </p:blipFill>
        <p:spPr>
          <a:xfrm>
            <a:off x="6940550" y="4800600"/>
            <a:ext cx="838200" cy="584200"/>
          </a:xfrm>
          <a:prstGeom prst="rect">
            <a:avLst/>
          </a:prstGeom>
        </p:spPr>
      </p:pic>
      <p:sp>
        <p:nvSpPr>
          <p:cNvPr id="35" name="TextBox 34">
            <a:extLst>
              <a:ext uri="{FF2B5EF4-FFF2-40B4-BE49-F238E27FC236}">
                <a16:creationId xmlns:a16="http://schemas.microsoft.com/office/drawing/2014/main" id="{3DDAB5FF-6433-4D45-BAC2-0F573A4B4BD5}"/>
              </a:ext>
            </a:extLst>
          </p:cNvPr>
          <p:cNvSpPr txBox="1"/>
          <p:nvPr/>
        </p:nvSpPr>
        <p:spPr>
          <a:xfrm>
            <a:off x="6724650" y="5410200"/>
            <a:ext cx="12573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IN" sz="860" b="1">
                <a:solidFill>
                  <a:srgbClr val="1F2937"/>
                </a:solidFill>
                <a:latin typeface="Arial" panose="020B0604020202020204" pitchFamily="34" charset="0"/>
              </a:rPr>
              <a:t>Pressure x2</a:t>
            </a:r>
          </a:p>
        </p:txBody>
      </p:sp>
      <p:sp>
        <p:nvSpPr>
          <p:cNvPr id="36" name="TextBox 35">
            <a:extLst>
              <a:ext uri="{FF2B5EF4-FFF2-40B4-BE49-F238E27FC236}">
                <a16:creationId xmlns:a16="http://schemas.microsoft.com/office/drawing/2014/main" id="{C5219C4B-01CF-7CC7-B2E7-C7EBF9DA0344}"/>
              </a:ext>
            </a:extLst>
          </p:cNvPr>
          <p:cNvSpPr txBox="1"/>
          <p:nvPr/>
        </p:nvSpPr>
        <p:spPr>
          <a:xfrm>
            <a:off x="6737350" y="5600700"/>
            <a:ext cx="12319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US" sz="750">
                <a:solidFill>
                  <a:srgbClr val="475569"/>
                </a:solidFill>
                <a:latin typeface="Arial" panose="020B0604020202020204" pitchFamily="34" charset="0"/>
              </a:rPr>
              <a:t>4-20 mA transmitters, head and tail; low-pressure alert</a:t>
            </a:r>
            <a:endParaRPr lang="en-IN" sz="750">
              <a:solidFill>
                <a:srgbClr val="475569"/>
              </a:solidFill>
              <a:latin typeface="Arial" panose="020B0604020202020204" pitchFamily="34" charset="0"/>
            </a:endParaRPr>
          </a:p>
        </p:txBody>
      </p:sp>
      <p:pic>
        <p:nvPicPr>
          <p:cNvPr id="38" name="Picture 37">
            <a:extLst>
              <a:ext uri="{FF2B5EF4-FFF2-40B4-BE49-F238E27FC236}">
                <a16:creationId xmlns:a16="http://schemas.microsoft.com/office/drawing/2014/main" id="{44BC2F47-CD6B-EB78-1C9C-ED381F971D50}"/>
              </a:ext>
            </a:extLst>
          </p:cNvPr>
          <p:cNvPicPr>
            <a:picLocks/>
          </p:cNvPicPr>
          <p:nvPr/>
        </p:nvPicPr>
        <p:blipFill>
          <a:blip r:embed="rId11"/>
          <a:stretch>
            <a:fillRect/>
          </a:stretch>
        </p:blipFill>
        <p:spPr>
          <a:xfrm>
            <a:off x="8216900" y="4800600"/>
            <a:ext cx="838200" cy="584200"/>
          </a:xfrm>
          <a:prstGeom prst="rect">
            <a:avLst/>
          </a:prstGeom>
        </p:spPr>
      </p:pic>
      <p:sp>
        <p:nvSpPr>
          <p:cNvPr id="39" name="TextBox 38">
            <a:extLst>
              <a:ext uri="{FF2B5EF4-FFF2-40B4-BE49-F238E27FC236}">
                <a16:creationId xmlns:a16="http://schemas.microsoft.com/office/drawing/2014/main" id="{AABF4DF0-2C1F-9BE1-312C-773D680362EF}"/>
              </a:ext>
            </a:extLst>
          </p:cNvPr>
          <p:cNvSpPr txBox="1"/>
          <p:nvPr/>
        </p:nvSpPr>
        <p:spPr>
          <a:xfrm>
            <a:off x="8001000" y="5410200"/>
            <a:ext cx="12573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IN" sz="860" b="1">
                <a:solidFill>
                  <a:srgbClr val="1F2937"/>
                </a:solidFill>
                <a:latin typeface="Arial" panose="020B0604020202020204" pitchFamily="34" charset="0"/>
              </a:rPr>
              <a:t>Flow meter x2</a:t>
            </a:r>
          </a:p>
        </p:txBody>
      </p:sp>
      <p:sp>
        <p:nvSpPr>
          <p:cNvPr id="40" name="TextBox 39">
            <a:extLst>
              <a:ext uri="{FF2B5EF4-FFF2-40B4-BE49-F238E27FC236}">
                <a16:creationId xmlns:a16="http://schemas.microsoft.com/office/drawing/2014/main" id="{E06482A3-6E51-2D37-FABD-371791CD56B0}"/>
              </a:ext>
            </a:extLst>
          </p:cNvPr>
          <p:cNvSpPr txBox="1"/>
          <p:nvPr/>
        </p:nvSpPr>
        <p:spPr>
          <a:xfrm>
            <a:off x="8013700" y="5600700"/>
            <a:ext cx="12319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US" sz="750">
                <a:solidFill>
                  <a:srgbClr val="475569"/>
                </a:solidFill>
                <a:latin typeface="Arial" panose="020B0604020202020204" pitchFamily="34" charset="0"/>
              </a:rPr>
              <a:t>Pulse output, head and tail; a gap above its normal baseline flags a possible leak</a:t>
            </a:r>
            <a:endParaRPr lang="en-IN" sz="750">
              <a:solidFill>
                <a:srgbClr val="475569"/>
              </a:solidFill>
              <a:latin typeface="Arial" panose="020B0604020202020204" pitchFamily="34" charset="0"/>
            </a:endParaRPr>
          </a:p>
        </p:txBody>
      </p:sp>
      <p:pic>
        <p:nvPicPr>
          <p:cNvPr id="42" name="Picture 41">
            <a:extLst>
              <a:ext uri="{FF2B5EF4-FFF2-40B4-BE49-F238E27FC236}">
                <a16:creationId xmlns:a16="http://schemas.microsoft.com/office/drawing/2014/main" id="{4741BE1E-F18F-16BE-5FC4-98CEB4B00912}"/>
              </a:ext>
            </a:extLst>
          </p:cNvPr>
          <p:cNvPicPr>
            <a:picLocks/>
          </p:cNvPicPr>
          <p:nvPr/>
        </p:nvPicPr>
        <p:blipFill>
          <a:blip r:embed="rId12"/>
          <a:stretch>
            <a:fillRect/>
          </a:stretch>
        </p:blipFill>
        <p:spPr>
          <a:xfrm>
            <a:off x="9493250" y="4800600"/>
            <a:ext cx="838200" cy="584200"/>
          </a:xfrm>
          <a:prstGeom prst="rect">
            <a:avLst/>
          </a:prstGeom>
        </p:spPr>
      </p:pic>
      <p:sp>
        <p:nvSpPr>
          <p:cNvPr id="43" name="TextBox 42">
            <a:extLst>
              <a:ext uri="{FF2B5EF4-FFF2-40B4-BE49-F238E27FC236}">
                <a16:creationId xmlns:a16="http://schemas.microsoft.com/office/drawing/2014/main" id="{DC808FE0-3639-021E-E938-70DC1DB46B33}"/>
              </a:ext>
            </a:extLst>
          </p:cNvPr>
          <p:cNvSpPr txBox="1"/>
          <p:nvPr/>
        </p:nvSpPr>
        <p:spPr>
          <a:xfrm>
            <a:off x="9277350" y="5410200"/>
            <a:ext cx="12573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IN" sz="860" b="1">
                <a:solidFill>
                  <a:srgbClr val="1F2937"/>
                </a:solidFill>
                <a:latin typeface="Arial" panose="020B0604020202020204" pitchFamily="34" charset="0"/>
              </a:rPr>
              <a:t>Ultrasonic level</a:t>
            </a:r>
          </a:p>
        </p:txBody>
      </p:sp>
      <p:sp>
        <p:nvSpPr>
          <p:cNvPr id="44" name="TextBox 43">
            <a:extLst>
              <a:ext uri="{FF2B5EF4-FFF2-40B4-BE49-F238E27FC236}">
                <a16:creationId xmlns:a16="http://schemas.microsoft.com/office/drawing/2014/main" id="{6588E6B3-5B38-DEBF-BC91-9AF00D3A8E0A}"/>
              </a:ext>
            </a:extLst>
          </p:cNvPr>
          <p:cNvSpPr txBox="1"/>
          <p:nvPr/>
        </p:nvSpPr>
        <p:spPr>
          <a:xfrm>
            <a:off x="9290050" y="5600700"/>
            <a:ext cx="12319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US" sz="750">
                <a:solidFill>
                  <a:srgbClr val="475569"/>
                </a:solidFill>
                <a:latin typeface="Arial" panose="020B0604020202020204" pitchFamily="34" charset="0"/>
              </a:rPr>
              <a:t>JSN-SR04T on the tank; supply and tank health</a:t>
            </a:r>
            <a:endParaRPr lang="en-IN" sz="750">
              <a:solidFill>
                <a:srgbClr val="475569"/>
              </a:solidFill>
              <a:latin typeface="Arial" panose="020B0604020202020204" pitchFamily="34" charset="0"/>
            </a:endParaRPr>
          </a:p>
        </p:txBody>
      </p:sp>
      <p:pic>
        <p:nvPicPr>
          <p:cNvPr id="46" name="Picture 45">
            <a:extLst>
              <a:ext uri="{FF2B5EF4-FFF2-40B4-BE49-F238E27FC236}">
                <a16:creationId xmlns:a16="http://schemas.microsoft.com/office/drawing/2014/main" id="{C6BFE568-6E38-8D82-609D-3DF882814400}"/>
              </a:ext>
            </a:extLst>
          </p:cNvPr>
          <p:cNvPicPr>
            <a:picLocks/>
          </p:cNvPicPr>
          <p:nvPr/>
        </p:nvPicPr>
        <p:blipFill>
          <a:blip r:embed="rId13"/>
          <a:stretch>
            <a:fillRect/>
          </a:stretch>
        </p:blipFill>
        <p:spPr>
          <a:xfrm>
            <a:off x="10769600" y="4800600"/>
            <a:ext cx="838200" cy="584200"/>
          </a:xfrm>
          <a:prstGeom prst="rect">
            <a:avLst/>
          </a:prstGeom>
        </p:spPr>
      </p:pic>
      <p:sp>
        <p:nvSpPr>
          <p:cNvPr id="47" name="TextBox 46">
            <a:extLst>
              <a:ext uri="{FF2B5EF4-FFF2-40B4-BE49-F238E27FC236}">
                <a16:creationId xmlns:a16="http://schemas.microsoft.com/office/drawing/2014/main" id="{3373A758-3565-BC33-052B-72DDADCF7DB3}"/>
              </a:ext>
            </a:extLst>
          </p:cNvPr>
          <p:cNvSpPr txBox="1"/>
          <p:nvPr/>
        </p:nvSpPr>
        <p:spPr>
          <a:xfrm>
            <a:off x="10553700" y="5410200"/>
            <a:ext cx="12573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IN" sz="860" b="1">
                <a:solidFill>
                  <a:srgbClr val="1F2937"/>
                </a:solidFill>
                <a:latin typeface="Arial" panose="020B0604020202020204" pitchFamily="34" charset="0"/>
              </a:rPr>
              <a:t>Solar + battery</a:t>
            </a:r>
          </a:p>
        </p:txBody>
      </p:sp>
      <p:sp>
        <p:nvSpPr>
          <p:cNvPr id="48" name="TextBox 47">
            <a:extLst>
              <a:ext uri="{FF2B5EF4-FFF2-40B4-BE49-F238E27FC236}">
                <a16:creationId xmlns:a16="http://schemas.microsoft.com/office/drawing/2014/main" id="{5323471E-E2DF-B475-C486-B281108E2252}"/>
              </a:ext>
            </a:extLst>
          </p:cNvPr>
          <p:cNvSpPr txBox="1"/>
          <p:nvPr/>
        </p:nvSpPr>
        <p:spPr>
          <a:xfrm>
            <a:off x="10566400" y="5600700"/>
            <a:ext cx="12319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US" sz="750">
                <a:solidFill>
                  <a:srgbClr val="475569"/>
                </a:solidFill>
                <a:latin typeface="Arial" panose="020B0604020202020204" pitchFamily="34" charset="0"/>
              </a:rPr>
              <a:t>12 V 10 W panel, 7 Ah battery, IP65 box; buck and boost rails</a:t>
            </a:r>
            <a:endParaRPr lang="en-IN" sz="750">
              <a:solidFill>
                <a:srgbClr val="475569"/>
              </a:solidFill>
              <a:latin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FEASIBILITY AND VIABILITY</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100"/>
              <a:t>Team Vistaar</a:t>
            </a:r>
            <a:endParaRPr lang="en-IN" sz="1100"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pic>
        <p:nvPicPr>
          <p:cNvPr id="3" name="Picture 2">
            <a:extLst>
              <a:ext uri="{FF2B5EF4-FFF2-40B4-BE49-F238E27FC236}">
                <a16:creationId xmlns:a16="http://schemas.microsoft.com/office/drawing/2014/main" id="{2BA88644-0775-978C-8BBD-EFFFA763D6AA}"/>
              </a:ext>
            </a:extLst>
          </p:cNvPr>
          <p:cNvPicPr>
            <a:picLocks/>
          </p:cNvPicPr>
          <p:nvPr/>
        </p:nvPicPr>
        <p:blipFill>
          <a:blip r:embed="rId4"/>
          <a:stretch>
            <a:fillRect/>
          </a:stretch>
        </p:blipFill>
        <p:spPr>
          <a:xfrm>
            <a:off x="304800" y="1168400"/>
            <a:ext cx="6604000" cy="4191000"/>
          </a:xfrm>
          <a:prstGeom prst="rect">
            <a:avLst/>
          </a:prstGeom>
          <a:ln w="9525">
            <a:solidFill>
              <a:srgbClr val="CBD5E1"/>
            </a:solidFill>
          </a:ln>
        </p:spPr>
      </p:pic>
      <p:sp>
        <p:nvSpPr>
          <p:cNvPr id="4" name="TextBox 3">
            <a:extLst>
              <a:ext uri="{FF2B5EF4-FFF2-40B4-BE49-F238E27FC236}">
                <a16:creationId xmlns:a16="http://schemas.microsoft.com/office/drawing/2014/main" id="{A1200057-AA7B-1AE8-684F-B7C9D0E928E0}"/>
              </a:ext>
            </a:extLst>
          </p:cNvPr>
          <p:cNvSpPr txBox="1"/>
          <p:nvPr/>
        </p:nvSpPr>
        <p:spPr>
          <a:xfrm>
            <a:off x="304800" y="5372100"/>
            <a:ext cx="66040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700" i="1">
                <a:solidFill>
                  <a:srgbClr val="475569"/>
                </a:solidFill>
                <a:latin typeface="Arial" panose="020B0604020202020204" pitchFamily="34" charset="0"/>
              </a:rPr>
              <a:t>Circuit of sensor node B (pipeline head / tail): ESP32 with LoRa, ADS1115, 4-20 mA loops, flow, acoustic and tank-level inputs.</a:t>
            </a:r>
            <a:endParaRPr lang="en-IN" sz="700" i="1">
              <a:solidFill>
                <a:srgbClr val="475569"/>
              </a:solidFill>
              <a:latin typeface="Arial" panose="020B0604020202020204" pitchFamily="34" charset="0"/>
            </a:endParaRPr>
          </a:p>
        </p:txBody>
      </p:sp>
      <p:sp>
        <p:nvSpPr>
          <p:cNvPr id="5" name="Rectangle: Rounded Corners 4">
            <a:extLst>
              <a:ext uri="{FF2B5EF4-FFF2-40B4-BE49-F238E27FC236}">
                <a16:creationId xmlns:a16="http://schemas.microsoft.com/office/drawing/2014/main" id="{5620E7D0-7BD5-78A3-D73A-C5A817F51F6B}"/>
              </a:ext>
            </a:extLst>
          </p:cNvPr>
          <p:cNvSpPr/>
          <p:nvPr/>
        </p:nvSpPr>
        <p:spPr>
          <a:xfrm>
            <a:off x="7010400" y="1168400"/>
            <a:ext cx="2387600" cy="1219200"/>
          </a:xfrm>
          <a:prstGeom prst="roundRect">
            <a:avLst>
              <a:gd name="adj" fmla="val 8000"/>
            </a:avLst>
          </a:prstGeom>
          <a:solidFill>
            <a:srgbClr val="DBEAF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 name="Rectangle: Rounded Corners 7">
            <a:extLst>
              <a:ext uri="{FF2B5EF4-FFF2-40B4-BE49-F238E27FC236}">
                <a16:creationId xmlns:a16="http://schemas.microsoft.com/office/drawing/2014/main" id="{22F76FAE-1228-BA32-17A4-F731CEBFAE40}"/>
              </a:ext>
            </a:extLst>
          </p:cNvPr>
          <p:cNvSpPr/>
          <p:nvPr/>
        </p:nvSpPr>
        <p:spPr>
          <a:xfrm>
            <a:off x="7010400" y="1168400"/>
            <a:ext cx="2387600" cy="228600"/>
          </a:xfrm>
          <a:prstGeom prst="roundRect">
            <a:avLst>
              <a:gd name="adj" fmla="val 8000"/>
            </a:avLst>
          </a:prstGeom>
          <a:solidFill>
            <a:srgbClr val="0070C0"/>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950" b="1">
                <a:solidFill>
                  <a:srgbClr val="FFFFFF"/>
                </a:solidFill>
                <a:latin typeface="Arial" panose="020B0604020202020204" pitchFamily="34" charset="0"/>
              </a:rPr>
              <a:t>Scalability</a:t>
            </a:r>
          </a:p>
        </p:txBody>
      </p:sp>
      <p:sp>
        <p:nvSpPr>
          <p:cNvPr id="9" name="TextBox 8">
            <a:extLst>
              <a:ext uri="{FF2B5EF4-FFF2-40B4-BE49-F238E27FC236}">
                <a16:creationId xmlns:a16="http://schemas.microsoft.com/office/drawing/2014/main" id="{FDDFF5EB-BDB0-7A92-24F5-3B79401C6BF1}"/>
              </a:ext>
            </a:extLst>
          </p:cNvPr>
          <p:cNvSpPr txBox="1"/>
          <p:nvPr/>
        </p:nvSpPr>
        <p:spPr>
          <a:xfrm>
            <a:off x="7061200" y="1422400"/>
            <a:ext cx="2311400" cy="369332"/>
          </a:xfrm>
          <a:prstGeom prst="rect">
            <a:avLst/>
          </a:prstGeom>
          <a:noFill/>
        </p:spPr>
        <p:txBody>
          <a:bodyPr vert="horz" wrap="square" lIns="50800" tIns="25400" rIns="50800" bIns="25400" rtlCol="0" anchor="t">
            <a:noAutofit/>
          </a:bodyPr>
          <a:lstStyle/>
          <a:p>
            <a:pPr marL="127000" indent="-127000">
              <a:spcBef>
                <a:spcPts val="0"/>
              </a:spcBef>
              <a:spcAft>
                <a:spcPts val="300"/>
              </a:spcAft>
              <a:buClr>
                <a:srgbClr val="0F766E"/>
              </a:buClr>
              <a:buFont typeface="+mj-lt"/>
              <a:buChar char="•"/>
            </a:pPr>
            <a:r>
              <a:rPr lang="en-US" sz="790">
                <a:solidFill>
                  <a:srgbClr val="1F2937"/>
                </a:solidFill>
                <a:latin typeface="Arial" panose="020B0604020202020204" pitchFamily="34" charset="0"/>
              </a:rPr>
              <a:t>One village, then a cluster per gateway, block, district, state</a:t>
            </a:r>
          </a:p>
          <a:p>
            <a:pPr marL="127000" indent="-127000">
              <a:spcBef>
                <a:spcPts val="0"/>
              </a:spcBef>
              <a:spcAft>
                <a:spcPts val="300"/>
              </a:spcAft>
              <a:buClr>
                <a:srgbClr val="0F766E"/>
              </a:buClr>
              <a:buFont typeface="+mj-lt"/>
              <a:buChar char="•"/>
            </a:pPr>
            <a:r>
              <a:rPr lang="en-US" sz="790">
                <a:solidFill>
                  <a:srgbClr val="1F2937"/>
                </a:solidFill>
                <a:latin typeface="Arial" panose="020B0604020202020204" pitchFamily="34" charset="0"/>
              </a:rPr>
              <a:t>Stateless APIs; PostgreSQL + PostGIS</a:t>
            </a:r>
          </a:p>
          <a:p>
            <a:pPr marL="127000" indent="-127000">
              <a:spcBef>
                <a:spcPts val="0"/>
              </a:spcBef>
              <a:spcAft>
                <a:spcPts val="300"/>
              </a:spcAft>
              <a:buClr>
                <a:srgbClr val="0F766E"/>
              </a:buClr>
              <a:buFont typeface="+mj-lt"/>
              <a:buChar char="•"/>
            </a:pPr>
            <a:r>
              <a:rPr lang="en-US" sz="790">
                <a:solidFill>
                  <a:srgbClr val="1F2937"/>
                </a:solidFill>
                <a:latin typeface="Arial" panose="020B0604020202020204" pitchFamily="34" charset="0"/>
              </a:rPr>
              <a:t>Same node design in every village</a:t>
            </a:r>
            <a:endParaRPr lang="en-IN" sz="790">
              <a:solidFill>
                <a:srgbClr val="1F2937"/>
              </a:solidFill>
              <a:latin typeface="Arial" panose="020B0604020202020204" pitchFamily="34" charset="0"/>
            </a:endParaRPr>
          </a:p>
        </p:txBody>
      </p:sp>
      <p:sp>
        <p:nvSpPr>
          <p:cNvPr id="13" name="Rectangle: Rounded Corners 12">
            <a:extLst>
              <a:ext uri="{FF2B5EF4-FFF2-40B4-BE49-F238E27FC236}">
                <a16:creationId xmlns:a16="http://schemas.microsoft.com/office/drawing/2014/main" id="{DD22B895-3525-21A6-A65B-417351C8F3B3}"/>
              </a:ext>
            </a:extLst>
          </p:cNvPr>
          <p:cNvSpPr/>
          <p:nvPr/>
        </p:nvSpPr>
        <p:spPr>
          <a:xfrm>
            <a:off x="9499600" y="1168400"/>
            <a:ext cx="2387600" cy="1219200"/>
          </a:xfrm>
          <a:prstGeom prst="roundRect">
            <a:avLst>
              <a:gd name="adj" fmla="val 8000"/>
            </a:avLst>
          </a:prstGeom>
          <a:solidFill>
            <a:srgbClr val="D1FAE5"/>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4" name="Rectangle: Rounded Corners 13">
            <a:extLst>
              <a:ext uri="{FF2B5EF4-FFF2-40B4-BE49-F238E27FC236}">
                <a16:creationId xmlns:a16="http://schemas.microsoft.com/office/drawing/2014/main" id="{7CE950E7-FADC-E6CC-185B-A2E6F1526E8C}"/>
              </a:ext>
            </a:extLst>
          </p:cNvPr>
          <p:cNvSpPr/>
          <p:nvPr/>
        </p:nvSpPr>
        <p:spPr>
          <a:xfrm>
            <a:off x="9499600" y="1168400"/>
            <a:ext cx="2387600" cy="228600"/>
          </a:xfrm>
          <a:prstGeom prst="roundRect">
            <a:avLst>
              <a:gd name="adj" fmla="val 8000"/>
            </a:avLst>
          </a:prstGeom>
          <a:solidFill>
            <a:srgbClr val="15803D"/>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950" b="1">
                <a:solidFill>
                  <a:srgbClr val="FFFFFF"/>
                </a:solidFill>
                <a:latin typeface="Arial" panose="020B0604020202020204" pitchFamily="34" charset="0"/>
              </a:rPr>
              <a:t>Interoperability</a:t>
            </a:r>
          </a:p>
        </p:txBody>
      </p:sp>
      <p:sp>
        <p:nvSpPr>
          <p:cNvPr id="15" name="TextBox 14">
            <a:extLst>
              <a:ext uri="{FF2B5EF4-FFF2-40B4-BE49-F238E27FC236}">
                <a16:creationId xmlns:a16="http://schemas.microsoft.com/office/drawing/2014/main" id="{DF61F35B-3F6A-8C5E-BF44-BE845C2E71C8}"/>
              </a:ext>
            </a:extLst>
          </p:cNvPr>
          <p:cNvSpPr txBox="1"/>
          <p:nvPr/>
        </p:nvSpPr>
        <p:spPr>
          <a:xfrm>
            <a:off x="9550400" y="1422400"/>
            <a:ext cx="2311400" cy="369332"/>
          </a:xfrm>
          <a:prstGeom prst="rect">
            <a:avLst/>
          </a:prstGeom>
          <a:noFill/>
        </p:spPr>
        <p:txBody>
          <a:bodyPr vert="horz" wrap="square" lIns="50800" tIns="25400" rIns="50800" bIns="25400" rtlCol="0" anchor="t">
            <a:noAutofit/>
          </a:bodyPr>
          <a:lstStyle/>
          <a:p>
            <a:pPr marL="127000" indent="-127000">
              <a:spcBef>
                <a:spcPts val="0"/>
              </a:spcBef>
              <a:spcAft>
                <a:spcPts val="300"/>
              </a:spcAft>
              <a:buClr>
                <a:srgbClr val="0F766E"/>
              </a:buClr>
              <a:buFont typeface="+mj-lt"/>
              <a:buChar char="•"/>
            </a:pPr>
            <a:r>
              <a:rPr lang="en-IN" sz="790">
                <a:solidFill>
                  <a:srgbClr val="1F2937"/>
                </a:solidFill>
                <a:latin typeface="Arial" panose="020B0604020202020204" pitchFamily="34" charset="0"/>
              </a:rPr>
              <a:t>Keyed to Sujal Gaon and Sujalam Bharat IDs</a:t>
            </a:r>
          </a:p>
          <a:p>
            <a:pPr marL="127000" indent="-127000">
              <a:spcBef>
                <a:spcPts val="0"/>
              </a:spcBef>
              <a:spcAft>
                <a:spcPts val="300"/>
              </a:spcAft>
              <a:buClr>
                <a:srgbClr val="0F766E"/>
              </a:buClr>
              <a:buFont typeface="+mj-lt"/>
              <a:buChar char="•"/>
            </a:pPr>
            <a:r>
              <a:rPr lang="en-IN" sz="790">
                <a:solidFill>
                  <a:srgbClr val="1F2937"/>
                </a:solidFill>
                <a:latin typeface="Arial" panose="020B0604020202020204" pitchFamily="34" charset="0"/>
              </a:rPr>
              <a:t>Sync adapters built and mock-tested; live IMIS / JJM / WQMIS sync needs official API access</a:t>
            </a:r>
          </a:p>
          <a:p>
            <a:pPr marL="127000" indent="-127000">
              <a:spcBef>
                <a:spcPts val="0"/>
              </a:spcBef>
              <a:spcAft>
                <a:spcPts val="300"/>
              </a:spcAft>
              <a:buClr>
                <a:srgbClr val="0F766E"/>
              </a:buClr>
              <a:buFont typeface="+mj-lt"/>
              <a:buChar char="•"/>
            </a:pPr>
            <a:r>
              <a:rPr lang="en-IN" sz="790">
                <a:solidFill>
                  <a:srgbClr val="1F2937"/>
                </a:solidFill>
                <a:latin typeface="Arial" panose="020B0604020202020204" pitchFamily="34" charset="0"/>
              </a:rPr>
              <a:t>Open formats: REST/OpenAPI, GeoJSON, CSV</a:t>
            </a:r>
          </a:p>
        </p:txBody>
      </p:sp>
      <p:sp>
        <p:nvSpPr>
          <p:cNvPr id="16" name="Rectangle: Rounded Corners 15">
            <a:extLst>
              <a:ext uri="{FF2B5EF4-FFF2-40B4-BE49-F238E27FC236}">
                <a16:creationId xmlns:a16="http://schemas.microsoft.com/office/drawing/2014/main" id="{FD56B553-0FF1-7E05-BA23-0D5B84F81A78}"/>
              </a:ext>
            </a:extLst>
          </p:cNvPr>
          <p:cNvSpPr/>
          <p:nvPr/>
        </p:nvSpPr>
        <p:spPr>
          <a:xfrm>
            <a:off x="7010400" y="2438400"/>
            <a:ext cx="2387600" cy="1219200"/>
          </a:xfrm>
          <a:prstGeom prst="roundRect">
            <a:avLst>
              <a:gd name="adj" fmla="val 8000"/>
            </a:avLst>
          </a:prstGeom>
          <a:solidFill>
            <a:srgbClr val="EDE9F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7" name="Rectangle: Rounded Corners 16">
            <a:extLst>
              <a:ext uri="{FF2B5EF4-FFF2-40B4-BE49-F238E27FC236}">
                <a16:creationId xmlns:a16="http://schemas.microsoft.com/office/drawing/2014/main" id="{D1CDFD57-DE3C-3BB3-0048-8FEA43988EA3}"/>
              </a:ext>
            </a:extLst>
          </p:cNvPr>
          <p:cNvSpPr/>
          <p:nvPr/>
        </p:nvSpPr>
        <p:spPr>
          <a:xfrm>
            <a:off x="7010400" y="2438400"/>
            <a:ext cx="2387600" cy="228600"/>
          </a:xfrm>
          <a:prstGeom prst="roundRect">
            <a:avLst>
              <a:gd name="adj" fmla="val 8000"/>
            </a:avLst>
          </a:prstGeom>
          <a:solidFill>
            <a:srgbClr val="6D28D9"/>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950" b="1">
                <a:solidFill>
                  <a:srgbClr val="FFFFFF"/>
                </a:solidFill>
                <a:latin typeface="Arial" panose="020B0604020202020204" pitchFamily="34" charset="0"/>
              </a:rPr>
              <a:t>Data security</a:t>
            </a:r>
          </a:p>
        </p:txBody>
      </p:sp>
      <p:sp>
        <p:nvSpPr>
          <p:cNvPr id="18" name="TextBox 17">
            <a:extLst>
              <a:ext uri="{FF2B5EF4-FFF2-40B4-BE49-F238E27FC236}">
                <a16:creationId xmlns:a16="http://schemas.microsoft.com/office/drawing/2014/main" id="{EC056D10-DAB0-B6FB-AC7C-2A587EDEBAA8}"/>
              </a:ext>
            </a:extLst>
          </p:cNvPr>
          <p:cNvSpPr txBox="1"/>
          <p:nvPr/>
        </p:nvSpPr>
        <p:spPr>
          <a:xfrm>
            <a:off x="7061200" y="2692400"/>
            <a:ext cx="2311400" cy="369332"/>
          </a:xfrm>
          <a:prstGeom prst="rect">
            <a:avLst/>
          </a:prstGeom>
          <a:noFill/>
        </p:spPr>
        <p:txBody>
          <a:bodyPr vert="horz" wrap="square" lIns="50800" tIns="25400" rIns="50800" bIns="25400" rtlCol="0" anchor="t">
            <a:noAutofit/>
          </a:bodyPr>
          <a:lstStyle/>
          <a:p>
            <a:pPr marL="127000" indent="-127000">
              <a:spcBef>
                <a:spcPts val="0"/>
              </a:spcBef>
              <a:spcAft>
                <a:spcPts val="300"/>
              </a:spcAft>
              <a:buClr>
                <a:srgbClr val="0F766E"/>
              </a:buClr>
              <a:buFont typeface="+mj-lt"/>
              <a:buChar char="•"/>
            </a:pPr>
            <a:r>
              <a:rPr lang="en-US" sz="790">
                <a:solidFill>
                  <a:srgbClr val="1F2937"/>
                </a:solidFill>
                <a:latin typeface="Arial" panose="020B0604020202020204" pitchFamily="34" charset="0"/>
              </a:rPr>
              <a:t>Role-based access by village; hashed passwords</a:t>
            </a:r>
          </a:p>
          <a:p>
            <a:pPr marL="127000" indent="-127000">
              <a:spcBef>
                <a:spcPts val="0"/>
              </a:spcBef>
              <a:spcAft>
                <a:spcPts val="300"/>
              </a:spcAft>
              <a:buClr>
                <a:srgbClr val="0F766E"/>
              </a:buClr>
              <a:buFont typeface="+mj-lt"/>
              <a:buChar char="•"/>
            </a:pPr>
            <a:r>
              <a:rPr lang="en-US" sz="790">
                <a:solidFill>
                  <a:srgbClr val="1F2937"/>
                </a:solidFill>
                <a:latin typeface="Arial" panose="020B0604020202020204" pitchFamily="34" charset="0"/>
              </a:rPr>
              <a:t>Photo location data stripped; location shared separately by opt-in</a:t>
            </a:r>
          </a:p>
          <a:p>
            <a:pPr marL="127000" indent="-127000">
              <a:spcBef>
                <a:spcPts val="0"/>
              </a:spcBef>
              <a:spcAft>
                <a:spcPts val="300"/>
              </a:spcAft>
              <a:buClr>
                <a:srgbClr val="0F766E"/>
              </a:buClr>
              <a:buFont typeface="+mj-lt"/>
              <a:buChar char="•"/>
            </a:pPr>
            <a:r>
              <a:rPr lang="en-US" sz="790">
                <a:solidFill>
                  <a:srgbClr val="1F2937"/>
                </a:solidFill>
                <a:latin typeface="Arial" panose="020B0604020202020204" pitchFamily="34" charset="0"/>
              </a:rPr>
              <a:t>No personal data sent to other platforms</a:t>
            </a:r>
            <a:endParaRPr lang="en-IN" sz="790">
              <a:solidFill>
                <a:srgbClr val="1F2937"/>
              </a:solidFill>
              <a:latin typeface="Arial" panose="020B0604020202020204" pitchFamily="34" charset="0"/>
            </a:endParaRPr>
          </a:p>
        </p:txBody>
      </p:sp>
      <p:sp>
        <p:nvSpPr>
          <p:cNvPr id="19" name="Rectangle: Rounded Corners 18">
            <a:extLst>
              <a:ext uri="{FF2B5EF4-FFF2-40B4-BE49-F238E27FC236}">
                <a16:creationId xmlns:a16="http://schemas.microsoft.com/office/drawing/2014/main" id="{F7BD7EE1-6566-B029-0208-C1545CC2D90B}"/>
              </a:ext>
            </a:extLst>
          </p:cNvPr>
          <p:cNvSpPr/>
          <p:nvPr/>
        </p:nvSpPr>
        <p:spPr>
          <a:xfrm>
            <a:off x="9499600" y="2438400"/>
            <a:ext cx="2387600" cy="1219200"/>
          </a:xfrm>
          <a:prstGeom prst="roundRect">
            <a:avLst>
              <a:gd name="adj" fmla="val 8000"/>
            </a:avLst>
          </a:prstGeom>
          <a:solidFill>
            <a:srgbClr val="FEF3C7"/>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0" name="Rectangle: Rounded Corners 19">
            <a:extLst>
              <a:ext uri="{FF2B5EF4-FFF2-40B4-BE49-F238E27FC236}">
                <a16:creationId xmlns:a16="http://schemas.microsoft.com/office/drawing/2014/main" id="{5E6FAAE4-CFD6-0998-D06D-F02D7FB4B471}"/>
              </a:ext>
            </a:extLst>
          </p:cNvPr>
          <p:cNvSpPr/>
          <p:nvPr/>
        </p:nvSpPr>
        <p:spPr>
          <a:xfrm>
            <a:off x="9499600" y="2438400"/>
            <a:ext cx="2387600" cy="228600"/>
          </a:xfrm>
          <a:prstGeom prst="roundRect">
            <a:avLst>
              <a:gd name="adj" fmla="val 8000"/>
            </a:avLst>
          </a:prstGeom>
          <a:solidFill>
            <a:srgbClr val="B45309"/>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950" b="1">
                <a:solidFill>
                  <a:srgbClr val="FFFFFF"/>
                </a:solidFill>
                <a:latin typeface="Arial" panose="020B0604020202020204" pitchFamily="34" charset="0"/>
              </a:rPr>
              <a:t>Ease of deployment</a:t>
            </a:r>
          </a:p>
        </p:txBody>
      </p:sp>
      <p:sp>
        <p:nvSpPr>
          <p:cNvPr id="21" name="TextBox 20">
            <a:extLst>
              <a:ext uri="{FF2B5EF4-FFF2-40B4-BE49-F238E27FC236}">
                <a16:creationId xmlns:a16="http://schemas.microsoft.com/office/drawing/2014/main" id="{987FFAE6-C754-B9CD-8751-92A323C612FE}"/>
              </a:ext>
            </a:extLst>
          </p:cNvPr>
          <p:cNvSpPr txBox="1"/>
          <p:nvPr/>
        </p:nvSpPr>
        <p:spPr>
          <a:xfrm>
            <a:off x="9550400" y="2692400"/>
            <a:ext cx="2311400" cy="369332"/>
          </a:xfrm>
          <a:prstGeom prst="rect">
            <a:avLst/>
          </a:prstGeom>
          <a:noFill/>
        </p:spPr>
        <p:txBody>
          <a:bodyPr vert="horz" wrap="square" lIns="50800" tIns="25400" rIns="50800" bIns="25400" rtlCol="0" anchor="t">
            <a:noAutofit/>
          </a:bodyPr>
          <a:lstStyle/>
          <a:p>
            <a:pPr marL="127000" indent="-127000">
              <a:spcBef>
                <a:spcPts val="0"/>
              </a:spcBef>
              <a:spcAft>
                <a:spcPts val="300"/>
              </a:spcAft>
              <a:buClr>
                <a:srgbClr val="0F766E"/>
              </a:buClr>
              <a:buFont typeface="+mj-lt"/>
              <a:buChar char="•"/>
            </a:pPr>
            <a:r>
              <a:rPr lang="en-US" sz="790">
                <a:solidFill>
                  <a:srgbClr val="1F2937"/>
                </a:solidFill>
                <a:latin typeface="Arial" panose="020B0604020202020204" pitchFamily="34" charset="0"/>
              </a:rPr>
              <a:t>Solar node, plug-in LoRa gateway, no grid cabling</a:t>
            </a:r>
          </a:p>
          <a:p>
            <a:pPr marL="127000" indent="-127000">
              <a:spcBef>
                <a:spcPts val="0"/>
              </a:spcBef>
              <a:spcAft>
                <a:spcPts val="300"/>
              </a:spcAft>
              <a:buClr>
                <a:srgbClr val="0F766E"/>
              </a:buClr>
              <a:buFont typeface="+mj-lt"/>
              <a:buChar char="•"/>
            </a:pPr>
            <a:r>
              <a:rPr lang="en-US" sz="790">
                <a:solidFill>
                  <a:srgbClr val="1F2937"/>
                </a:solidFill>
                <a:latin typeface="Arial" panose="020B0604020202020204" pitchFamily="34" charset="0"/>
              </a:rPr>
              <a:t>Mobile web app: nothing to install</a:t>
            </a:r>
          </a:p>
          <a:p>
            <a:pPr marL="127000" indent="-127000">
              <a:spcBef>
                <a:spcPts val="0"/>
              </a:spcBef>
              <a:spcAft>
                <a:spcPts val="300"/>
              </a:spcAft>
              <a:buClr>
                <a:srgbClr val="0F766E"/>
              </a:buClr>
              <a:buFont typeface="+mj-lt"/>
              <a:buChar char="•"/>
            </a:pPr>
            <a:r>
              <a:rPr lang="en-US" sz="790">
                <a:solidFill>
                  <a:srgbClr val="1F2937"/>
                </a:solidFill>
                <a:latin typeface="Arial" panose="020B0604020202020204" pitchFamily="34" charset="0"/>
              </a:rPr>
              <a:t>Docker deployment, one configuration file</a:t>
            </a:r>
            <a:endParaRPr lang="en-IN" sz="790">
              <a:solidFill>
                <a:srgbClr val="1F2937"/>
              </a:solidFill>
              <a:latin typeface="Arial" panose="020B0604020202020204" pitchFamily="34" charset="0"/>
            </a:endParaRPr>
          </a:p>
        </p:txBody>
      </p:sp>
      <p:pic>
        <p:nvPicPr>
          <p:cNvPr id="23" name="Picture 22">
            <a:extLst>
              <a:ext uri="{FF2B5EF4-FFF2-40B4-BE49-F238E27FC236}">
                <a16:creationId xmlns:a16="http://schemas.microsoft.com/office/drawing/2014/main" id="{658EF07F-2081-0882-EEC4-D2BBFBEF6504}"/>
              </a:ext>
            </a:extLst>
          </p:cNvPr>
          <p:cNvPicPr>
            <a:picLocks/>
          </p:cNvPicPr>
          <p:nvPr/>
        </p:nvPicPr>
        <p:blipFill>
          <a:blip r:embed="rId5"/>
          <a:stretch>
            <a:fillRect/>
          </a:stretch>
        </p:blipFill>
        <p:spPr>
          <a:xfrm>
            <a:off x="7010400" y="3733800"/>
            <a:ext cx="2743200" cy="1651000"/>
          </a:xfrm>
          <a:prstGeom prst="rect">
            <a:avLst/>
          </a:prstGeom>
          <a:ln w="9525">
            <a:solidFill>
              <a:srgbClr val="CBD5E1"/>
            </a:solidFill>
          </a:ln>
        </p:spPr>
      </p:pic>
      <p:sp>
        <p:nvSpPr>
          <p:cNvPr id="24" name="TextBox 23">
            <a:extLst>
              <a:ext uri="{FF2B5EF4-FFF2-40B4-BE49-F238E27FC236}">
                <a16:creationId xmlns:a16="http://schemas.microsoft.com/office/drawing/2014/main" id="{5FCCB815-DA5C-06DF-1642-B3A5E1F308AD}"/>
              </a:ext>
            </a:extLst>
          </p:cNvPr>
          <p:cNvSpPr txBox="1"/>
          <p:nvPr/>
        </p:nvSpPr>
        <p:spPr>
          <a:xfrm>
            <a:off x="9829800" y="3733800"/>
            <a:ext cx="2057400" cy="369332"/>
          </a:xfrm>
          <a:prstGeom prst="rect">
            <a:avLst/>
          </a:prstGeom>
          <a:noFill/>
        </p:spPr>
        <p:txBody>
          <a:bodyPr vert="horz" wrap="square" lIns="50800" tIns="25400" rIns="50800" bIns="25400" rtlCol="0" anchor="t">
            <a:noAutofit/>
          </a:bodyPr>
          <a:lstStyle/>
          <a:p>
            <a:pPr marL="127000" indent="-127000">
              <a:spcBef>
                <a:spcPts val="0"/>
              </a:spcBef>
              <a:spcAft>
                <a:spcPts val="300"/>
              </a:spcAft>
            </a:pPr>
            <a:r>
              <a:rPr lang="en-US" sz="900" b="1">
                <a:solidFill>
                  <a:srgbClr val="0F766E"/>
                </a:solidFill>
                <a:latin typeface="Arial" panose="020B0604020202020204" pitchFamily="34" charset="0"/>
              </a:rPr>
              <a:t>Node installation concept</a:t>
            </a:r>
          </a:p>
          <a:p>
            <a:pPr marL="127000" indent="-127000">
              <a:spcBef>
                <a:spcPts val="0"/>
              </a:spcBef>
              <a:spcAft>
                <a:spcPts val="300"/>
              </a:spcAft>
              <a:buClr>
                <a:srgbClr val="0F766E"/>
              </a:buClr>
              <a:buFont typeface="+mj-lt"/>
              <a:buChar char="•"/>
            </a:pPr>
            <a:r>
              <a:rPr lang="en-US" sz="800">
                <a:solidFill>
                  <a:srgbClr val="1F2937"/>
                </a:solidFill>
                <a:latin typeface="Arial" panose="020B0604020202020204" pitchFamily="34" charset="0"/>
              </a:rPr>
              <a:t>Solar-powered pole node with an IP65 box</a:t>
            </a:r>
          </a:p>
          <a:p>
            <a:pPr marL="127000" indent="-127000">
              <a:spcBef>
                <a:spcPts val="0"/>
              </a:spcBef>
              <a:spcAft>
                <a:spcPts val="300"/>
              </a:spcAft>
              <a:buClr>
                <a:srgbClr val="0F766E"/>
              </a:buClr>
              <a:buFont typeface="+mj-lt"/>
              <a:buChar char="•"/>
            </a:pPr>
            <a:r>
              <a:rPr lang="en-US" sz="800">
                <a:solidFill>
                  <a:srgbClr val="1F2937"/>
                </a:solidFill>
                <a:latin typeface="Arial" panose="020B0604020202020204" pitchFamily="34" charset="0"/>
              </a:rPr>
              <a:t>Clamp-on acoustic sensor: no digging</a:t>
            </a:r>
          </a:p>
          <a:p>
            <a:pPr marL="127000" indent="-127000">
              <a:spcBef>
                <a:spcPts val="0"/>
              </a:spcBef>
              <a:spcAft>
                <a:spcPts val="300"/>
              </a:spcAft>
              <a:buClr>
                <a:srgbClr val="0F766E"/>
              </a:buClr>
              <a:buFont typeface="+mj-lt"/>
              <a:buChar char="•"/>
            </a:pPr>
            <a:r>
              <a:rPr lang="en-US" sz="800">
                <a:solidFill>
                  <a:srgbClr val="1F2937"/>
                </a:solidFill>
                <a:latin typeface="Arial" panose="020B0604020202020204" pitchFamily="34" charset="0"/>
              </a:rPr>
              <a:t>Chlorine flow cell at the tail end</a:t>
            </a:r>
          </a:p>
          <a:p>
            <a:pPr marL="127000" indent="-127000">
              <a:spcBef>
                <a:spcPts val="0"/>
              </a:spcBef>
              <a:spcAft>
                <a:spcPts val="300"/>
              </a:spcAft>
              <a:buClr>
                <a:srgbClr val="0F766E"/>
              </a:buClr>
              <a:buFont typeface="+mj-lt"/>
              <a:buChar char="•"/>
            </a:pPr>
            <a:r>
              <a:rPr lang="en-US" sz="800">
                <a:solidFill>
                  <a:srgbClr val="1F2937"/>
                </a:solidFill>
                <a:latin typeface="Arial" panose="020B0604020202020204" pitchFamily="34" charset="0"/>
              </a:rPr>
              <a:t>LoRa to the Panchayat gateway</a:t>
            </a:r>
            <a:endParaRPr lang="en-IN" sz="800">
              <a:solidFill>
                <a:srgbClr val="1F2937"/>
              </a:solidFill>
              <a:latin typeface="Arial" panose="020B0604020202020204" pitchFamily="34" charset="0"/>
            </a:endParaRPr>
          </a:p>
        </p:txBody>
      </p:sp>
      <p:sp>
        <p:nvSpPr>
          <p:cNvPr id="25" name="Rectangle: Rounded Corners 24">
            <a:extLst>
              <a:ext uri="{FF2B5EF4-FFF2-40B4-BE49-F238E27FC236}">
                <a16:creationId xmlns:a16="http://schemas.microsoft.com/office/drawing/2014/main" id="{68A8B5AF-E810-4D4B-05CF-82EB68AC84E3}"/>
              </a:ext>
            </a:extLst>
          </p:cNvPr>
          <p:cNvSpPr/>
          <p:nvPr/>
        </p:nvSpPr>
        <p:spPr>
          <a:xfrm>
            <a:off x="304800" y="5511800"/>
            <a:ext cx="3683000" cy="812800"/>
          </a:xfrm>
          <a:prstGeom prst="roundRect">
            <a:avLst>
              <a:gd name="adj" fmla="val 8000"/>
            </a:avLst>
          </a:prstGeom>
          <a:solidFill>
            <a:srgbClr val="F8FAFC"/>
          </a:solidFill>
          <a:ln w="9525">
            <a:solidFill>
              <a:srgbClr val="CBD5E1"/>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6" name="TextBox 25">
            <a:extLst>
              <a:ext uri="{FF2B5EF4-FFF2-40B4-BE49-F238E27FC236}">
                <a16:creationId xmlns:a16="http://schemas.microsoft.com/office/drawing/2014/main" id="{DFD14DD0-6120-5C2E-DA16-04BEB261F42D}"/>
              </a:ext>
            </a:extLst>
          </p:cNvPr>
          <p:cNvSpPr txBox="1"/>
          <p:nvPr/>
        </p:nvSpPr>
        <p:spPr>
          <a:xfrm>
            <a:off x="381000" y="5562600"/>
            <a:ext cx="35306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1150" b="1">
                <a:solidFill>
                  <a:srgbClr val="0F766E"/>
                </a:solidFill>
                <a:latin typeface="Arial" panose="020B0604020202020204" pitchFamily="34" charset="0"/>
              </a:rPr>
              <a:t>Feasibility analysis</a:t>
            </a:r>
          </a:p>
        </p:txBody>
      </p:sp>
      <p:sp>
        <p:nvSpPr>
          <p:cNvPr id="27" name="TextBox 26">
            <a:extLst>
              <a:ext uri="{FF2B5EF4-FFF2-40B4-BE49-F238E27FC236}">
                <a16:creationId xmlns:a16="http://schemas.microsoft.com/office/drawing/2014/main" id="{8638D1C8-AB2D-3B6B-40E7-7E08A21DF5FA}"/>
              </a:ext>
            </a:extLst>
          </p:cNvPr>
          <p:cNvSpPr txBox="1"/>
          <p:nvPr/>
        </p:nvSpPr>
        <p:spPr>
          <a:xfrm>
            <a:off x="381000" y="5791200"/>
            <a:ext cx="3556000" cy="369332"/>
          </a:xfrm>
          <a:prstGeom prst="rect">
            <a:avLst/>
          </a:prstGeom>
          <a:noFill/>
        </p:spPr>
        <p:txBody>
          <a:bodyPr vert="horz" wrap="square" lIns="50800" tIns="25400" rIns="50800" bIns="25400" rtlCol="0" anchor="t">
            <a:noAutofit/>
          </a:bodyPr>
          <a:lstStyle/>
          <a:p>
            <a:pPr marL="127000" indent="-127000">
              <a:spcBef>
                <a:spcPts val="0"/>
              </a:spcBef>
              <a:spcAft>
                <a:spcPts val="300"/>
              </a:spcAft>
              <a:buClr>
                <a:srgbClr val="0F766E"/>
              </a:buClr>
              <a:buFont typeface="+mj-lt"/>
              <a:buChar char="•"/>
            </a:pPr>
            <a:r>
              <a:rPr lang="en-US" sz="740">
                <a:solidFill>
                  <a:srgbClr val="1F2937"/>
                </a:solidFill>
                <a:latin typeface="Arial" panose="020B0604020202020204" pitchFamily="34" charset="0"/>
              </a:rPr>
              <a:t>Off-the-shelf parts: ESP32, ADS1115, LoRa, Raspberry Pi</a:t>
            </a:r>
          </a:p>
          <a:p>
            <a:pPr marL="127000" indent="-127000">
              <a:spcBef>
                <a:spcPts val="0"/>
              </a:spcBef>
              <a:spcAft>
                <a:spcPts val="300"/>
              </a:spcAft>
              <a:buClr>
                <a:srgbClr val="0F766E"/>
              </a:buClr>
              <a:buFont typeface="+mj-lt"/>
              <a:buChar char="•"/>
            </a:pPr>
            <a:r>
              <a:rPr lang="en-US" sz="740">
                <a:solidFill>
                  <a:srgbClr val="1F2937"/>
                </a:solidFill>
                <a:latin typeface="Arial" panose="020B0604020202020204" pitchFamily="34" charset="0"/>
              </a:rPr>
              <a:t>Platform on demo data; 278 tests incl. firmware on a simulated board</a:t>
            </a:r>
          </a:p>
          <a:p>
            <a:pPr marL="127000" indent="-127000">
              <a:spcBef>
                <a:spcPts val="0"/>
              </a:spcBef>
              <a:spcAft>
                <a:spcPts val="300"/>
              </a:spcAft>
              <a:buClr>
                <a:srgbClr val="0F766E"/>
              </a:buClr>
              <a:buFont typeface="+mj-lt"/>
              <a:buChar char="•"/>
            </a:pPr>
            <a:r>
              <a:rPr lang="en-US" sz="740">
                <a:solidFill>
                  <a:srgbClr val="1F2937"/>
                </a:solidFill>
                <a:latin typeface="Arial" panose="020B0604020202020204" pitchFamily="34" charset="0"/>
              </a:rPr>
              <a:t>AI/ML runs on demo data now; to be validated on pilot data</a:t>
            </a:r>
            <a:endParaRPr lang="en-IN" sz="740">
              <a:solidFill>
                <a:srgbClr val="1F2937"/>
              </a:solidFill>
              <a:latin typeface="Arial" panose="020B0604020202020204" pitchFamily="34" charset="0"/>
            </a:endParaRPr>
          </a:p>
        </p:txBody>
      </p:sp>
      <p:sp>
        <p:nvSpPr>
          <p:cNvPr id="28" name="Rectangle: Rounded Corners 27">
            <a:extLst>
              <a:ext uri="{FF2B5EF4-FFF2-40B4-BE49-F238E27FC236}">
                <a16:creationId xmlns:a16="http://schemas.microsoft.com/office/drawing/2014/main" id="{42802713-A0F4-5EF9-DE19-269265B817A5}"/>
              </a:ext>
            </a:extLst>
          </p:cNvPr>
          <p:cNvSpPr/>
          <p:nvPr/>
        </p:nvSpPr>
        <p:spPr>
          <a:xfrm>
            <a:off x="4089400" y="5511800"/>
            <a:ext cx="7797800" cy="812800"/>
          </a:xfrm>
          <a:prstGeom prst="roundRect">
            <a:avLst>
              <a:gd name="adj" fmla="val 8000"/>
            </a:avLst>
          </a:prstGeom>
          <a:solidFill>
            <a:srgbClr val="F8FAFC"/>
          </a:solidFill>
          <a:ln w="9525">
            <a:solidFill>
              <a:srgbClr val="CBD5E1"/>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9" name="TextBox 28">
            <a:extLst>
              <a:ext uri="{FF2B5EF4-FFF2-40B4-BE49-F238E27FC236}">
                <a16:creationId xmlns:a16="http://schemas.microsoft.com/office/drawing/2014/main" id="{88941959-25E1-503A-3239-44C7C19136FA}"/>
              </a:ext>
            </a:extLst>
          </p:cNvPr>
          <p:cNvSpPr txBox="1"/>
          <p:nvPr/>
        </p:nvSpPr>
        <p:spPr>
          <a:xfrm>
            <a:off x="4165600" y="5562600"/>
            <a:ext cx="76454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1150" b="1">
                <a:solidFill>
                  <a:srgbClr val="0F766E"/>
                </a:solidFill>
                <a:latin typeface="Arial" panose="020B0604020202020204" pitchFamily="34" charset="0"/>
              </a:rPr>
              <a:t>Potential challenges and strategies to overcome them</a:t>
            </a:r>
            <a:endParaRPr lang="en-IN" sz="1150" b="1">
              <a:solidFill>
                <a:srgbClr val="0F766E"/>
              </a:solidFill>
              <a:latin typeface="Arial" panose="020B0604020202020204" pitchFamily="34" charset="0"/>
            </a:endParaRPr>
          </a:p>
        </p:txBody>
      </p:sp>
      <p:sp>
        <p:nvSpPr>
          <p:cNvPr id="30" name="TextBox 29">
            <a:extLst>
              <a:ext uri="{FF2B5EF4-FFF2-40B4-BE49-F238E27FC236}">
                <a16:creationId xmlns:a16="http://schemas.microsoft.com/office/drawing/2014/main" id="{4F23AAD2-39CD-B64D-7F86-2482CCEE8A3D}"/>
              </a:ext>
            </a:extLst>
          </p:cNvPr>
          <p:cNvSpPr txBox="1"/>
          <p:nvPr/>
        </p:nvSpPr>
        <p:spPr>
          <a:xfrm>
            <a:off x="4165600" y="5740400"/>
            <a:ext cx="25654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730" b="1">
                <a:solidFill>
                  <a:srgbClr val="B91C1C"/>
                </a:solidFill>
                <a:latin typeface="Arial" panose="020B0604020202020204" pitchFamily="34" charset="0"/>
              </a:rPr>
              <a:t>False alarms: </a:t>
            </a:r>
            <a:r>
              <a:rPr lang="en-US" sz="730">
                <a:solidFill>
                  <a:srgbClr val="1F2937"/>
                </a:solidFill>
                <a:latin typeface="Arial" panose="020B0604020202020204" pitchFamily="34" charset="0"/>
              </a:rPr>
              <a:t>persistence windows; HIGH needs two kinds of evidence</a:t>
            </a:r>
            <a:endParaRPr lang="en-IN" sz="730">
              <a:solidFill>
                <a:srgbClr val="1F2937"/>
              </a:solidFill>
              <a:latin typeface="Arial" panose="020B0604020202020204" pitchFamily="34" charset="0"/>
            </a:endParaRPr>
          </a:p>
        </p:txBody>
      </p:sp>
      <p:sp>
        <p:nvSpPr>
          <p:cNvPr id="31" name="TextBox 30">
            <a:extLst>
              <a:ext uri="{FF2B5EF4-FFF2-40B4-BE49-F238E27FC236}">
                <a16:creationId xmlns:a16="http://schemas.microsoft.com/office/drawing/2014/main" id="{CD08E65D-B3E9-0E10-CBB7-5B0607C900EF}"/>
              </a:ext>
            </a:extLst>
          </p:cNvPr>
          <p:cNvSpPr txBox="1"/>
          <p:nvPr/>
        </p:nvSpPr>
        <p:spPr>
          <a:xfrm>
            <a:off x="6756400" y="5740400"/>
            <a:ext cx="25654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730" b="1">
                <a:solidFill>
                  <a:srgbClr val="B91C1C"/>
                </a:solidFill>
                <a:latin typeface="Arial" panose="020B0604020202020204" pitchFamily="34" charset="0"/>
              </a:rPr>
              <a:t>Sensor fault or drift: </a:t>
            </a:r>
            <a:r>
              <a:rPr lang="en-US" sz="730">
                <a:solidFill>
                  <a:srgbClr val="1F2937"/>
                </a:solidFill>
                <a:latin typeface="Arial" panose="020B0604020202020204" pitchFamily="34" charset="0"/>
              </a:rPr>
              <a:t>health gate; chlorine probe checked with a DPD kit</a:t>
            </a:r>
            <a:endParaRPr lang="en-IN" sz="730">
              <a:solidFill>
                <a:srgbClr val="1F2937"/>
              </a:solidFill>
              <a:latin typeface="Arial" panose="020B0604020202020204" pitchFamily="34" charset="0"/>
            </a:endParaRPr>
          </a:p>
        </p:txBody>
      </p:sp>
      <p:sp>
        <p:nvSpPr>
          <p:cNvPr id="32" name="TextBox 31">
            <a:extLst>
              <a:ext uri="{FF2B5EF4-FFF2-40B4-BE49-F238E27FC236}">
                <a16:creationId xmlns:a16="http://schemas.microsoft.com/office/drawing/2014/main" id="{140DC7A0-6A32-CFF4-EE9A-3F15865E836A}"/>
              </a:ext>
            </a:extLst>
          </p:cNvPr>
          <p:cNvSpPr txBox="1"/>
          <p:nvPr/>
        </p:nvSpPr>
        <p:spPr>
          <a:xfrm>
            <a:off x="9347200" y="5740400"/>
            <a:ext cx="25654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730" b="1">
                <a:solidFill>
                  <a:srgbClr val="B91C1C"/>
                </a:solidFill>
                <a:latin typeface="Arial" panose="020B0604020202020204" pitchFamily="34" charset="0"/>
              </a:rPr>
              <a:t>Rural network: </a:t>
            </a:r>
            <a:r>
              <a:rPr lang="en-US" sz="730">
                <a:solidFill>
                  <a:srgbClr val="1F2937"/>
                </a:solidFill>
                <a:latin typeface="Arial" panose="020B0604020202020204" pitchFamily="34" charset="0"/>
              </a:rPr>
              <a:t>gateway buffers readings, sends when online</a:t>
            </a:r>
            <a:endParaRPr lang="en-IN" sz="730">
              <a:solidFill>
                <a:srgbClr val="1F2937"/>
              </a:solidFill>
              <a:latin typeface="Arial" panose="020B0604020202020204" pitchFamily="34" charset="0"/>
            </a:endParaRPr>
          </a:p>
        </p:txBody>
      </p:sp>
      <p:sp>
        <p:nvSpPr>
          <p:cNvPr id="33" name="TextBox 32">
            <a:extLst>
              <a:ext uri="{FF2B5EF4-FFF2-40B4-BE49-F238E27FC236}">
                <a16:creationId xmlns:a16="http://schemas.microsoft.com/office/drawing/2014/main" id="{B6A266E7-3216-C81C-4CC3-C2E56F6F1EBA}"/>
              </a:ext>
            </a:extLst>
          </p:cNvPr>
          <p:cNvSpPr txBox="1"/>
          <p:nvPr/>
        </p:nvSpPr>
        <p:spPr>
          <a:xfrm>
            <a:off x="4165600" y="6019800"/>
            <a:ext cx="25654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730" b="1">
                <a:solidFill>
                  <a:srgbClr val="B91C1C"/>
                </a:solidFill>
                <a:latin typeface="Arial" panose="020B0604020202020204" pitchFamily="34" charset="0"/>
              </a:rPr>
              <a:t>Trust in AI: </a:t>
            </a:r>
            <a:r>
              <a:rPr lang="en-US" sz="730">
                <a:solidFill>
                  <a:srgbClr val="1F2937"/>
                </a:solidFill>
                <a:latin typeface="Arial" panose="020B0604020202020204" pitchFamily="34" charset="0"/>
              </a:rPr>
              <a:t>every score shows its reasons</a:t>
            </a:r>
            <a:endParaRPr lang="en-IN" sz="730">
              <a:solidFill>
                <a:srgbClr val="1F2937"/>
              </a:solidFill>
              <a:latin typeface="Arial" panose="020B0604020202020204" pitchFamily="34" charset="0"/>
            </a:endParaRPr>
          </a:p>
        </p:txBody>
      </p:sp>
      <p:sp>
        <p:nvSpPr>
          <p:cNvPr id="34" name="TextBox 33">
            <a:extLst>
              <a:ext uri="{FF2B5EF4-FFF2-40B4-BE49-F238E27FC236}">
                <a16:creationId xmlns:a16="http://schemas.microsoft.com/office/drawing/2014/main" id="{1F9D678D-20A9-6B3F-BB21-DF1CD8894F19}"/>
              </a:ext>
            </a:extLst>
          </p:cNvPr>
          <p:cNvSpPr txBox="1"/>
          <p:nvPr/>
        </p:nvSpPr>
        <p:spPr>
          <a:xfrm>
            <a:off x="6756400" y="6019800"/>
            <a:ext cx="2565400" cy="369332"/>
          </a:xfrm>
          <a:prstGeom prst="rect">
            <a:avLst/>
          </a:prstGeom>
          <a:noFill/>
        </p:spPr>
        <p:txBody>
          <a:bodyPr vert="horz" wrap="square" lIns="50800" tIns="25400" rIns="50800" bIns="25400" rtlCol="0" anchor="ctr">
            <a:noAutofit/>
          </a:bodyPr>
          <a:lstStyle/>
          <a:p>
            <a:pPr>
              <a:spcBef>
                <a:spcPts val="0"/>
              </a:spcBef>
              <a:spcAft>
                <a:spcPts val="300"/>
              </a:spcAft>
            </a:pPr>
            <a:r>
              <a:rPr lang="en-IN" sz="730" b="1">
                <a:solidFill>
                  <a:srgbClr val="B91C1C"/>
                </a:solidFill>
                <a:latin typeface="Arial" panose="020B0604020202020204" pitchFamily="34" charset="0"/>
              </a:rPr>
              <a:t>Leak vs noise: </a:t>
            </a:r>
            <a:r>
              <a:rPr lang="en-IN" sz="730">
                <a:solidFill>
                  <a:srgbClr val="1F2937"/>
                </a:solidFill>
                <a:latin typeface="Arial" panose="020B0604020202020204" pitchFamily="34" charset="0"/>
              </a:rPr>
              <a:t>per-pipe acoustic baseline plus flow gap</a:t>
            </a:r>
          </a:p>
        </p:txBody>
      </p:sp>
      <p:sp>
        <p:nvSpPr>
          <p:cNvPr id="35" name="TextBox 34">
            <a:extLst>
              <a:ext uri="{FF2B5EF4-FFF2-40B4-BE49-F238E27FC236}">
                <a16:creationId xmlns:a16="http://schemas.microsoft.com/office/drawing/2014/main" id="{85D7F1FF-14BC-6486-320B-536005C7C3BD}"/>
              </a:ext>
            </a:extLst>
          </p:cNvPr>
          <p:cNvSpPr txBox="1"/>
          <p:nvPr/>
        </p:nvSpPr>
        <p:spPr>
          <a:xfrm>
            <a:off x="9347200" y="6019800"/>
            <a:ext cx="25654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730" b="1">
                <a:solidFill>
                  <a:srgbClr val="B91C1C"/>
                </a:solidFill>
                <a:latin typeface="Arial" panose="020B0604020202020204" pitchFamily="34" charset="0"/>
              </a:rPr>
              <a:t>Platform access: </a:t>
            </a:r>
            <a:r>
              <a:rPr lang="en-US" sz="730">
                <a:solidFill>
                  <a:srgbClr val="1F2937"/>
                </a:solidFill>
                <a:latin typeface="Arial" panose="020B0604020202020204" pitchFamily="34" charset="0"/>
              </a:rPr>
              <a:t>adapters ready; official access and specifications needed</a:t>
            </a:r>
            <a:endParaRPr lang="en-IN" sz="730">
              <a:solidFill>
                <a:srgbClr val="1F2937"/>
              </a:solidFill>
              <a:latin typeface="Arial" panose="020B0604020202020204" pitchFamily="34" charset="0"/>
            </a:endParaRPr>
          </a:p>
        </p:txBody>
      </p:sp>
    </p:spTree>
    <p:extLst>
      <p:ext uri="{BB962C8B-B14F-4D97-AF65-F5344CB8AC3E}">
        <p14:creationId xmlns:p14="http://schemas.microsoft.com/office/powerpoint/2010/main" val="37533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IMPACT AND BENEFITS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100"/>
              <a:t>Team Vistaar</a:t>
            </a:r>
            <a:endParaRPr lang="en-IN" sz="1100"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2" name="Rectangle: Rounded Corners 1">
            <a:extLst>
              <a:ext uri="{FF2B5EF4-FFF2-40B4-BE49-F238E27FC236}">
                <a16:creationId xmlns:a16="http://schemas.microsoft.com/office/drawing/2014/main" id="{D3F94E3E-9564-FCA5-9438-B1162EED193B}"/>
              </a:ext>
            </a:extLst>
          </p:cNvPr>
          <p:cNvSpPr/>
          <p:nvPr/>
        </p:nvSpPr>
        <p:spPr>
          <a:xfrm>
            <a:off x="304800" y="1117600"/>
            <a:ext cx="11582400" cy="228600"/>
          </a:xfrm>
          <a:prstGeom prst="roundRect">
            <a:avLst>
              <a:gd name="adj" fmla="val 8000"/>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00" b="1">
                <a:solidFill>
                  <a:srgbClr val="FFFFFF"/>
                </a:solidFill>
                <a:latin typeface="Arial" panose="020B0604020202020204" pitchFamily="34" charset="0"/>
              </a:rPr>
              <a:t>USERS INVOLVED</a:t>
            </a:r>
          </a:p>
        </p:txBody>
      </p:sp>
      <p:sp>
        <p:nvSpPr>
          <p:cNvPr id="3" name="Rectangle: Rounded Corners 2">
            <a:extLst>
              <a:ext uri="{FF2B5EF4-FFF2-40B4-BE49-F238E27FC236}">
                <a16:creationId xmlns:a16="http://schemas.microsoft.com/office/drawing/2014/main" id="{08EE8A5B-FDBE-E419-2CE6-69B059DCA483}"/>
              </a:ext>
            </a:extLst>
          </p:cNvPr>
          <p:cNvSpPr/>
          <p:nvPr/>
        </p:nvSpPr>
        <p:spPr>
          <a:xfrm>
            <a:off x="304800" y="1397000"/>
            <a:ext cx="2247900" cy="1066800"/>
          </a:xfrm>
          <a:prstGeom prst="roundRect">
            <a:avLst>
              <a:gd name="adj" fmla="val 8000"/>
            </a:avLst>
          </a:prstGeom>
          <a:solidFill>
            <a:srgbClr val="F8FAFC"/>
          </a:solidFill>
          <a:ln w="9525">
            <a:solidFill>
              <a:srgbClr val="CBD5E1"/>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pic>
        <p:nvPicPr>
          <p:cNvPr id="5" name="Picture 4">
            <a:extLst>
              <a:ext uri="{FF2B5EF4-FFF2-40B4-BE49-F238E27FC236}">
                <a16:creationId xmlns:a16="http://schemas.microsoft.com/office/drawing/2014/main" id="{A05A3624-1F8D-044D-3826-D2622290A6D6}"/>
              </a:ext>
            </a:extLst>
          </p:cNvPr>
          <p:cNvPicPr>
            <a:picLocks/>
          </p:cNvPicPr>
          <p:nvPr/>
        </p:nvPicPr>
        <p:blipFill>
          <a:blip r:embed="rId4"/>
          <a:stretch>
            <a:fillRect/>
          </a:stretch>
        </p:blipFill>
        <p:spPr>
          <a:xfrm>
            <a:off x="355600" y="1447800"/>
            <a:ext cx="304800" cy="304800"/>
          </a:xfrm>
          <a:prstGeom prst="rect">
            <a:avLst/>
          </a:prstGeom>
        </p:spPr>
      </p:pic>
      <p:sp>
        <p:nvSpPr>
          <p:cNvPr id="8" name="TextBox 7">
            <a:extLst>
              <a:ext uri="{FF2B5EF4-FFF2-40B4-BE49-F238E27FC236}">
                <a16:creationId xmlns:a16="http://schemas.microsoft.com/office/drawing/2014/main" id="{F5096DB1-EB16-1721-FA98-FE13B8614827}"/>
              </a:ext>
            </a:extLst>
          </p:cNvPr>
          <p:cNvSpPr txBox="1"/>
          <p:nvPr/>
        </p:nvSpPr>
        <p:spPr>
          <a:xfrm>
            <a:off x="711200" y="1435100"/>
            <a:ext cx="1816100" cy="369332"/>
          </a:xfrm>
          <a:prstGeom prst="rect">
            <a:avLst/>
          </a:prstGeom>
          <a:noFill/>
        </p:spPr>
        <p:txBody>
          <a:bodyPr vert="horz" wrap="square" lIns="50800" tIns="25400" rIns="50800" bIns="25400" rtlCol="0" anchor="ctr">
            <a:noAutofit/>
          </a:bodyPr>
          <a:lstStyle/>
          <a:p>
            <a:pPr>
              <a:spcBef>
                <a:spcPts val="0"/>
              </a:spcBef>
              <a:spcAft>
                <a:spcPts val="300"/>
              </a:spcAft>
            </a:pPr>
            <a:r>
              <a:rPr lang="en-IN" sz="880" b="1">
                <a:solidFill>
                  <a:srgbClr val="0F766E"/>
                </a:solidFill>
                <a:latin typeface="Arial" panose="020B0604020202020204" pitchFamily="34" charset="0"/>
              </a:rPr>
              <a:t>Villagers</a:t>
            </a:r>
          </a:p>
        </p:txBody>
      </p:sp>
      <p:sp>
        <p:nvSpPr>
          <p:cNvPr id="9" name="TextBox 8">
            <a:extLst>
              <a:ext uri="{FF2B5EF4-FFF2-40B4-BE49-F238E27FC236}">
                <a16:creationId xmlns:a16="http://schemas.microsoft.com/office/drawing/2014/main" id="{1D81ADD4-CDC7-4E69-2F13-4074FD5E6CDA}"/>
              </a:ext>
            </a:extLst>
          </p:cNvPr>
          <p:cNvSpPr txBox="1"/>
          <p:nvPr/>
        </p:nvSpPr>
        <p:spPr>
          <a:xfrm>
            <a:off x="368300" y="1790700"/>
            <a:ext cx="21336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850">
                <a:solidFill>
                  <a:srgbClr val="1F2937"/>
                </a:solidFill>
                <a:latin typeface="Arial" panose="020B0604020202020204" pitchFamily="34" charset="0"/>
              </a:rPr>
              <a:t>Report problems with a photo, check their tap daily, and get alerts and advisories in their own language</a:t>
            </a:r>
            <a:endParaRPr lang="en-IN" sz="850">
              <a:solidFill>
                <a:srgbClr val="1F2937"/>
              </a:solidFill>
              <a:latin typeface="Arial" panose="020B0604020202020204" pitchFamily="34" charset="0"/>
            </a:endParaRPr>
          </a:p>
        </p:txBody>
      </p:sp>
      <p:sp>
        <p:nvSpPr>
          <p:cNvPr id="13" name="Rectangle: Rounded Corners 12">
            <a:extLst>
              <a:ext uri="{FF2B5EF4-FFF2-40B4-BE49-F238E27FC236}">
                <a16:creationId xmlns:a16="http://schemas.microsoft.com/office/drawing/2014/main" id="{75A753E3-CF94-05D7-286D-F9733EBAFF4B}"/>
              </a:ext>
            </a:extLst>
          </p:cNvPr>
          <p:cNvSpPr/>
          <p:nvPr/>
        </p:nvSpPr>
        <p:spPr>
          <a:xfrm>
            <a:off x="2628900" y="1397000"/>
            <a:ext cx="2247900" cy="1066800"/>
          </a:xfrm>
          <a:prstGeom prst="roundRect">
            <a:avLst>
              <a:gd name="adj" fmla="val 8000"/>
            </a:avLst>
          </a:prstGeom>
          <a:solidFill>
            <a:srgbClr val="F8FAFC"/>
          </a:solidFill>
          <a:ln w="9525">
            <a:solidFill>
              <a:srgbClr val="CBD5E1"/>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pic>
        <p:nvPicPr>
          <p:cNvPr id="15" name="Picture 14">
            <a:extLst>
              <a:ext uri="{FF2B5EF4-FFF2-40B4-BE49-F238E27FC236}">
                <a16:creationId xmlns:a16="http://schemas.microsoft.com/office/drawing/2014/main" id="{510A87AB-E7F5-47EE-1D2B-F707DA7C522F}"/>
              </a:ext>
            </a:extLst>
          </p:cNvPr>
          <p:cNvPicPr>
            <a:picLocks/>
          </p:cNvPicPr>
          <p:nvPr/>
        </p:nvPicPr>
        <p:blipFill>
          <a:blip r:embed="rId5"/>
          <a:stretch>
            <a:fillRect/>
          </a:stretch>
        </p:blipFill>
        <p:spPr>
          <a:xfrm>
            <a:off x="2679700" y="1447800"/>
            <a:ext cx="304800" cy="304800"/>
          </a:xfrm>
          <a:prstGeom prst="rect">
            <a:avLst/>
          </a:prstGeom>
        </p:spPr>
      </p:pic>
      <p:sp>
        <p:nvSpPr>
          <p:cNvPr id="16" name="TextBox 15">
            <a:extLst>
              <a:ext uri="{FF2B5EF4-FFF2-40B4-BE49-F238E27FC236}">
                <a16:creationId xmlns:a16="http://schemas.microsoft.com/office/drawing/2014/main" id="{20327744-6D73-CAA9-522A-B0D790A216E6}"/>
              </a:ext>
            </a:extLst>
          </p:cNvPr>
          <p:cNvSpPr txBox="1"/>
          <p:nvPr/>
        </p:nvSpPr>
        <p:spPr>
          <a:xfrm>
            <a:off x="3035300" y="1435100"/>
            <a:ext cx="1816100" cy="369332"/>
          </a:xfrm>
          <a:prstGeom prst="rect">
            <a:avLst/>
          </a:prstGeom>
          <a:noFill/>
        </p:spPr>
        <p:txBody>
          <a:bodyPr vert="horz" wrap="square" lIns="50800" tIns="25400" rIns="50800" bIns="25400" rtlCol="0" anchor="ctr">
            <a:noAutofit/>
          </a:bodyPr>
          <a:lstStyle/>
          <a:p>
            <a:pPr>
              <a:spcBef>
                <a:spcPts val="0"/>
              </a:spcBef>
              <a:spcAft>
                <a:spcPts val="300"/>
              </a:spcAft>
            </a:pPr>
            <a:r>
              <a:rPr lang="en-IN" sz="880" b="1">
                <a:solidFill>
                  <a:srgbClr val="0F766E"/>
                </a:solidFill>
                <a:latin typeface="Arial" panose="020B0604020202020204" pitchFamily="34" charset="0"/>
              </a:rPr>
              <a:t>VWSC and Gram Panchayat</a:t>
            </a:r>
          </a:p>
        </p:txBody>
      </p:sp>
      <p:sp>
        <p:nvSpPr>
          <p:cNvPr id="17" name="TextBox 16">
            <a:extLst>
              <a:ext uri="{FF2B5EF4-FFF2-40B4-BE49-F238E27FC236}">
                <a16:creationId xmlns:a16="http://schemas.microsoft.com/office/drawing/2014/main" id="{DB1A2012-A4F6-6B41-7F9F-0C2E6689F832}"/>
              </a:ext>
            </a:extLst>
          </p:cNvPr>
          <p:cNvSpPr txBox="1"/>
          <p:nvPr/>
        </p:nvSpPr>
        <p:spPr>
          <a:xfrm>
            <a:off x="2692400" y="1790700"/>
            <a:ext cx="21336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850">
                <a:solidFill>
                  <a:srgbClr val="1F2937"/>
                </a:solidFill>
                <a:latin typeface="Arial" panose="020B0604020202020204" pitchFamily="34" charset="0"/>
              </a:rPr>
              <a:t>See alerts, household tap status and a ranked repair list; confirm that water is really restored</a:t>
            </a:r>
            <a:endParaRPr lang="en-IN" sz="850">
              <a:solidFill>
                <a:srgbClr val="1F2937"/>
              </a:solidFill>
              <a:latin typeface="Arial" panose="020B0604020202020204" pitchFamily="34" charset="0"/>
            </a:endParaRPr>
          </a:p>
        </p:txBody>
      </p:sp>
      <p:sp>
        <p:nvSpPr>
          <p:cNvPr id="18" name="Rectangle: Rounded Corners 17">
            <a:extLst>
              <a:ext uri="{FF2B5EF4-FFF2-40B4-BE49-F238E27FC236}">
                <a16:creationId xmlns:a16="http://schemas.microsoft.com/office/drawing/2014/main" id="{3899F9F8-F129-7EBC-18AC-D78242F6C414}"/>
              </a:ext>
            </a:extLst>
          </p:cNvPr>
          <p:cNvSpPr/>
          <p:nvPr/>
        </p:nvSpPr>
        <p:spPr>
          <a:xfrm>
            <a:off x="4953000" y="1397000"/>
            <a:ext cx="2247900" cy="1066800"/>
          </a:xfrm>
          <a:prstGeom prst="roundRect">
            <a:avLst>
              <a:gd name="adj" fmla="val 8000"/>
            </a:avLst>
          </a:prstGeom>
          <a:solidFill>
            <a:srgbClr val="F8FAFC"/>
          </a:solidFill>
          <a:ln w="9525">
            <a:solidFill>
              <a:srgbClr val="CBD5E1"/>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pic>
        <p:nvPicPr>
          <p:cNvPr id="20" name="Picture 19">
            <a:extLst>
              <a:ext uri="{FF2B5EF4-FFF2-40B4-BE49-F238E27FC236}">
                <a16:creationId xmlns:a16="http://schemas.microsoft.com/office/drawing/2014/main" id="{4EAA4413-0472-F070-CF16-85B1A3C14B3F}"/>
              </a:ext>
            </a:extLst>
          </p:cNvPr>
          <p:cNvPicPr>
            <a:picLocks/>
          </p:cNvPicPr>
          <p:nvPr/>
        </p:nvPicPr>
        <p:blipFill>
          <a:blip r:embed="rId6"/>
          <a:stretch>
            <a:fillRect/>
          </a:stretch>
        </p:blipFill>
        <p:spPr>
          <a:xfrm>
            <a:off x="5003800" y="1447800"/>
            <a:ext cx="304800" cy="304800"/>
          </a:xfrm>
          <a:prstGeom prst="rect">
            <a:avLst/>
          </a:prstGeom>
        </p:spPr>
      </p:pic>
      <p:sp>
        <p:nvSpPr>
          <p:cNvPr id="21" name="TextBox 20">
            <a:extLst>
              <a:ext uri="{FF2B5EF4-FFF2-40B4-BE49-F238E27FC236}">
                <a16:creationId xmlns:a16="http://schemas.microsoft.com/office/drawing/2014/main" id="{EF53D1F2-7D5D-1EA1-7D16-4D4F3FDF2673}"/>
              </a:ext>
            </a:extLst>
          </p:cNvPr>
          <p:cNvSpPr txBox="1"/>
          <p:nvPr/>
        </p:nvSpPr>
        <p:spPr>
          <a:xfrm>
            <a:off x="5359400" y="1435100"/>
            <a:ext cx="1816100" cy="369332"/>
          </a:xfrm>
          <a:prstGeom prst="rect">
            <a:avLst/>
          </a:prstGeom>
          <a:noFill/>
        </p:spPr>
        <p:txBody>
          <a:bodyPr vert="horz" wrap="square" lIns="50800" tIns="25400" rIns="50800" bIns="25400" rtlCol="0" anchor="ctr">
            <a:noAutofit/>
          </a:bodyPr>
          <a:lstStyle/>
          <a:p>
            <a:pPr>
              <a:spcBef>
                <a:spcPts val="0"/>
              </a:spcBef>
              <a:spcAft>
                <a:spcPts val="300"/>
              </a:spcAft>
            </a:pPr>
            <a:r>
              <a:rPr lang="en-IN" sz="880" b="1">
                <a:solidFill>
                  <a:srgbClr val="0F766E"/>
                </a:solidFill>
                <a:latin typeface="Arial" panose="020B0604020202020204" pitchFamily="34" charset="0"/>
              </a:rPr>
              <a:t>Technicians and operators</a:t>
            </a:r>
          </a:p>
        </p:txBody>
      </p:sp>
      <p:sp>
        <p:nvSpPr>
          <p:cNvPr id="22" name="TextBox 21">
            <a:extLst>
              <a:ext uri="{FF2B5EF4-FFF2-40B4-BE49-F238E27FC236}">
                <a16:creationId xmlns:a16="http://schemas.microsoft.com/office/drawing/2014/main" id="{E0A3F3EC-CDDF-4665-6547-1A20CD29D613}"/>
              </a:ext>
            </a:extLst>
          </p:cNvPr>
          <p:cNvSpPr txBox="1"/>
          <p:nvPr/>
        </p:nvSpPr>
        <p:spPr>
          <a:xfrm>
            <a:off x="5016500" y="1790700"/>
            <a:ext cx="21336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850">
                <a:solidFill>
                  <a:srgbClr val="1F2937"/>
                </a:solidFill>
                <a:latin typeface="Arial" panose="020B0604020202020204" pitchFamily="34" charset="0"/>
              </a:rPr>
              <a:t>Receive tasks with the pipeline, evidence and location; close them when readings recover</a:t>
            </a:r>
            <a:endParaRPr lang="en-IN" sz="850">
              <a:solidFill>
                <a:srgbClr val="1F2937"/>
              </a:solidFill>
              <a:latin typeface="Arial" panose="020B0604020202020204" pitchFamily="34" charset="0"/>
            </a:endParaRPr>
          </a:p>
        </p:txBody>
      </p:sp>
      <p:sp>
        <p:nvSpPr>
          <p:cNvPr id="23" name="Rectangle: Rounded Corners 22">
            <a:extLst>
              <a:ext uri="{FF2B5EF4-FFF2-40B4-BE49-F238E27FC236}">
                <a16:creationId xmlns:a16="http://schemas.microsoft.com/office/drawing/2014/main" id="{B2E8B219-F467-F272-3A58-527CC422AED3}"/>
              </a:ext>
            </a:extLst>
          </p:cNvPr>
          <p:cNvSpPr/>
          <p:nvPr/>
        </p:nvSpPr>
        <p:spPr>
          <a:xfrm>
            <a:off x="7277100" y="1397000"/>
            <a:ext cx="2247900" cy="1066800"/>
          </a:xfrm>
          <a:prstGeom prst="roundRect">
            <a:avLst>
              <a:gd name="adj" fmla="val 8000"/>
            </a:avLst>
          </a:prstGeom>
          <a:solidFill>
            <a:srgbClr val="F8FAFC"/>
          </a:solidFill>
          <a:ln w="9525">
            <a:solidFill>
              <a:srgbClr val="CBD5E1"/>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pic>
        <p:nvPicPr>
          <p:cNvPr id="25" name="Picture 24">
            <a:extLst>
              <a:ext uri="{FF2B5EF4-FFF2-40B4-BE49-F238E27FC236}">
                <a16:creationId xmlns:a16="http://schemas.microsoft.com/office/drawing/2014/main" id="{547DC4A1-58E3-CFA3-F580-4DEFE1182739}"/>
              </a:ext>
            </a:extLst>
          </p:cNvPr>
          <p:cNvPicPr>
            <a:picLocks/>
          </p:cNvPicPr>
          <p:nvPr/>
        </p:nvPicPr>
        <p:blipFill>
          <a:blip r:embed="rId7"/>
          <a:stretch>
            <a:fillRect/>
          </a:stretch>
        </p:blipFill>
        <p:spPr>
          <a:xfrm>
            <a:off x="7327900" y="1447800"/>
            <a:ext cx="304800" cy="304800"/>
          </a:xfrm>
          <a:prstGeom prst="rect">
            <a:avLst/>
          </a:prstGeom>
        </p:spPr>
      </p:pic>
      <p:sp>
        <p:nvSpPr>
          <p:cNvPr id="26" name="TextBox 25">
            <a:extLst>
              <a:ext uri="{FF2B5EF4-FFF2-40B4-BE49-F238E27FC236}">
                <a16:creationId xmlns:a16="http://schemas.microsoft.com/office/drawing/2014/main" id="{61486157-7661-CEAD-08EE-229D7481BAD8}"/>
              </a:ext>
            </a:extLst>
          </p:cNvPr>
          <p:cNvSpPr txBox="1"/>
          <p:nvPr/>
        </p:nvSpPr>
        <p:spPr>
          <a:xfrm>
            <a:off x="7683500" y="1435100"/>
            <a:ext cx="1816100" cy="369332"/>
          </a:xfrm>
          <a:prstGeom prst="rect">
            <a:avLst/>
          </a:prstGeom>
          <a:noFill/>
        </p:spPr>
        <p:txBody>
          <a:bodyPr vert="horz" wrap="square" lIns="50800" tIns="25400" rIns="50800" bIns="25400" rtlCol="0" anchor="ctr">
            <a:noAutofit/>
          </a:bodyPr>
          <a:lstStyle/>
          <a:p>
            <a:pPr>
              <a:spcBef>
                <a:spcPts val="0"/>
              </a:spcBef>
              <a:spcAft>
                <a:spcPts val="300"/>
              </a:spcAft>
            </a:pPr>
            <a:r>
              <a:rPr lang="en-IN" sz="880" b="1">
                <a:solidFill>
                  <a:srgbClr val="0F766E"/>
                </a:solidFill>
                <a:latin typeface="Arial" panose="020B0604020202020204" pitchFamily="34" charset="0"/>
              </a:rPr>
              <a:t>Implementing agencies</a:t>
            </a:r>
          </a:p>
        </p:txBody>
      </p:sp>
      <p:sp>
        <p:nvSpPr>
          <p:cNvPr id="27" name="TextBox 26">
            <a:extLst>
              <a:ext uri="{FF2B5EF4-FFF2-40B4-BE49-F238E27FC236}">
                <a16:creationId xmlns:a16="http://schemas.microsoft.com/office/drawing/2014/main" id="{FA8EC400-0C02-D519-F7A5-DD358A184270}"/>
              </a:ext>
            </a:extLst>
          </p:cNvPr>
          <p:cNvSpPr txBox="1"/>
          <p:nvPr/>
        </p:nvSpPr>
        <p:spPr>
          <a:xfrm>
            <a:off x="7340600" y="1790700"/>
            <a:ext cx="21336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850">
                <a:solidFill>
                  <a:srgbClr val="1F2937"/>
                </a:solidFill>
                <a:latin typeface="Arial" panose="020B0604020202020204" pitchFamily="34" charset="0"/>
              </a:rPr>
              <a:t>Plan preventive maintenance from risk scores and fault history instead of waiting for breakdowns</a:t>
            </a:r>
            <a:endParaRPr lang="en-IN" sz="850">
              <a:solidFill>
                <a:srgbClr val="1F2937"/>
              </a:solidFill>
              <a:latin typeface="Arial" panose="020B0604020202020204" pitchFamily="34" charset="0"/>
            </a:endParaRPr>
          </a:p>
        </p:txBody>
      </p:sp>
      <p:sp>
        <p:nvSpPr>
          <p:cNvPr id="28" name="Rectangle: Rounded Corners 27">
            <a:extLst>
              <a:ext uri="{FF2B5EF4-FFF2-40B4-BE49-F238E27FC236}">
                <a16:creationId xmlns:a16="http://schemas.microsoft.com/office/drawing/2014/main" id="{0DF1FC6A-4AA3-5F94-34B6-3D436934FC25}"/>
              </a:ext>
            </a:extLst>
          </p:cNvPr>
          <p:cNvSpPr/>
          <p:nvPr/>
        </p:nvSpPr>
        <p:spPr>
          <a:xfrm>
            <a:off x="9601200" y="1397000"/>
            <a:ext cx="2247900" cy="1066800"/>
          </a:xfrm>
          <a:prstGeom prst="roundRect">
            <a:avLst>
              <a:gd name="adj" fmla="val 8000"/>
            </a:avLst>
          </a:prstGeom>
          <a:solidFill>
            <a:srgbClr val="F8FAFC"/>
          </a:solidFill>
          <a:ln w="9525">
            <a:solidFill>
              <a:srgbClr val="CBD5E1"/>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pic>
        <p:nvPicPr>
          <p:cNvPr id="30" name="Picture 29">
            <a:extLst>
              <a:ext uri="{FF2B5EF4-FFF2-40B4-BE49-F238E27FC236}">
                <a16:creationId xmlns:a16="http://schemas.microsoft.com/office/drawing/2014/main" id="{F6D6ED16-AC2B-EBB0-7E20-D018BAAD96D7}"/>
              </a:ext>
            </a:extLst>
          </p:cNvPr>
          <p:cNvPicPr>
            <a:picLocks/>
          </p:cNvPicPr>
          <p:nvPr/>
        </p:nvPicPr>
        <p:blipFill>
          <a:blip r:embed="rId8"/>
          <a:stretch>
            <a:fillRect/>
          </a:stretch>
        </p:blipFill>
        <p:spPr>
          <a:xfrm>
            <a:off x="9652000" y="1447800"/>
            <a:ext cx="304800" cy="304800"/>
          </a:xfrm>
          <a:prstGeom prst="rect">
            <a:avLst/>
          </a:prstGeom>
        </p:spPr>
      </p:pic>
      <p:sp>
        <p:nvSpPr>
          <p:cNvPr id="31" name="TextBox 30">
            <a:extLst>
              <a:ext uri="{FF2B5EF4-FFF2-40B4-BE49-F238E27FC236}">
                <a16:creationId xmlns:a16="http://schemas.microsoft.com/office/drawing/2014/main" id="{C38D746A-D286-37CA-F427-32628BF282CC}"/>
              </a:ext>
            </a:extLst>
          </p:cNvPr>
          <p:cNvSpPr txBox="1"/>
          <p:nvPr/>
        </p:nvSpPr>
        <p:spPr>
          <a:xfrm>
            <a:off x="10007600" y="1435100"/>
            <a:ext cx="1816100" cy="369332"/>
          </a:xfrm>
          <a:prstGeom prst="rect">
            <a:avLst/>
          </a:prstGeom>
          <a:noFill/>
        </p:spPr>
        <p:txBody>
          <a:bodyPr vert="horz" wrap="square" lIns="50800" tIns="25400" rIns="50800" bIns="25400" rtlCol="0" anchor="ctr">
            <a:noAutofit/>
          </a:bodyPr>
          <a:lstStyle/>
          <a:p>
            <a:pPr>
              <a:spcBef>
                <a:spcPts val="0"/>
              </a:spcBef>
              <a:spcAft>
                <a:spcPts val="300"/>
              </a:spcAft>
            </a:pPr>
            <a:r>
              <a:rPr lang="en-IN" sz="880" b="1">
                <a:solidFill>
                  <a:srgbClr val="0F766E"/>
                </a:solidFill>
                <a:latin typeface="Arial" panose="020B0604020202020204" pitchFamily="34" charset="0"/>
              </a:rPr>
              <a:t>District and State authorities</a:t>
            </a:r>
          </a:p>
        </p:txBody>
      </p:sp>
      <p:sp>
        <p:nvSpPr>
          <p:cNvPr id="32" name="TextBox 31">
            <a:extLst>
              <a:ext uri="{FF2B5EF4-FFF2-40B4-BE49-F238E27FC236}">
                <a16:creationId xmlns:a16="http://schemas.microsoft.com/office/drawing/2014/main" id="{B1B7D06A-D019-766F-FA66-0AB135E66D52}"/>
              </a:ext>
            </a:extLst>
          </p:cNvPr>
          <p:cNvSpPr txBox="1"/>
          <p:nvPr/>
        </p:nvSpPr>
        <p:spPr>
          <a:xfrm>
            <a:off x="9664700" y="1790700"/>
            <a:ext cx="21336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850">
                <a:solidFill>
                  <a:srgbClr val="1F2937"/>
                </a:solidFill>
                <a:latin typeface="Arial" panose="020B0604020202020204" pitchFamily="34" charset="0"/>
              </a:rPr>
              <a:t>Multi-level analytics and GIS; data prepared for IMIS, Sujal Gaon IDs and the JJM platforms</a:t>
            </a:r>
            <a:endParaRPr lang="en-IN" sz="850">
              <a:solidFill>
                <a:srgbClr val="1F2937"/>
              </a:solidFill>
              <a:latin typeface="Arial" panose="020B0604020202020204" pitchFamily="34" charset="0"/>
            </a:endParaRPr>
          </a:p>
        </p:txBody>
      </p:sp>
      <p:sp>
        <p:nvSpPr>
          <p:cNvPr id="33" name="Rectangle: Rounded Corners 32">
            <a:extLst>
              <a:ext uri="{FF2B5EF4-FFF2-40B4-BE49-F238E27FC236}">
                <a16:creationId xmlns:a16="http://schemas.microsoft.com/office/drawing/2014/main" id="{8FB6ABEF-6254-DF7D-8832-6DAAEEB381D5}"/>
              </a:ext>
            </a:extLst>
          </p:cNvPr>
          <p:cNvSpPr/>
          <p:nvPr/>
        </p:nvSpPr>
        <p:spPr>
          <a:xfrm>
            <a:off x="304800" y="2540000"/>
            <a:ext cx="3759200" cy="1524000"/>
          </a:xfrm>
          <a:prstGeom prst="roundRect">
            <a:avLst>
              <a:gd name="adj" fmla="val 8000"/>
            </a:avLst>
          </a:prstGeom>
          <a:solidFill>
            <a:srgbClr val="E6F4F1"/>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4" name="Rectangle: Rounded Corners 33">
            <a:extLst>
              <a:ext uri="{FF2B5EF4-FFF2-40B4-BE49-F238E27FC236}">
                <a16:creationId xmlns:a16="http://schemas.microsoft.com/office/drawing/2014/main" id="{1B9436BD-4D3F-2542-C5EF-F24F95DB579F}"/>
              </a:ext>
            </a:extLst>
          </p:cNvPr>
          <p:cNvSpPr/>
          <p:nvPr/>
        </p:nvSpPr>
        <p:spPr>
          <a:xfrm>
            <a:off x="304800" y="2540000"/>
            <a:ext cx="3759200" cy="254000"/>
          </a:xfrm>
          <a:prstGeom prst="roundRect">
            <a:avLst>
              <a:gd name="adj" fmla="val 8000"/>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00" b="1">
                <a:solidFill>
                  <a:srgbClr val="FFFFFF"/>
                </a:solidFill>
                <a:latin typeface="Arial" panose="020B0604020202020204" pitchFamily="34" charset="0"/>
              </a:rPr>
              <a:t>SOCIAL BENEFITS</a:t>
            </a:r>
          </a:p>
        </p:txBody>
      </p:sp>
      <p:sp>
        <p:nvSpPr>
          <p:cNvPr id="35" name="TextBox 34">
            <a:extLst>
              <a:ext uri="{FF2B5EF4-FFF2-40B4-BE49-F238E27FC236}">
                <a16:creationId xmlns:a16="http://schemas.microsoft.com/office/drawing/2014/main" id="{35818C24-7E8D-FA1D-589F-7CD9C1C24BC7}"/>
              </a:ext>
            </a:extLst>
          </p:cNvPr>
          <p:cNvSpPr txBox="1"/>
          <p:nvPr/>
        </p:nvSpPr>
        <p:spPr>
          <a:xfrm>
            <a:off x="381000" y="2870200"/>
            <a:ext cx="3606800" cy="1168400"/>
          </a:xfrm>
          <a:prstGeom prst="rect">
            <a:avLst/>
          </a:prstGeom>
          <a:noFill/>
        </p:spPr>
        <p:txBody>
          <a:bodyPr vert="horz" wrap="square" lIns="50800" tIns="25400" rIns="50800" bIns="25400" rtlCol="0" anchor="t">
            <a:noAutofit/>
          </a:bodyPr>
          <a:lstStyle/>
          <a:p>
            <a:pPr marL="127000" indent="-127000">
              <a:spcBef>
                <a:spcPts val="0"/>
              </a:spcBef>
              <a:spcAft>
                <a:spcPts val="300"/>
              </a:spcAft>
              <a:buClr>
                <a:srgbClr val="0F766E"/>
              </a:buClr>
              <a:buFont typeface="+mj-lt"/>
              <a:buChar char="•"/>
            </a:pPr>
            <a:r>
              <a:rPr lang="en-US" sz="1040">
                <a:solidFill>
                  <a:srgbClr val="1F2937"/>
                </a:solidFill>
                <a:latin typeface="Arial" panose="020B0604020202020204" pitchFamily="34" charset="0"/>
              </a:rPr>
              <a:t>Dry taps get fixed sooner, and the villager is told when water is restored</a:t>
            </a:r>
          </a:p>
          <a:p>
            <a:pPr marL="127000" indent="-127000">
              <a:spcBef>
                <a:spcPts val="0"/>
              </a:spcBef>
              <a:spcAft>
                <a:spcPts val="300"/>
              </a:spcAft>
              <a:buClr>
                <a:srgbClr val="0F766E"/>
              </a:buClr>
              <a:buFont typeface="+mj-lt"/>
              <a:buChar char="•"/>
            </a:pPr>
            <a:r>
              <a:rPr lang="en-US" sz="1040">
                <a:solidFill>
                  <a:srgbClr val="1F2937"/>
                </a:solidFill>
                <a:latin typeface="Arial" panose="020B0604020202020204" pitchFamily="34" charset="0"/>
              </a:rPr>
              <a:t>A voice for every household, in local languages</a:t>
            </a:r>
          </a:p>
          <a:p>
            <a:pPr marL="127000" indent="-127000">
              <a:spcBef>
                <a:spcPts val="0"/>
              </a:spcBef>
              <a:spcAft>
                <a:spcPts val="300"/>
              </a:spcAft>
              <a:buClr>
                <a:srgbClr val="0F766E"/>
              </a:buClr>
              <a:buFont typeface="+mj-lt"/>
              <a:buChar char="•"/>
            </a:pPr>
            <a:r>
              <a:rPr lang="en-US" sz="1040">
                <a:solidFill>
                  <a:srgbClr val="1F2937"/>
                </a:solidFill>
                <a:latin typeface="Arial" panose="020B0604020202020204" pitchFamily="34" charset="0"/>
              </a:rPr>
              <a:t>Boil-water advisory to homes when a field test fails, plus a confirmatory lab test request</a:t>
            </a:r>
          </a:p>
          <a:p>
            <a:pPr marL="127000" indent="-127000">
              <a:spcBef>
                <a:spcPts val="0"/>
              </a:spcBef>
              <a:spcAft>
                <a:spcPts val="300"/>
              </a:spcAft>
              <a:buClr>
                <a:srgbClr val="0F766E"/>
              </a:buClr>
              <a:buFont typeface="+mj-lt"/>
              <a:buChar char="•"/>
            </a:pPr>
            <a:r>
              <a:rPr lang="en-US" sz="1040">
                <a:solidFill>
                  <a:srgbClr val="1F2937"/>
                </a:solidFill>
                <a:latin typeface="Arial" panose="020B0604020202020204" pitchFamily="34" charset="0"/>
              </a:rPr>
              <a:t>Tail-end homes stop being invisible</a:t>
            </a:r>
            <a:endParaRPr lang="en-IN" sz="1040">
              <a:solidFill>
                <a:srgbClr val="1F2937"/>
              </a:solidFill>
              <a:latin typeface="Arial" panose="020B0604020202020204" pitchFamily="34" charset="0"/>
            </a:endParaRPr>
          </a:p>
        </p:txBody>
      </p:sp>
      <p:sp>
        <p:nvSpPr>
          <p:cNvPr id="36" name="Rectangle: Rounded Corners 35">
            <a:extLst>
              <a:ext uri="{FF2B5EF4-FFF2-40B4-BE49-F238E27FC236}">
                <a16:creationId xmlns:a16="http://schemas.microsoft.com/office/drawing/2014/main" id="{B1A6AF5E-6E41-BC5A-331A-B3B7C7FE5FC8}"/>
              </a:ext>
            </a:extLst>
          </p:cNvPr>
          <p:cNvSpPr/>
          <p:nvPr/>
        </p:nvSpPr>
        <p:spPr>
          <a:xfrm>
            <a:off x="4216400" y="2540000"/>
            <a:ext cx="3759200" cy="1524000"/>
          </a:xfrm>
          <a:prstGeom prst="roundRect">
            <a:avLst>
              <a:gd name="adj" fmla="val 8000"/>
            </a:avLst>
          </a:prstGeom>
          <a:solidFill>
            <a:srgbClr val="E0F2F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7" name="Rectangle: Rounded Corners 36">
            <a:extLst>
              <a:ext uri="{FF2B5EF4-FFF2-40B4-BE49-F238E27FC236}">
                <a16:creationId xmlns:a16="http://schemas.microsoft.com/office/drawing/2014/main" id="{DBCE62E3-1861-4FF0-C2B2-BF8A845DB047}"/>
              </a:ext>
            </a:extLst>
          </p:cNvPr>
          <p:cNvSpPr/>
          <p:nvPr/>
        </p:nvSpPr>
        <p:spPr>
          <a:xfrm>
            <a:off x="4216400" y="2540000"/>
            <a:ext cx="3759200" cy="254000"/>
          </a:xfrm>
          <a:prstGeom prst="roundRect">
            <a:avLst>
              <a:gd name="adj" fmla="val 8000"/>
            </a:avLst>
          </a:prstGeom>
          <a:solidFill>
            <a:srgbClr val="0070C0"/>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00" b="1">
                <a:solidFill>
                  <a:srgbClr val="FFFFFF"/>
                </a:solidFill>
                <a:latin typeface="Arial" panose="020B0604020202020204" pitchFamily="34" charset="0"/>
              </a:rPr>
              <a:t>ECONOMIC BENEFITS</a:t>
            </a:r>
          </a:p>
        </p:txBody>
      </p:sp>
      <p:sp>
        <p:nvSpPr>
          <p:cNvPr id="38" name="TextBox 37">
            <a:extLst>
              <a:ext uri="{FF2B5EF4-FFF2-40B4-BE49-F238E27FC236}">
                <a16:creationId xmlns:a16="http://schemas.microsoft.com/office/drawing/2014/main" id="{BC155ED6-D392-15D7-F73D-0DBD5B7FB757}"/>
              </a:ext>
            </a:extLst>
          </p:cNvPr>
          <p:cNvSpPr txBox="1"/>
          <p:nvPr/>
        </p:nvSpPr>
        <p:spPr>
          <a:xfrm>
            <a:off x="4292600" y="2870200"/>
            <a:ext cx="3606800" cy="1168400"/>
          </a:xfrm>
          <a:prstGeom prst="rect">
            <a:avLst/>
          </a:prstGeom>
          <a:noFill/>
        </p:spPr>
        <p:txBody>
          <a:bodyPr vert="horz" wrap="square" lIns="50800" tIns="25400" rIns="50800" bIns="25400" rtlCol="0" anchor="t">
            <a:noAutofit/>
          </a:bodyPr>
          <a:lstStyle/>
          <a:p>
            <a:pPr marL="127000" indent="-127000">
              <a:spcBef>
                <a:spcPts val="0"/>
              </a:spcBef>
              <a:spcAft>
                <a:spcPts val="300"/>
              </a:spcAft>
              <a:buClr>
                <a:srgbClr val="0F766E"/>
              </a:buClr>
              <a:buFont typeface="+mj-lt"/>
              <a:buChar char="•"/>
            </a:pPr>
            <a:r>
              <a:rPr lang="en-US" sz="1040">
                <a:solidFill>
                  <a:srgbClr val="1F2937"/>
                </a:solidFill>
                <a:latin typeface="Arial" panose="020B0604020202020204" pitchFamily="34" charset="0"/>
              </a:rPr>
              <a:t>Inspect the riskiest pipes first: fewer repeat repairs and wasted visits</a:t>
            </a:r>
          </a:p>
          <a:p>
            <a:pPr marL="127000" indent="-127000">
              <a:spcBef>
                <a:spcPts val="0"/>
              </a:spcBef>
              <a:spcAft>
                <a:spcPts val="300"/>
              </a:spcAft>
              <a:buClr>
                <a:srgbClr val="0F766E"/>
              </a:buClr>
              <a:buFont typeface="+mj-lt"/>
              <a:buChar char="•"/>
            </a:pPr>
            <a:r>
              <a:rPr lang="en-US" sz="1040">
                <a:solidFill>
                  <a:srgbClr val="1F2937"/>
                </a:solidFill>
                <a:latin typeface="Arial" panose="020B0604020202020204" pitchFamily="34" charset="0"/>
              </a:rPr>
              <a:t>Leaks near monitored points are flagged earlier</a:t>
            </a:r>
          </a:p>
          <a:p>
            <a:pPr marL="127000" indent="-127000">
              <a:spcBef>
                <a:spcPts val="0"/>
              </a:spcBef>
              <a:spcAft>
                <a:spcPts val="300"/>
              </a:spcAft>
              <a:buClr>
                <a:srgbClr val="0F766E"/>
              </a:buClr>
              <a:buFont typeface="+mj-lt"/>
              <a:buChar char="•"/>
            </a:pPr>
            <a:r>
              <a:rPr lang="en-US" sz="1040">
                <a:solidFill>
                  <a:srgbClr val="1F2937"/>
                </a:solidFill>
                <a:latin typeface="Arial" panose="020B0604020202020204" pitchFamily="34" charset="0"/>
              </a:rPr>
              <a:t>Less treated water lost to unseen leaks</a:t>
            </a:r>
          </a:p>
          <a:p>
            <a:pPr marL="127000" indent="-127000">
              <a:spcBef>
                <a:spcPts val="0"/>
              </a:spcBef>
              <a:spcAft>
                <a:spcPts val="300"/>
              </a:spcAft>
              <a:buClr>
                <a:srgbClr val="0F766E"/>
              </a:buClr>
              <a:buFont typeface="+mj-lt"/>
              <a:buChar char="•"/>
            </a:pPr>
            <a:r>
              <a:rPr lang="en-US" sz="1040">
                <a:solidFill>
                  <a:srgbClr val="1F2937"/>
                </a:solidFill>
                <a:latin typeface="Arial" panose="020B0604020202020204" pitchFamily="34" charset="0"/>
              </a:rPr>
              <a:t>Evidence replaces guesswork in planning and budgets</a:t>
            </a:r>
            <a:endParaRPr lang="en-IN" sz="1040">
              <a:solidFill>
                <a:srgbClr val="1F2937"/>
              </a:solidFill>
              <a:latin typeface="Arial" panose="020B0604020202020204" pitchFamily="34" charset="0"/>
            </a:endParaRPr>
          </a:p>
        </p:txBody>
      </p:sp>
      <p:sp>
        <p:nvSpPr>
          <p:cNvPr id="39" name="Rectangle: Rounded Corners 38">
            <a:extLst>
              <a:ext uri="{FF2B5EF4-FFF2-40B4-BE49-F238E27FC236}">
                <a16:creationId xmlns:a16="http://schemas.microsoft.com/office/drawing/2014/main" id="{FCFA7740-B77E-CE9C-3308-D967284EA028}"/>
              </a:ext>
            </a:extLst>
          </p:cNvPr>
          <p:cNvSpPr/>
          <p:nvPr/>
        </p:nvSpPr>
        <p:spPr>
          <a:xfrm>
            <a:off x="8128000" y="2540000"/>
            <a:ext cx="3759200" cy="1524000"/>
          </a:xfrm>
          <a:prstGeom prst="roundRect">
            <a:avLst>
              <a:gd name="adj" fmla="val 8000"/>
            </a:avLst>
          </a:prstGeom>
          <a:solidFill>
            <a:srgbClr val="DCFCE7"/>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0" name="Rectangle: Rounded Corners 39">
            <a:extLst>
              <a:ext uri="{FF2B5EF4-FFF2-40B4-BE49-F238E27FC236}">
                <a16:creationId xmlns:a16="http://schemas.microsoft.com/office/drawing/2014/main" id="{80772518-DF9A-C30F-CBF1-C9BF6A0E94E6}"/>
              </a:ext>
            </a:extLst>
          </p:cNvPr>
          <p:cNvSpPr/>
          <p:nvPr/>
        </p:nvSpPr>
        <p:spPr>
          <a:xfrm>
            <a:off x="8128000" y="2540000"/>
            <a:ext cx="3759200" cy="254000"/>
          </a:xfrm>
          <a:prstGeom prst="roundRect">
            <a:avLst>
              <a:gd name="adj" fmla="val 8000"/>
            </a:avLst>
          </a:prstGeom>
          <a:solidFill>
            <a:srgbClr val="15803D"/>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00" b="1">
                <a:solidFill>
                  <a:srgbClr val="FFFFFF"/>
                </a:solidFill>
                <a:latin typeface="Arial" panose="020B0604020202020204" pitchFamily="34" charset="0"/>
              </a:rPr>
              <a:t>ENVIRONMENTAL BENEFITS</a:t>
            </a:r>
          </a:p>
        </p:txBody>
      </p:sp>
      <p:sp>
        <p:nvSpPr>
          <p:cNvPr id="41" name="TextBox 40">
            <a:extLst>
              <a:ext uri="{FF2B5EF4-FFF2-40B4-BE49-F238E27FC236}">
                <a16:creationId xmlns:a16="http://schemas.microsoft.com/office/drawing/2014/main" id="{74F3B583-F93E-AB41-FE43-47434D56FD12}"/>
              </a:ext>
            </a:extLst>
          </p:cNvPr>
          <p:cNvSpPr txBox="1"/>
          <p:nvPr/>
        </p:nvSpPr>
        <p:spPr>
          <a:xfrm>
            <a:off x="8204200" y="2870200"/>
            <a:ext cx="3606800" cy="1168400"/>
          </a:xfrm>
          <a:prstGeom prst="rect">
            <a:avLst/>
          </a:prstGeom>
          <a:noFill/>
        </p:spPr>
        <p:txBody>
          <a:bodyPr vert="horz" wrap="square" lIns="50800" tIns="25400" rIns="50800" bIns="25400" rtlCol="0" anchor="t">
            <a:noAutofit/>
          </a:bodyPr>
          <a:lstStyle/>
          <a:p>
            <a:pPr marL="127000" indent="-127000">
              <a:spcBef>
                <a:spcPts val="0"/>
              </a:spcBef>
              <a:spcAft>
                <a:spcPts val="300"/>
              </a:spcAft>
              <a:buClr>
                <a:srgbClr val="0F766E"/>
              </a:buClr>
              <a:buFont typeface="+mj-lt"/>
              <a:buChar char="•"/>
            </a:pPr>
            <a:r>
              <a:rPr lang="en-US" sz="1040">
                <a:solidFill>
                  <a:srgbClr val="1F2937"/>
                </a:solidFill>
                <a:latin typeface="Arial" panose="020B0604020202020204" pitchFamily="34" charset="0"/>
              </a:rPr>
              <a:t>Early leak detection saves treated water and pumping energy</a:t>
            </a:r>
          </a:p>
          <a:p>
            <a:pPr marL="127000" indent="-127000">
              <a:spcBef>
                <a:spcPts val="0"/>
              </a:spcBef>
              <a:spcAft>
                <a:spcPts val="300"/>
              </a:spcAft>
              <a:buClr>
                <a:srgbClr val="0F766E"/>
              </a:buClr>
              <a:buFont typeface="+mj-lt"/>
              <a:buChar char="•"/>
            </a:pPr>
            <a:r>
              <a:rPr lang="en-US" sz="1040">
                <a:solidFill>
                  <a:srgbClr val="1F2937"/>
                </a:solidFill>
                <a:latin typeface="Arial" panose="020B0604020202020204" pitchFamily="34" charset="0"/>
              </a:rPr>
              <a:t>Solar-powered nodes: no grid cabling</a:t>
            </a:r>
          </a:p>
          <a:p>
            <a:pPr marL="127000" indent="-127000">
              <a:spcBef>
                <a:spcPts val="0"/>
              </a:spcBef>
              <a:spcAft>
                <a:spcPts val="300"/>
              </a:spcAft>
              <a:buClr>
                <a:srgbClr val="0F766E"/>
              </a:buClr>
              <a:buFont typeface="+mj-lt"/>
              <a:buChar char="•"/>
            </a:pPr>
            <a:r>
              <a:rPr lang="en-US" sz="1040">
                <a:solidFill>
                  <a:srgbClr val="1F2937"/>
                </a:solidFill>
                <a:latin typeface="Arial" panose="020B0604020202020204" pitchFamily="34" charset="0"/>
              </a:rPr>
              <a:t>Low-power LoRa links and sleep cycles</a:t>
            </a:r>
          </a:p>
          <a:p>
            <a:pPr marL="127000" indent="-127000">
              <a:spcBef>
                <a:spcPts val="0"/>
              </a:spcBef>
              <a:spcAft>
                <a:spcPts val="300"/>
              </a:spcAft>
              <a:buClr>
                <a:srgbClr val="0F766E"/>
              </a:buClr>
              <a:buFont typeface="+mj-lt"/>
              <a:buChar char="•"/>
            </a:pPr>
            <a:r>
              <a:rPr lang="en-US" sz="1040">
                <a:solidFill>
                  <a:srgbClr val="1F2937"/>
                </a:solidFill>
                <a:latin typeface="Arial" panose="020B0604020202020204" pitchFamily="34" charset="0"/>
              </a:rPr>
              <a:t>Measured chlorine helps avoid both under- and over-dosing</a:t>
            </a:r>
            <a:endParaRPr lang="en-IN" sz="1040">
              <a:solidFill>
                <a:srgbClr val="1F2937"/>
              </a:solidFill>
              <a:latin typeface="Arial" panose="020B0604020202020204" pitchFamily="34" charset="0"/>
            </a:endParaRPr>
          </a:p>
        </p:txBody>
      </p:sp>
      <p:sp>
        <p:nvSpPr>
          <p:cNvPr id="50" name="Rectangle: Rounded Corners 49">
            <a:extLst>
              <a:ext uri="{FF2B5EF4-FFF2-40B4-BE49-F238E27FC236}">
                <a16:creationId xmlns:a16="http://schemas.microsoft.com/office/drawing/2014/main" id="{0432DCE6-4423-6F69-8162-9DF334BB33C9}"/>
              </a:ext>
            </a:extLst>
          </p:cNvPr>
          <p:cNvSpPr/>
          <p:nvPr/>
        </p:nvSpPr>
        <p:spPr>
          <a:xfrm>
            <a:off x="6350000" y="4140200"/>
            <a:ext cx="5537200" cy="1473200"/>
          </a:xfrm>
          <a:prstGeom prst="roundRect">
            <a:avLst>
              <a:gd name="adj" fmla="val 8000"/>
            </a:avLst>
          </a:prstGeom>
          <a:solidFill>
            <a:srgbClr val="F8FAFC"/>
          </a:solidFill>
          <a:ln w="9525">
            <a:solidFill>
              <a:srgbClr val="CBD5E1"/>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1" name="Rectangle: Rounded Corners 50">
            <a:extLst>
              <a:ext uri="{FF2B5EF4-FFF2-40B4-BE49-F238E27FC236}">
                <a16:creationId xmlns:a16="http://schemas.microsoft.com/office/drawing/2014/main" id="{F0535BE5-0CED-3695-2450-8658DF02B116}"/>
              </a:ext>
            </a:extLst>
          </p:cNvPr>
          <p:cNvSpPr/>
          <p:nvPr/>
        </p:nvSpPr>
        <p:spPr>
          <a:xfrm>
            <a:off x="6350000" y="4140200"/>
            <a:ext cx="5537200" cy="254000"/>
          </a:xfrm>
          <a:prstGeom prst="roundRect">
            <a:avLst>
              <a:gd name="adj" fmla="val 8000"/>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00" b="1">
                <a:solidFill>
                  <a:srgbClr val="FFFFFF"/>
                </a:solidFill>
                <a:latin typeface="Arial" panose="020B0604020202020204" pitchFamily="34" charset="0"/>
              </a:rPr>
              <a:t>WHAT A PILOT WILL MEASURE</a:t>
            </a:r>
          </a:p>
        </p:txBody>
      </p:sp>
      <p:sp>
        <p:nvSpPr>
          <p:cNvPr id="52" name="Oval 51">
            <a:extLst>
              <a:ext uri="{FF2B5EF4-FFF2-40B4-BE49-F238E27FC236}">
                <a16:creationId xmlns:a16="http://schemas.microsoft.com/office/drawing/2014/main" id="{FBEB071F-1236-AE2D-FD98-677FC35BC905}"/>
              </a:ext>
            </a:extLst>
          </p:cNvPr>
          <p:cNvSpPr/>
          <p:nvPr/>
        </p:nvSpPr>
        <p:spPr>
          <a:xfrm>
            <a:off x="6426200" y="452120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1</a:t>
            </a:r>
          </a:p>
        </p:txBody>
      </p:sp>
      <p:sp>
        <p:nvSpPr>
          <p:cNvPr id="53" name="TextBox 52">
            <a:extLst>
              <a:ext uri="{FF2B5EF4-FFF2-40B4-BE49-F238E27FC236}">
                <a16:creationId xmlns:a16="http://schemas.microsoft.com/office/drawing/2014/main" id="{73F6A6AC-D84D-5F93-6593-BED564EC6248}"/>
              </a:ext>
            </a:extLst>
          </p:cNvPr>
          <p:cNvSpPr txBox="1"/>
          <p:nvPr/>
        </p:nvSpPr>
        <p:spPr>
          <a:xfrm>
            <a:off x="6667500" y="4445000"/>
            <a:ext cx="2451100" cy="381000"/>
          </a:xfrm>
          <a:prstGeom prst="rect">
            <a:avLst/>
          </a:prstGeom>
          <a:noFill/>
        </p:spPr>
        <p:txBody>
          <a:bodyPr vert="horz" wrap="square" lIns="50800" tIns="25400" rIns="50800" bIns="25400" rtlCol="0" anchor="ctr">
            <a:noAutofit/>
          </a:bodyPr>
          <a:lstStyle/>
          <a:p>
            <a:pPr>
              <a:spcBef>
                <a:spcPts val="0"/>
              </a:spcBef>
              <a:spcAft>
                <a:spcPts val="300"/>
              </a:spcAft>
            </a:pPr>
            <a:r>
              <a:rPr lang="en-US" sz="810">
                <a:solidFill>
                  <a:srgbClr val="1F2937"/>
                </a:solidFill>
                <a:latin typeface="Arial" panose="020B0604020202020204" pitchFamily="34" charset="0"/>
              </a:rPr>
              <a:t>Time from fault to alert, vs complaint-led detection</a:t>
            </a:r>
            <a:endParaRPr lang="en-IN" sz="810">
              <a:solidFill>
                <a:srgbClr val="1F2937"/>
              </a:solidFill>
              <a:latin typeface="Arial" panose="020B0604020202020204" pitchFamily="34" charset="0"/>
            </a:endParaRPr>
          </a:p>
        </p:txBody>
      </p:sp>
      <p:sp>
        <p:nvSpPr>
          <p:cNvPr id="54" name="Oval 53">
            <a:extLst>
              <a:ext uri="{FF2B5EF4-FFF2-40B4-BE49-F238E27FC236}">
                <a16:creationId xmlns:a16="http://schemas.microsoft.com/office/drawing/2014/main" id="{EB3C846E-CF44-5175-CA56-C54099CE4F8B}"/>
              </a:ext>
            </a:extLst>
          </p:cNvPr>
          <p:cNvSpPr/>
          <p:nvPr/>
        </p:nvSpPr>
        <p:spPr>
          <a:xfrm>
            <a:off x="9156700" y="452120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2</a:t>
            </a:r>
          </a:p>
        </p:txBody>
      </p:sp>
      <p:sp>
        <p:nvSpPr>
          <p:cNvPr id="55" name="TextBox 54">
            <a:extLst>
              <a:ext uri="{FF2B5EF4-FFF2-40B4-BE49-F238E27FC236}">
                <a16:creationId xmlns:a16="http://schemas.microsoft.com/office/drawing/2014/main" id="{BC8FB986-241D-BA91-8549-D656CAE56251}"/>
              </a:ext>
            </a:extLst>
          </p:cNvPr>
          <p:cNvSpPr txBox="1"/>
          <p:nvPr/>
        </p:nvSpPr>
        <p:spPr>
          <a:xfrm>
            <a:off x="9398000" y="4445000"/>
            <a:ext cx="2451100" cy="381000"/>
          </a:xfrm>
          <a:prstGeom prst="rect">
            <a:avLst/>
          </a:prstGeom>
          <a:noFill/>
        </p:spPr>
        <p:txBody>
          <a:bodyPr vert="horz" wrap="square" lIns="50800" tIns="25400" rIns="50800" bIns="25400" rtlCol="0" anchor="ctr">
            <a:noAutofit/>
          </a:bodyPr>
          <a:lstStyle/>
          <a:p>
            <a:pPr>
              <a:spcBef>
                <a:spcPts val="0"/>
              </a:spcBef>
              <a:spcAft>
                <a:spcPts val="300"/>
              </a:spcAft>
            </a:pPr>
            <a:r>
              <a:rPr lang="en-US" sz="810">
                <a:solidFill>
                  <a:srgbClr val="1F2937"/>
                </a:solidFill>
                <a:latin typeface="Arial" panose="020B0604020202020204" pitchFamily="34" charset="0"/>
              </a:rPr>
              <a:t>Time from alert to verified restoration</a:t>
            </a:r>
            <a:endParaRPr lang="en-IN" sz="810">
              <a:solidFill>
                <a:srgbClr val="1F2937"/>
              </a:solidFill>
              <a:latin typeface="Arial" panose="020B0604020202020204" pitchFamily="34" charset="0"/>
            </a:endParaRPr>
          </a:p>
        </p:txBody>
      </p:sp>
      <p:sp>
        <p:nvSpPr>
          <p:cNvPr id="56" name="Oval 55">
            <a:extLst>
              <a:ext uri="{FF2B5EF4-FFF2-40B4-BE49-F238E27FC236}">
                <a16:creationId xmlns:a16="http://schemas.microsoft.com/office/drawing/2014/main" id="{CF1FD130-A60E-0EB5-BAF6-45086967D7EE}"/>
              </a:ext>
            </a:extLst>
          </p:cNvPr>
          <p:cNvSpPr/>
          <p:nvPr/>
        </p:nvSpPr>
        <p:spPr>
          <a:xfrm>
            <a:off x="6426200" y="490220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3</a:t>
            </a:r>
          </a:p>
        </p:txBody>
      </p:sp>
      <p:sp>
        <p:nvSpPr>
          <p:cNvPr id="57" name="TextBox 56">
            <a:extLst>
              <a:ext uri="{FF2B5EF4-FFF2-40B4-BE49-F238E27FC236}">
                <a16:creationId xmlns:a16="http://schemas.microsoft.com/office/drawing/2014/main" id="{0B59669A-5B09-37BF-1CA8-E13584320197}"/>
              </a:ext>
            </a:extLst>
          </p:cNvPr>
          <p:cNvSpPr txBox="1"/>
          <p:nvPr/>
        </p:nvSpPr>
        <p:spPr>
          <a:xfrm>
            <a:off x="6667500" y="4826000"/>
            <a:ext cx="2451100" cy="381000"/>
          </a:xfrm>
          <a:prstGeom prst="rect">
            <a:avLst/>
          </a:prstGeom>
          <a:noFill/>
        </p:spPr>
        <p:txBody>
          <a:bodyPr vert="horz" wrap="square" lIns="50800" tIns="25400" rIns="50800" bIns="25400" rtlCol="0" anchor="ctr">
            <a:noAutofit/>
          </a:bodyPr>
          <a:lstStyle/>
          <a:p>
            <a:pPr>
              <a:spcBef>
                <a:spcPts val="0"/>
              </a:spcBef>
              <a:spcAft>
                <a:spcPts val="300"/>
              </a:spcAft>
            </a:pPr>
            <a:r>
              <a:rPr lang="en-IN" sz="810">
                <a:solidFill>
                  <a:srgbClr val="1F2937"/>
                </a:solidFill>
                <a:latin typeface="Arial" panose="020B0604020202020204" pitchFamily="34" charset="0"/>
              </a:rPr>
              <a:t>Share of days each household reports water</a:t>
            </a:r>
          </a:p>
        </p:txBody>
      </p:sp>
      <p:sp>
        <p:nvSpPr>
          <p:cNvPr id="58" name="Oval 57">
            <a:extLst>
              <a:ext uri="{FF2B5EF4-FFF2-40B4-BE49-F238E27FC236}">
                <a16:creationId xmlns:a16="http://schemas.microsoft.com/office/drawing/2014/main" id="{D96358D0-AA6B-06A8-2E2E-F3B187023C0D}"/>
              </a:ext>
            </a:extLst>
          </p:cNvPr>
          <p:cNvSpPr/>
          <p:nvPr/>
        </p:nvSpPr>
        <p:spPr>
          <a:xfrm>
            <a:off x="9156700" y="490220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4</a:t>
            </a:r>
          </a:p>
        </p:txBody>
      </p:sp>
      <p:sp>
        <p:nvSpPr>
          <p:cNvPr id="59" name="TextBox 58">
            <a:extLst>
              <a:ext uri="{FF2B5EF4-FFF2-40B4-BE49-F238E27FC236}">
                <a16:creationId xmlns:a16="http://schemas.microsoft.com/office/drawing/2014/main" id="{DB342030-719B-2925-6396-DA0DEC742F5C}"/>
              </a:ext>
            </a:extLst>
          </p:cNvPr>
          <p:cNvSpPr txBox="1"/>
          <p:nvPr/>
        </p:nvSpPr>
        <p:spPr>
          <a:xfrm>
            <a:off x="9398000" y="4826000"/>
            <a:ext cx="2451100" cy="381000"/>
          </a:xfrm>
          <a:prstGeom prst="rect">
            <a:avLst/>
          </a:prstGeom>
          <a:noFill/>
        </p:spPr>
        <p:txBody>
          <a:bodyPr vert="horz" wrap="square" lIns="50800" tIns="25400" rIns="50800" bIns="25400" rtlCol="0" anchor="ctr">
            <a:noAutofit/>
          </a:bodyPr>
          <a:lstStyle/>
          <a:p>
            <a:pPr>
              <a:spcBef>
                <a:spcPts val="0"/>
              </a:spcBef>
              <a:spcAft>
                <a:spcPts val="300"/>
              </a:spcAft>
            </a:pPr>
            <a:r>
              <a:rPr lang="en-US" sz="810">
                <a:solidFill>
                  <a:srgbClr val="1F2937"/>
                </a:solidFill>
                <a:latin typeface="Arial" panose="020B0604020202020204" pitchFamily="34" charset="0"/>
              </a:rPr>
              <a:t>False-alarm rate under the two-evidence rule</a:t>
            </a:r>
            <a:endParaRPr lang="en-IN" sz="810">
              <a:solidFill>
                <a:srgbClr val="1F2937"/>
              </a:solidFill>
              <a:latin typeface="Arial" panose="020B0604020202020204" pitchFamily="34" charset="0"/>
            </a:endParaRPr>
          </a:p>
        </p:txBody>
      </p:sp>
      <p:sp>
        <p:nvSpPr>
          <p:cNvPr id="60" name="Oval 59">
            <a:extLst>
              <a:ext uri="{FF2B5EF4-FFF2-40B4-BE49-F238E27FC236}">
                <a16:creationId xmlns:a16="http://schemas.microsoft.com/office/drawing/2014/main" id="{BF8CCCA4-E6E2-81F5-0D51-D935D6F2EB76}"/>
              </a:ext>
            </a:extLst>
          </p:cNvPr>
          <p:cNvSpPr/>
          <p:nvPr/>
        </p:nvSpPr>
        <p:spPr>
          <a:xfrm>
            <a:off x="6426200" y="528320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5</a:t>
            </a:r>
          </a:p>
        </p:txBody>
      </p:sp>
      <p:sp>
        <p:nvSpPr>
          <p:cNvPr id="61" name="TextBox 60">
            <a:extLst>
              <a:ext uri="{FF2B5EF4-FFF2-40B4-BE49-F238E27FC236}">
                <a16:creationId xmlns:a16="http://schemas.microsoft.com/office/drawing/2014/main" id="{6727C98E-D77F-88A5-7B61-46D23189C103}"/>
              </a:ext>
            </a:extLst>
          </p:cNvPr>
          <p:cNvSpPr txBox="1"/>
          <p:nvPr/>
        </p:nvSpPr>
        <p:spPr>
          <a:xfrm>
            <a:off x="6667500" y="5207000"/>
            <a:ext cx="2451100" cy="381000"/>
          </a:xfrm>
          <a:prstGeom prst="rect">
            <a:avLst/>
          </a:prstGeom>
          <a:noFill/>
        </p:spPr>
        <p:txBody>
          <a:bodyPr vert="horz" wrap="square" lIns="50800" tIns="25400" rIns="50800" bIns="25400" rtlCol="0" anchor="ctr">
            <a:noAutofit/>
          </a:bodyPr>
          <a:lstStyle/>
          <a:p>
            <a:pPr>
              <a:spcBef>
                <a:spcPts val="0"/>
              </a:spcBef>
              <a:spcAft>
                <a:spcPts val="300"/>
              </a:spcAft>
            </a:pPr>
            <a:r>
              <a:rPr lang="en-US" sz="810">
                <a:solidFill>
                  <a:srgbClr val="1F2937"/>
                </a:solidFill>
                <a:latin typeface="Arial" panose="020B0604020202020204" pitchFamily="34" charset="0"/>
              </a:rPr>
              <a:t>Low-chlorine events caught before a kit test</a:t>
            </a:r>
            <a:endParaRPr lang="en-IN" sz="810">
              <a:solidFill>
                <a:srgbClr val="1F2937"/>
              </a:solidFill>
              <a:latin typeface="Arial" panose="020B0604020202020204" pitchFamily="34" charset="0"/>
            </a:endParaRPr>
          </a:p>
        </p:txBody>
      </p:sp>
      <p:sp>
        <p:nvSpPr>
          <p:cNvPr id="62" name="Oval 61">
            <a:extLst>
              <a:ext uri="{FF2B5EF4-FFF2-40B4-BE49-F238E27FC236}">
                <a16:creationId xmlns:a16="http://schemas.microsoft.com/office/drawing/2014/main" id="{69290932-A9E8-7FA2-1447-7D65DE35107D}"/>
              </a:ext>
            </a:extLst>
          </p:cNvPr>
          <p:cNvSpPr/>
          <p:nvPr/>
        </p:nvSpPr>
        <p:spPr>
          <a:xfrm>
            <a:off x="9156700" y="528320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6</a:t>
            </a:r>
          </a:p>
        </p:txBody>
      </p:sp>
      <p:sp>
        <p:nvSpPr>
          <p:cNvPr id="63" name="TextBox 62">
            <a:extLst>
              <a:ext uri="{FF2B5EF4-FFF2-40B4-BE49-F238E27FC236}">
                <a16:creationId xmlns:a16="http://schemas.microsoft.com/office/drawing/2014/main" id="{4ECC83AA-8D62-D846-05E8-632BCD9ED0A8}"/>
              </a:ext>
            </a:extLst>
          </p:cNvPr>
          <p:cNvSpPr txBox="1"/>
          <p:nvPr/>
        </p:nvSpPr>
        <p:spPr>
          <a:xfrm>
            <a:off x="9398000" y="5207000"/>
            <a:ext cx="2451100" cy="381000"/>
          </a:xfrm>
          <a:prstGeom prst="rect">
            <a:avLst/>
          </a:prstGeom>
          <a:noFill/>
        </p:spPr>
        <p:txBody>
          <a:bodyPr vert="horz" wrap="square" lIns="50800" tIns="25400" rIns="50800" bIns="25400" rtlCol="0" anchor="ctr">
            <a:noAutofit/>
          </a:bodyPr>
          <a:lstStyle/>
          <a:p>
            <a:pPr>
              <a:spcBef>
                <a:spcPts val="0"/>
              </a:spcBef>
              <a:spcAft>
                <a:spcPts val="300"/>
              </a:spcAft>
            </a:pPr>
            <a:r>
              <a:rPr lang="en-US" sz="810">
                <a:solidFill>
                  <a:srgbClr val="1F2937"/>
                </a:solidFill>
                <a:latin typeface="Arial" panose="020B0604020202020204" pitchFamily="34" charset="0"/>
              </a:rPr>
              <a:t>Repairs planned from the ranked risk list</a:t>
            </a:r>
            <a:endParaRPr lang="en-IN" sz="810">
              <a:solidFill>
                <a:srgbClr val="1F2937"/>
              </a:solidFill>
              <a:latin typeface="Arial" panose="020B0604020202020204" pitchFamily="34" charset="0"/>
            </a:endParaRPr>
          </a:p>
        </p:txBody>
      </p:sp>
      <p:sp>
        <p:nvSpPr>
          <p:cNvPr id="17408" name="TextBox 17407">
            <a:extLst>
              <a:ext uri="{FF2B5EF4-FFF2-40B4-BE49-F238E27FC236}">
                <a16:creationId xmlns:a16="http://schemas.microsoft.com/office/drawing/2014/main" id="{59F76EEC-B097-0302-25F8-483894E571E8}"/>
              </a:ext>
            </a:extLst>
          </p:cNvPr>
          <p:cNvSpPr txBox="1"/>
          <p:nvPr/>
        </p:nvSpPr>
        <p:spPr>
          <a:xfrm>
            <a:off x="304800" y="6045200"/>
            <a:ext cx="1524000" cy="369332"/>
          </a:xfrm>
          <a:prstGeom prst="rect">
            <a:avLst/>
          </a:prstGeom>
          <a:noFill/>
        </p:spPr>
        <p:txBody>
          <a:bodyPr vert="horz" wrap="square" lIns="50800" tIns="25400" rIns="50800" bIns="25400" rtlCol="0" anchor="ctr">
            <a:noAutofit/>
          </a:bodyPr>
          <a:lstStyle/>
          <a:p>
            <a:pPr>
              <a:spcBef>
                <a:spcPts val="0"/>
              </a:spcBef>
              <a:spcAft>
                <a:spcPts val="300"/>
              </a:spcAft>
            </a:pPr>
            <a:r>
              <a:rPr lang="en-IN" sz="900" b="1">
                <a:solidFill>
                  <a:srgbClr val="0F766E"/>
                </a:solidFill>
                <a:latin typeface="Arial" panose="020B0604020202020204" pitchFamily="34" charset="0"/>
              </a:rPr>
              <a:t>ROADMAP</a:t>
            </a:r>
          </a:p>
        </p:txBody>
      </p:sp>
      <p:sp>
        <p:nvSpPr>
          <p:cNvPr id="17411" name="Rectangle: Rounded Corners 17410">
            <a:extLst>
              <a:ext uri="{FF2B5EF4-FFF2-40B4-BE49-F238E27FC236}">
                <a16:creationId xmlns:a16="http://schemas.microsoft.com/office/drawing/2014/main" id="{5A323852-A5A7-D88A-ECD7-75F98D32CE14}"/>
              </a:ext>
            </a:extLst>
          </p:cNvPr>
          <p:cNvSpPr/>
          <p:nvPr/>
        </p:nvSpPr>
        <p:spPr>
          <a:xfrm>
            <a:off x="1143000" y="6057900"/>
            <a:ext cx="2006600" cy="254000"/>
          </a:xfrm>
          <a:prstGeom prst="roundRect">
            <a:avLst>
              <a:gd name="adj" fmla="val 8000"/>
            </a:avLst>
          </a:prstGeom>
          <a:solidFill>
            <a:srgbClr val="0D9488"/>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25400" tIns="25400" rIns="25400" bIns="25400" rtlCol="0" anchor="ctr"/>
          <a:lstStyle/>
          <a:p>
            <a:pPr algn="ctr">
              <a:spcBef>
                <a:spcPts val="0"/>
              </a:spcBef>
              <a:spcAft>
                <a:spcPts val="300"/>
              </a:spcAft>
            </a:pPr>
            <a:r>
              <a:rPr lang="en-IN" sz="820" b="1">
                <a:solidFill>
                  <a:srgbClr val="FFFFFF"/>
                </a:solidFill>
                <a:latin typeface="Arial" panose="020B0604020202020204" pitchFamily="34" charset="0"/>
              </a:rPr>
              <a:t>Idea submission</a:t>
            </a:r>
          </a:p>
        </p:txBody>
      </p:sp>
      <p:cxnSp>
        <p:nvCxnSpPr>
          <p:cNvPr id="17412" name="Straight Connector 17411">
            <a:extLst>
              <a:ext uri="{FF2B5EF4-FFF2-40B4-BE49-F238E27FC236}">
                <a16:creationId xmlns:a16="http://schemas.microsoft.com/office/drawing/2014/main" id="{40FB17E4-15FA-7B5C-028F-7D04C7A7E7EF}"/>
              </a:ext>
            </a:extLst>
          </p:cNvPr>
          <p:cNvCxnSpPr/>
          <p:nvPr/>
        </p:nvCxnSpPr>
        <p:spPr>
          <a:xfrm>
            <a:off x="3149600" y="6184900"/>
            <a:ext cx="127000" cy="0"/>
          </a:xfrm>
          <a:prstGeom prst="line">
            <a:avLst/>
          </a:prstGeom>
          <a:ln w="15875">
            <a:solidFill>
              <a:srgbClr val="475569"/>
            </a:solidFill>
            <a:tailEnd type="triangle"/>
          </a:ln>
        </p:spPr>
        <p:style>
          <a:lnRef idx="2">
            <a:schemeClr val="accent1"/>
          </a:lnRef>
          <a:fillRef idx="0">
            <a:schemeClr val="accent1"/>
          </a:fillRef>
          <a:effectRef idx="1">
            <a:schemeClr val="accent1"/>
          </a:effectRef>
          <a:fontRef idx="minor">
            <a:schemeClr val="tx1"/>
          </a:fontRef>
        </p:style>
      </p:cxnSp>
      <p:sp>
        <p:nvSpPr>
          <p:cNvPr id="17413" name="Rectangle: Rounded Corners 17412">
            <a:extLst>
              <a:ext uri="{FF2B5EF4-FFF2-40B4-BE49-F238E27FC236}">
                <a16:creationId xmlns:a16="http://schemas.microsoft.com/office/drawing/2014/main" id="{15172304-7530-D2DF-C30D-E8EC02CE9054}"/>
              </a:ext>
            </a:extLst>
          </p:cNvPr>
          <p:cNvSpPr/>
          <p:nvPr/>
        </p:nvSpPr>
        <p:spPr>
          <a:xfrm>
            <a:off x="3276600" y="6057900"/>
            <a:ext cx="2006600" cy="254000"/>
          </a:xfrm>
          <a:prstGeom prst="roundRect">
            <a:avLst>
              <a:gd name="adj" fmla="val 8000"/>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25400" tIns="25400" rIns="25400" bIns="25400" rtlCol="0" anchor="ctr"/>
          <a:lstStyle/>
          <a:p>
            <a:pPr algn="ctr">
              <a:spcBef>
                <a:spcPts val="0"/>
              </a:spcBef>
              <a:spcAft>
                <a:spcPts val="300"/>
              </a:spcAft>
            </a:pPr>
            <a:r>
              <a:rPr lang="en-IN" sz="820" b="1">
                <a:solidFill>
                  <a:srgbClr val="FFFFFF"/>
                </a:solidFill>
                <a:latin typeface="Arial" panose="020B0604020202020204" pitchFamily="34" charset="0"/>
              </a:rPr>
              <a:t>Working software platform</a:t>
            </a:r>
          </a:p>
        </p:txBody>
      </p:sp>
      <p:cxnSp>
        <p:nvCxnSpPr>
          <p:cNvPr id="17414" name="Straight Connector 17413">
            <a:extLst>
              <a:ext uri="{FF2B5EF4-FFF2-40B4-BE49-F238E27FC236}">
                <a16:creationId xmlns:a16="http://schemas.microsoft.com/office/drawing/2014/main" id="{6EE34DCF-2631-4A03-2AA2-645A2FAB1064}"/>
              </a:ext>
            </a:extLst>
          </p:cNvPr>
          <p:cNvCxnSpPr/>
          <p:nvPr/>
        </p:nvCxnSpPr>
        <p:spPr>
          <a:xfrm>
            <a:off x="5283200" y="6184900"/>
            <a:ext cx="127000" cy="0"/>
          </a:xfrm>
          <a:prstGeom prst="line">
            <a:avLst/>
          </a:prstGeom>
          <a:ln w="15875">
            <a:solidFill>
              <a:srgbClr val="475569"/>
            </a:solidFill>
            <a:tailEnd type="triangle"/>
          </a:ln>
        </p:spPr>
        <p:style>
          <a:lnRef idx="2">
            <a:schemeClr val="accent1"/>
          </a:lnRef>
          <a:fillRef idx="0">
            <a:schemeClr val="accent1"/>
          </a:fillRef>
          <a:effectRef idx="1">
            <a:schemeClr val="accent1"/>
          </a:effectRef>
          <a:fontRef idx="minor">
            <a:schemeClr val="tx1"/>
          </a:fontRef>
        </p:style>
      </p:cxnSp>
      <p:sp>
        <p:nvSpPr>
          <p:cNvPr id="17415" name="Rectangle: Rounded Corners 17414">
            <a:extLst>
              <a:ext uri="{FF2B5EF4-FFF2-40B4-BE49-F238E27FC236}">
                <a16:creationId xmlns:a16="http://schemas.microsoft.com/office/drawing/2014/main" id="{ADA451BF-544C-182C-1DE3-CE4EFB40D1D3}"/>
              </a:ext>
            </a:extLst>
          </p:cNvPr>
          <p:cNvSpPr/>
          <p:nvPr/>
        </p:nvSpPr>
        <p:spPr>
          <a:xfrm>
            <a:off x="5410200" y="6057900"/>
            <a:ext cx="2006600" cy="254000"/>
          </a:xfrm>
          <a:prstGeom prst="roundRect">
            <a:avLst>
              <a:gd name="adj" fmla="val 8000"/>
            </a:avLst>
          </a:prstGeom>
          <a:solidFill>
            <a:srgbClr val="0D9488"/>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25400" tIns="25400" rIns="25400" bIns="25400" rtlCol="0" anchor="ctr"/>
          <a:lstStyle/>
          <a:p>
            <a:pPr algn="ctr">
              <a:spcBef>
                <a:spcPts val="0"/>
              </a:spcBef>
              <a:spcAft>
                <a:spcPts val="300"/>
              </a:spcAft>
            </a:pPr>
            <a:r>
              <a:rPr lang="en-US" sz="820" b="1">
                <a:solidFill>
                  <a:srgbClr val="FFFFFF"/>
                </a:solidFill>
                <a:latin typeface="Arial" panose="020B0604020202020204" pitchFamily="34" charset="0"/>
              </a:rPr>
              <a:t>Bench rig with real nodes</a:t>
            </a:r>
            <a:endParaRPr lang="en-IN" sz="820" b="1">
              <a:solidFill>
                <a:srgbClr val="FFFFFF"/>
              </a:solidFill>
              <a:latin typeface="Arial" panose="020B0604020202020204" pitchFamily="34" charset="0"/>
            </a:endParaRPr>
          </a:p>
        </p:txBody>
      </p:sp>
      <p:cxnSp>
        <p:nvCxnSpPr>
          <p:cNvPr id="17416" name="Straight Connector 17415">
            <a:extLst>
              <a:ext uri="{FF2B5EF4-FFF2-40B4-BE49-F238E27FC236}">
                <a16:creationId xmlns:a16="http://schemas.microsoft.com/office/drawing/2014/main" id="{CA434A35-7BD6-20ED-7879-C2DA9516E020}"/>
              </a:ext>
            </a:extLst>
          </p:cNvPr>
          <p:cNvCxnSpPr/>
          <p:nvPr/>
        </p:nvCxnSpPr>
        <p:spPr>
          <a:xfrm>
            <a:off x="7416800" y="6184900"/>
            <a:ext cx="127000" cy="0"/>
          </a:xfrm>
          <a:prstGeom prst="line">
            <a:avLst/>
          </a:prstGeom>
          <a:ln w="15875">
            <a:solidFill>
              <a:srgbClr val="475569"/>
            </a:solidFill>
            <a:tailEnd type="triangle"/>
          </a:ln>
        </p:spPr>
        <p:style>
          <a:lnRef idx="2">
            <a:schemeClr val="accent1"/>
          </a:lnRef>
          <a:fillRef idx="0">
            <a:schemeClr val="accent1"/>
          </a:fillRef>
          <a:effectRef idx="1">
            <a:schemeClr val="accent1"/>
          </a:effectRef>
          <a:fontRef idx="minor">
            <a:schemeClr val="tx1"/>
          </a:fontRef>
        </p:style>
      </p:cxnSp>
      <p:sp>
        <p:nvSpPr>
          <p:cNvPr id="17417" name="Rectangle: Rounded Corners 17416">
            <a:extLst>
              <a:ext uri="{FF2B5EF4-FFF2-40B4-BE49-F238E27FC236}">
                <a16:creationId xmlns:a16="http://schemas.microsoft.com/office/drawing/2014/main" id="{E6A3BC8A-4C12-0D00-CF6D-CD736763D57F}"/>
              </a:ext>
            </a:extLst>
          </p:cNvPr>
          <p:cNvSpPr/>
          <p:nvPr/>
        </p:nvSpPr>
        <p:spPr>
          <a:xfrm>
            <a:off x="7543800" y="6057900"/>
            <a:ext cx="2006600" cy="254000"/>
          </a:xfrm>
          <a:prstGeom prst="roundRect">
            <a:avLst>
              <a:gd name="adj" fmla="val 8000"/>
            </a:avLst>
          </a:prstGeom>
          <a:solidFill>
            <a:srgbClr val="0D9488"/>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25400" tIns="25400" rIns="25400" bIns="25400" rtlCol="0" anchor="ctr"/>
          <a:lstStyle/>
          <a:p>
            <a:pPr algn="ctr">
              <a:spcBef>
                <a:spcPts val="0"/>
              </a:spcBef>
              <a:spcAft>
                <a:spcPts val="300"/>
              </a:spcAft>
            </a:pPr>
            <a:r>
              <a:rPr lang="en-IN" sz="820" b="1">
                <a:solidFill>
                  <a:srgbClr val="FFFFFF"/>
                </a:solidFill>
                <a:latin typeface="Arial" panose="020B0604020202020204" pitchFamily="34" charset="0"/>
              </a:rPr>
              <a:t>Finale demo</a:t>
            </a:r>
          </a:p>
        </p:txBody>
      </p:sp>
      <p:cxnSp>
        <p:nvCxnSpPr>
          <p:cNvPr id="17418" name="Straight Connector 17417">
            <a:extLst>
              <a:ext uri="{FF2B5EF4-FFF2-40B4-BE49-F238E27FC236}">
                <a16:creationId xmlns:a16="http://schemas.microsoft.com/office/drawing/2014/main" id="{AED19E66-BC8E-D803-B379-C1C8149B545F}"/>
              </a:ext>
            </a:extLst>
          </p:cNvPr>
          <p:cNvCxnSpPr/>
          <p:nvPr/>
        </p:nvCxnSpPr>
        <p:spPr>
          <a:xfrm>
            <a:off x="9550400" y="6184900"/>
            <a:ext cx="127000" cy="0"/>
          </a:xfrm>
          <a:prstGeom prst="line">
            <a:avLst/>
          </a:prstGeom>
          <a:ln w="15875">
            <a:solidFill>
              <a:srgbClr val="475569"/>
            </a:solidFill>
            <a:tailEnd type="triangle"/>
          </a:ln>
        </p:spPr>
        <p:style>
          <a:lnRef idx="2">
            <a:schemeClr val="accent1"/>
          </a:lnRef>
          <a:fillRef idx="0">
            <a:schemeClr val="accent1"/>
          </a:fillRef>
          <a:effectRef idx="1">
            <a:schemeClr val="accent1"/>
          </a:effectRef>
          <a:fontRef idx="minor">
            <a:schemeClr val="tx1"/>
          </a:fontRef>
        </p:style>
      </p:cxnSp>
      <p:sp>
        <p:nvSpPr>
          <p:cNvPr id="17419" name="Rectangle: Rounded Corners 17418">
            <a:extLst>
              <a:ext uri="{FF2B5EF4-FFF2-40B4-BE49-F238E27FC236}">
                <a16:creationId xmlns:a16="http://schemas.microsoft.com/office/drawing/2014/main" id="{81CEE2F3-0554-BFD6-7E48-4544C722523E}"/>
              </a:ext>
            </a:extLst>
          </p:cNvPr>
          <p:cNvSpPr/>
          <p:nvPr/>
        </p:nvSpPr>
        <p:spPr>
          <a:xfrm>
            <a:off x="9677400" y="6057900"/>
            <a:ext cx="2006600" cy="254000"/>
          </a:xfrm>
          <a:prstGeom prst="roundRect">
            <a:avLst>
              <a:gd name="adj" fmla="val 8000"/>
            </a:avLst>
          </a:prstGeom>
          <a:solidFill>
            <a:srgbClr val="475569"/>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25400" tIns="25400" rIns="25400" bIns="25400" rtlCol="0" anchor="ctr"/>
          <a:lstStyle/>
          <a:p>
            <a:pPr algn="ctr">
              <a:spcBef>
                <a:spcPts val="0"/>
              </a:spcBef>
              <a:spcAft>
                <a:spcPts val="300"/>
              </a:spcAft>
            </a:pPr>
            <a:r>
              <a:rPr lang="en-IN" sz="820" b="1">
                <a:solidFill>
                  <a:srgbClr val="FFFFFF"/>
                </a:solidFill>
                <a:latin typeface="Arial" panose="020B0604020202020204" pitchFamily="34" charset="0"/>
              </a:rPr>
              <a:t>Field pilot</a:t>
            </a:r>
          </a:p>
        </p:txBody>
      </p:sp>
      <p:sp>
        <p:nvSpPr>
          <p:cNvPr id="4" name="Rectangle: Rounded Corners 3">
            <a:extLst>
              <a:ext uri="{FF2B5EF4-FFF2-40B4-BE49-F238E27FC236}">
                <a16:creationId xmlns:a16="http://schemas.microsoft.com/office/drawing/2014/main" id="{F5139FEE-0AE8-5BF9-418C-D13BAB80D08A}"/>
              </a:ext>
            </a:extLst>
          </p:cNvPr>
          <p:cNvSpPr/>
          <p:nvPr/>
        </p:nvSpPr>
        <p:spPr>
          <a:xfrm>
            <a:off x="304800" y="5664200"/>
            <a:ext cx="11582400" cy="330200"/>
          </a:xfrm>
          <a:prstGeom prst="roundRect">
            <a:avLst>
              <a:gd name="adj" fmla="val 25000"/>
            </a:avLst>
          </a:prstGeom>
          <a:solidFill>
            <a:srgbClr val="FEF3C7"/>
          </a:solidFill>
          <a:ln w="9525">
            <a:solidFill>
              <a:srgbClr val="B45309"/>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4" name="Rectangle: Rounded Corners 13">
            <a:extLst>
              <a:ext uri="{FF2B5EF4-FFF2-40B4-BE49-F238E27FC236}">
                <a16:creationId xmlns:a16="http://schemas.microsoft.com/office/drawing/2014/main" id="{D89193D0-3797-7544-41D7-BDA828283F97}"/>
              </a:ext>
            </a:extLst>
          </p:cNvPr>
          <p:cNvSpPr/>
          <p:nvPr/>
        </p:nvSpPr>
        <p:spPr>
          <a:xfrm>
            <a:off x="355600" y="5702300"/>
            <a:ext cx="1320800" cy="254000"/>
          </a:xfrm>
          <a:prstGeom prst="roundRect">
            <a:avLst>
              <a:gd name="adj" fmla="val 50000"/>
            </a:avLst>
          </a:prstGeom>
          <a:solidFill>
            <a:srgbClr val="B45309"/>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25400" tIns="0" rIns="25400" bIns="0" rtlCol="0" anchor="ctr"/>
          <a:lstStyle/>
          <a:p>
            <a:pPr algn="ctr"/>
            <a:r>
              <a:rPr lang="en-IN" sz="900" b="1">
                <a:solidFill>
                  <a:srgbClr val="FFFFFF"/>
                </a:solidFill>
                <a:latin typeface="Arial" panose="020B0604020202020204" pitchFamily="34" charset="0"/>
              </a:rPr>
              <a:t>FUTURE SCOPE</a:t>
            </a:r>
          </a:p>
        </p:txBody>
      </p:sp>
      <p:sp>
        <p:nvSpPr>
          <p:cNvPr id="19" name="TextBox 18">
            <a:extLst>
              <a:ext uri="{FF2B5EF4-FFF2-40B4-BE49-F238E27FC236}">
                <a16:creationId xmlns:a16="http://schemas.microsoft.com/office/drawing/2014/main" id="{E9D6E8B7-0528-6C44-DBA0-B61175A5E706}"/>
              </a:ext>
            </a:extLst>
          </p:cNvPr>
          <p:cNvSpPr txBox="1"/>
          <p:nvPr/>
        </p:nvSpPr>
        <p:spPr>
          <a:xfrm>
            <a:off x="1752600" y="5676899"/>
            <a:ext cx="10083800" cy="304800"/>
          </a:xfrm>
          <a:prstGeom prst="rect">
            <a:avLst/>
          </a:prstGeom>
          <a:noFill/>
        </p:spPr>
        <p:txBody>
          <a:bodyPr vert="horz" wrap="square" lIns="25400" tIns="0" bIns="0" rtlCol="0" anchor="ctr">
            <a:noAutofit/>
          </a:bodyPr>
          <a:lstStyle/>
          <a:p>
            <a:r>
              <a:rPr lang="en-US" sz="860" b="1">
                <a:solidFill>
                  <a:srgbClr val="1F2937"/>
                </a:solidFill>
                <a:latin typeface="Arial" panose="020B0604020202020204" pitchFamily="34" charset="0"/>
              </a:rPr>
              <a:t>Public village water report card</a:t>
            </a:r>
            <a:r>
              <a:rPr lang="en-US" sz="860">
                <a:solidFill>
                  <a:srgbClr val="1F2937"/>
                </a:solidFill>
                <a:latin typeface="Arial" panose="020B0604020202020204" pitchFamily="34" charset="0"/>
              </a:rPr>
              <a:t> (share of working taps, repair time, last quality test; no personal data)    </a:t>
            </a:r>
            <a:r>
              <a:rPr lang="en-US" sz="860" b="1">
                <a:solidFill>
                  <a:srgbClr val="1F2937"/>
                </a:solidFill>
                <a:latin typeface="Arial" panose="020B0604020202020204" pitchFamily="34" charset="0"/>
              </a:rPr>
              <a:t>WhatsApp / SMS task alerts</a:t>
            </a:r>
            <a:r>
              <a:rPr lang="en-US" sz="860">
                <a:solidFill>
                  <a:srgbClr val="1F2937"/>
                </a:solidFill>
                <a:latin typeface="Arial" panose="020B0604020202020204" pitchFamily="34" charset="0"/>
              </a:rPr>
              <a:t> to linemen and pump operators</a:t>
            </a:r>
            <a:endParaRPr lang="en-IN" sz="860">
              <a:solidFill>
                <a:srgbClr val="1F2937"/>
              </a:solidFill>
              <a:latin typeface="Arial" panose="020B0604020202020204" pitchFamily="34" charset="0"/>
            </a:endParaRPr>
          </a:p>
        </p:txBody>
      </p:sp>
      <p:pic>
        <p:nvPicPr>
          <p:cNvPr id="29" name="Picture 28">
            <a:extLst>
              <a:ext uri="{FF2B5EF4-FFF2-40B4-BE49-F238E27FC236}">
                <a16:creationId xmlns:a16="http://schemas.microsoft.com/office/drawing/2014/main" id="{86441FEB-E61F-E8F6-43A4-5BD6107FD7F4}"/>
              </a:ext>
            </a:extLst>
          </p:cNvPr>
          <p:cNvPicPr>
            <a:picLocks/>
          </p:cNvPicPr>
          <p:nvPr/>
        </p:nvPicPr>
        <p:blipFill>
          <a:blip r:embed="rId9"/>
          <a:stretch>
            <a:fillRect/>
          </a:stretch>
        </p:blipFill>
        <p:spPr>
          <a:xfrm>
            <a:off x="304800" y="4140200"/>
            <a:ext cx="5969000" cy="1473200"/>
          </a:xfrm>
          <a:prstGeom prst="rect">
            <a:avLst/>
          </a:prstGeom>
        </p:spPr>
      </p:pic>
    </p:spTree>
    <p:extLst>
      <p:ext uri="{BB962C8B-B14F-4D97-AF65-F5344CB8AC3E}">
        <p14:creationId xmlns:p14="http://schemas.microsoft.com/office/powerpoint/2010/main" val="2997144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RESEARCH  AND REFERENCES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9" name="Oval 8"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100"/>
              <a:t>Team Vistaar</a:t>
            </a:r>
            <a:endParaRPr lang="en-IN" sz="1100"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2" name="TextBox 1">
            <a:extLst>
              <a:ext uri="{FF2B5EF4-FFF2-40B4-BE49-F238E27FC236}">
                <a16:creationId xmlns:a16="http://schemas.microsoft.com/office/drawing/2014/main" id="{E98EACDB-45CB-6042-483B-470671A2C8F4}"/>
              </a:ext>
            </a:extLst>
          </p:cNvPr>
          <p:cNvSpPr txBox="1"/>
          <p:nvPr/>
        </p:nvSpPr>
        <p:spPr>
          <a:xfrm>
            <a:off x="304800" y="1117600"/>
            <a:ext cx="52070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1100" b="1">
                <a:solidFill>
                  <a:srgbClr val="0F766E"/>
                </a:solidFill>
                <a:latin typeface="Arial" panose="020B0604020202020204" pitchFamily="34" charset="0"/>
              </a:rPr>
              <a:t>Details / links of the reference and research work</a:t>
            </a:r>
            <a:endParaRPr lang="en-IN" sz="1100" b="1">
              <a:solidFill>
                <a:srgbClr val="0F766E"/>
              </a:solidFill>
              <a:latin typeface="Arial" panose="020B0604020202020204" pitchFamily="34" charset="0"/>
            </a:endParaRPr>
          </a:p>
        </p:txBody>
      </p:sp>
      <p:sp>
        <p:nvSpPr>
          <p:cNvPr id="3" name="TextBox 2">
            <a:extLst>
              <a:ext uri="{FF2B5EF4-FFF2-40B4-BE49-F238E27FC236}">
                <a16:creationId xmlns:a16="http://schemas.microsoft.com/office/drawing/2014/main" id="{358B6F66-8EE7-1FB4-65EE-9CDB78695CA4}"/>
              </a:ext>
            </a:extLst>
          </p:cNvPr>
          <p:cNvSpPr txBox="1"/>
          <p:nvPr/>
        </p:nvSpPr>
        <p:spPr>
          <a:xfrm>
            <a:off x="304800" y="1371600"/>
            <a:ext cx="52324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860" b="1">
                <a:solidFill>
                  <a:srgbClr val="0F766E"/>
                </a:solidFill>
                <a:latin typeface="Arial" panose="020B0604020202020204" pitchFamily="34" charset="0"/>
              </a:rPr>
              <a:t>[1] </a:t>
            </a:r>
            <a:r>
              <a:rPr lang="en-IN" sz="860">
                <a:solidFill>
                  <a:srgbClr val="1F2937"/>
                </a:solidFill>
                <a:latin typeface="Arial" panose="020B0604020202020204" pitchFamily="34" charset="0"/>
              </a:rPr>
              <a:t>DDWS, Functionality Assessment of Household Tap Connection, National Report 2024</a:t>
            </a:r>
          </a:p>
          <a:p>
            <a:pPr>
              <a:spcBef>
                <a:spcPts val="0"/>
              </a:spcBef>
              <a:spcAft>
                <a:spcPts val="300"/>
              </a:spcAft>
            </a:pPr>
            <a:r>
              <a:rPr lang="en-IN" sz="700">
                <a:solidFill>
                  <a:srgbClr val="0070C0"/>
                </a:solidFill>
                <a:latin typeface="Arial" panose="020B0604020202020204" pitchFamily="34" charset="0"/>
                <a:hlinkClick r:id="rId4"/>
              </a:rPr>
              <a:t>jaljeevanmission.gov.in/sites/default/files/2025-12/FHTC_Na...</a:t>
            </a:r>
            <a:endParaRPr lang="en-IN" sz="700">
              <a:solidFill>
                <a:srgbClr val="0070C0"/>
              </a:solidFill>
              <a:latin typeface="Arial" panose="020B0604020202020204" pitchFamily="34" charset="0"/>
            </a:endParaRPr>
          </a:p>
        </p:txBody>
      </p:sp>
      <p:sp>
        <p:nvSpPr>
          <p:cNvPr id="4" name="TextBox 3">
            <a:extLst>
              <a:ext uri="{FF2B5EF4-FFF2-40B4-BE49-F238E27FC236}">
                <a16:creationId xmlns:a16="http://schemas.microsoft.com/office/drawing/2014/main" id="{E57BC858-360C-371A-2CF3-D51A1FDA3AAF}"/>
              </a:ext>
            </a:extLst>
          </p:cNvPr>
          <p:cNvSpPr txBox="1"/>
          <p:nvPr/>
        </p:nvSpPr>
        <p:spPr>
          <a:xfrm>
            <a:off x="304800" y="1714500"/>
            <a:ext cx="52324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860" b="1">
                <a:solidFill>
                  <a:srgbClr val="0F766E"/>
                </a:solidFill>
                <a:latin typeface="Arial" panose="020B0604020202020204" pitchFamily="34" charset="0"/>
              </a:rPr>
              <a:t>[2] </a:t>
            </a:r>
            <a:r>
              <a:rPr lang="en-IN" sz="860">
                <a:solidFill>
                  <a:srgbClr val="1F2937"/>
                </a:solidFill>
                <a:latin typeface="Arial" panose="020B0604020202020204" pitchFamily="34" charset="0"/>
              </a:rPr>
              <a:t>PIB, 13 Aug 2026: 75% of rural habitations covered with Sujal Gaon IDs</a:t>
            </a:r>
          </a:p>
          <a:p>
            <a:pPr>
              <a:spcBef>
                <a:spcPts val="0"/>
              </a:spcBef>
              <a:spcAft>
                <a:spcPts val="300"/>
              </a:spcAft>
            </a:pPr>
            <a:r>
              <a:rPr lang="en-IN" sz="700">
                <a:solidFill>
                  <a:srgbClr val="0070C0"/>
                </a:solidFill>
                <a:latin typeface="Arial" panose="020B0604020202020204" pitchFamily="34" charset="0"/>
                <a:hlinkClick r:id="rId5"/>
              </a:rPr>
              <a:t>pib.gov.in/PressReleasePage.aspx?PRID=2298959</a:t>
            </a:r>
            <a:endParaRPr lang="en-IN" sz="700">
              <a:solidFill>
                <a:srgbClr val="0070C0"/>
              </a:solidFill>
              <a:latin typeface="Arial" panose="020B0604020202020204" pitchFamily="34" charset="0"/>
            </a:endParaRPr>
          </a:p>
        </p:txBody>
      </p:sp>
      <p:sp>
        <p:nvSpPr>
          <p:cNvPr id="5" name="TextBox 4">
            <a:extLst>
              <a:ext uri="{FF2B5EF4-FFF2-40B4-BE49-F238E27FC236}">
                <a16:creationId xmlns:a16="http://schemas.microsoft.com/office/drawing/2014/main" id="{EB03F12F-0F33-115A-D3B8-CAD9C7EDE073}"/>
              </a:ext>
            </a:extLst>
          </p:cNvPr>
          <p:cNvSpPr txBox="1"/>
          <p:nvPr/>
        </p:nvSpPr>
        <p:spPr>
          <a:xfrm>
            <a:off x="304800" y="2057400"/>
            <a:ext cx="52324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860" b="1">
                <a:solidFill>
                  <a:srgbClr val="0F766E"/>
                </a:solidFill>
                <a:latin typeface="Arial" panose="020B0604020202020204" pitchFamily="34" charset="0"/>
              </a:rPr>
              <a:t>[3] </a:t>
            </a:r>
            <a:r>
              <a:rPr lang="en-IN" sz="860">
                <a:solidFill>
                  <a:srgbClr val="1F2937"/>
                </a:solidFill>
                <a:latin typeface="Arial" panose="020B0604020202020204" pitchFamily="34" charset="0"/>
              </a:rPr>
              <a:t>PIB, 30 Dec 2025: Jal Seva Aankalan launched</a:t>
            </a:r>
          </a:p>
          <a:p>
            <a:pPr>
              <a:spcBef>
                <a:spcPts val="0"/>
              </a:spcBef>
              <a:spcAft>
                <a:spcPts val="300"/>
              </a:spcAft>
            </a:pPr>
            <a:r>
              <a:rPr lang="en-IN" sz="700">
                <a:solidFill>
                  <a:srgbClr val="0070C0"/>
                </a:solidFill>
                <a:latin typeface="Arial" panose="020B0604020202020204" pitchFamily="34" charset="0"/>
                <a:hlinkClick r:id="rId6"/>
              </a:rPr>
              <a:t>pib.gov.in/PressReleasePage.aspx?PRID=2209798</a:t>
            </a:r>
            <a:endParaRPr lang="en-IN" sz="700">
              <a:solidFill>
                <a:srgbClr val="0070C0"/>
              </a:solidFill>
              <a:latin typeface="Arial" panose="020B0604020202020204" pitchFamily="34" charset="0"/>
            </a:endParaRPr>
          </a:p>
        </p:txBody>
      </p:sp>
      <p:sp>
        <p:nvSpPr>
          <p:cNvPr id="8" name="TextBox 7">
            <a:extLst>
              <a:ext uri="{FF2B5EF4-FFF2-40B4-BE49-F238E27FC236}">
                <a16:creationId xmlns:a16="http://schemas.microsoft.com/office/drawing/2014/main" id="{44B650C5-CC3F-B1DA-8B7B-B65D71198A49}"/>
              </a:ext>
            </a:extLst>
          </p:cNvPr>
          <p:cNvSpPr txBox="1"/>
          <p:nvPr/>
        </p:nvSpPr>
        <p:spPr>
          <a:xfrm>
            <a:off x="304800" y="2400300"/>
            <a:ext cx="52324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860" b="1">
                <a:solidFill>
                  <a:srgbClr val="0F766E"/>
                </a:solidFill>
                <a:latin typeface="Arial" panose="020B0604020202020204" pitchFamily="34" charset="0"/>
              </a:rPr>
              <a:t>[4] </a:t>
            </a:r>
            <a:r>
              <a:rPr lang="en-IN" sz="860">
                <a:solidFill>
                  <a:srgbClr val="1F2937"/>
                </a:solidFill>
                <a:latin typeface="Arial" panose="020B0604020202020204" pitchFamily="34" charset="0"/>
              </a:rPr>
              <a:t>Cabinet, 10 Mar 2026: JJM extended to Dec 2028, service-delivery focus</a:t>
            </a:r>
          </a:p>
          <a:p>
            <a:pPr>
              <a:spcBef>
                <a:spcPts val="0"/>
              </a:spcBef>
              <a:spcAft>
                <a:spcPts val="300"/>
              </a:spcAft>
            </a:pPr>
            <a:r>
              <a:rPr lang="en-IN" sz="700">
                <a:solidFill>
                  <a:srgbClr val="0070C0"/>
                </a:solidFill>
                <a:latin typeface="Arial" panose="020B0604020202020204" pitchFamily="34" charset="0"/>
                <a:hlinkClick r:id="rId7"/>
              </a:rPr>
              <a:t>pmindia.gov.in/en/news_updates/cabinet-approves-extension-of-jal-jeevan-mission...</a:t>
            </a:r>
            <a:endParaRPr lang="en-IN" sz="700">
              <a:solidFill>
                <a:srgbClr val="0070C0"/>
              </a:solidFill>
              <a:latin typeface="Arial" panose="020B0604020202020204" pitchFamily="34" charset="0"/>
            </a:endParaRPr>
          </a:p>
        </p:txBody>
      </p:sp>
      <p:sp>
        <p:nvSpPr>
          <p:cNvPr id="11" name="TextBox 10">
            <a:extLst>
              <a:ext uri="{FF2B5EF4-FFF2-40B4-BE49-F238E27FC236}">
                <a16:creationId xmlns:a16="http://schemas.microsoft.com/office/drawing/2014/main" id="{7663026B-EA16-C26C-F7CC-14A443F3D4FC}"/>
              </a:ext>
            </a:extLst>
          </p:cNvPr>
          <p:cNvSpPr txBox="1"/>
          <p:nvPr/>
        </p:nvSpPr>
        <p:spPr>
          <a:xfrm>
            <a:off x="304800" y="2743200"/>
            <a:ext cx="52324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860" b="1">
                <a:solidFill>
                  <a:srgbClr val="0F766E"/>
                </a:solidFill>
                <a:latin typeface="Arial" panose="020B0604020202020204" pitchFamily="34" charset="0"/>
              </a:rPr>
              <a:t>[5] </a:t>
            </a:r>
            <a:r>
              <a:rPr lang="en-IN" sz="860">
                <a:solidFill>
                  <a:srgbClr val="1F2937"/>
                </a:solidFill>
                <a:latin typeface="Arial" panose="020B0604020202020204" pitchFamily="34" charset="0"/>
              </a:rPr>
              <a:t>JJM Dashboard (coverage, GIS, IoT pilot view)</a:t>
            </a:r>
          </a:p>
          <a:p>
            <a:pPr>
              <a:spcBef>
                <a:spcPts val="0"/>
              </a:spcBef>
              <a:spcAft>
                <a:spcPts val="300"/>
              </a:spcAft>
            </a:pPr>
            <a:r>
              <a:rPr lang="en-IN" sz="700">
                <a:solidFill>
                  <a:srgbClr val="0070C0"/>
                </a:solidFill>
                <a:latin typeface="Arial" panose="020B0604020202020204" pitchFamily="34" charset="0"/>
                <a:hlinkClick r:id="rId8"/>
              </a:rPr>
              <a:t>ejalshakti.gov.in/JJMReport/JJMIndia.aspx</a:t>
            </a:r>
            <a:endParaRPr lang="en-IN" sz="700">
              <a:solidFill>
                <a:srgbClr val="0070C0"/>
              </a:solidFill>
              <a:latin typeface="Arial" panose="020B0604020202020204" pitchFamily="34" charset="0"/>
            </a:endParaRPr>
          </a:p>
        </p:txBody>
      </p:sp>
      <p:sp>
        <p:nvSpPr>
          <p:cNvPr id="13" name="TextBox 12">
            <a:extLst>
              <a:ext uri="{FF2B5EF4-FFF2-40B4-BE49-F238E27FC236}">
                <a16:creationId xmlns:a16="http://schemas.microsoft.com/office/drawing/2014/main" id="{0C3E71B0-E157-4947-79D7-DA99583687EF}"/>
              </a:ext>
            </a:extLst>
          </p:cNvPr>
          <p:cNvSpPr txBox="1"/>
          <p:nvPr/>
        </p:nvSpPr>
        <p:spPr>
          <a:xfrm>
            <a:off x="304800" y="3086100"/>
            <a:ext cx="52324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860" b="1">
                <a:solidFill>
                  <a:srgbClr val="0F766E"/>
                </a:solidFill>
                <a:latin typeface="Arial" panose="020B0604020202020204" pitchFamily="34" charset="0"/>
              </a:rPr>
              <a:t>[6] </a:t>
            </a:r>
            <a:r>
              <a:rPr lang="en-IN" sz="860">
                <a:solidFill>
                  <a:srgbClr val="1F2937"/>
                </a:solidFill>
                <a:latin typeface="Arial" panose="020B0604020202020204" pitchFamily="34" charset="0"/>
              </a:rPr>
              <a:t>JJM-WQMIS (laboratory and FTK water-quality testing)</a:t>
            </a:r>
          </a:p>
          <a:p>
            <a:pPr>
              <a:spcBef>
                <a:spcPts val="0"/>
              </a:spcBef>
              <a:spcAft>
                <a:spcPts val="300"/>
              </a:spcAft>
            </a:pPr>
            <a:r>
              <a:rPr lang="en-IN" sz="700">
                <a:solidFill>
                  <a:srgbClr val="0070C0"/>
                </a:solidFill>
                <a:latin typeface="Arial" panose="020B0604020202020204" pitchFamily="34" charset="0"/>
                <a:hlinkClick r:id="rId9"/>
              </a:rPr>
              <a:t>ejalshakti.gov.in/WQMIS/</a:t>
            </a:r>
            <a:endParaRPr lang="en-IN" sz="700">
              <a:solidFill>
                <a:srgbClr val="0070C0"/>
              </a:solidFill>
              <a:latin typeface="Arial" panose="020B0604020202020204" pitchFamily="34" charset="0"/>
            </a:endParaRPr>
          </a:p>
        </p:txBody>
      </p:sp>
      <p:sp>
        <p:nvSpPr>
          <p:cNvPr id="14" name="TextBox 13">
            <a:extLst>
              <a:ext uri="{FF2B5EF4-FFF2-40B4-BE49-F238E27FC236}">
                <a16:creationId xmlns:a16="http://schemas.microsoft.com/office/drawing/2014/main" id="{178A04C5-BCCB-2B40-2B83-3EC63BA32FD6}"/>
              </a:ext>
            </a:extLst>
          </p:cNvPr>
          <p:cNvSpPr txBox="1"/>
          <p:nvPr/>
        </p:nvSpPr>
        <p:spPr>
          <a:xfrm>
            <a:off x="304800" y="3429000"/>
            <a:ext cx="52324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860" b="1">
                <a:solidFill>
                  <a:srgbClr val="0F766E"/>
                </a:solidFill>
                <a:latin typeface="Arial" panose="020B0604020202020204" pitchFamily="34" charset="0"/>
              </a:rPr>
              <a:t>[7] </a:t>
            </a:r>
            <a:r>
              <a:rPr lang="en-IN" sz="860">
                <a:solidFill>
                  <a:srgbClr val="1F2937"/>
                </a:solidFill>
                <a:latin typeface="Arial" panose="020B0604020202020204" pitchFamily="34" charset="0"/>
              </a:rPr>
              <a:t>PIB, 31 Mar 2021: JJM deploys sensor-based IoT devices (off-grid pilot)</a:t>
            </a:r>
          </a:p>
          <a:p>
            <a:pPr>
              <a:spcBef>
                <a:spcPts val="0"/>
              </a:spcBef>
              <a:spcAft>
                <a:spcPts val="300"/>
              </a:spcAft>
            </a:pPr>
            <a:r>
              <a:rPr lang="en-IN" sz="700">
                <a:solidFill>
                  <a:srgbClr val="0070C0"/>
                </a:solidFill>
                <a:latin typeface="Arial" panose="020B0604020202020204" pitchFamily="34" charset="0"/>
                <a:hlinkClick r:id="rId10"/>
              </a:rPr>
              <a:t>pib.gov.in/PressReleaseIframePage.aspx?PRID=1708701</a:t>
            </a:r>
            <a:endParaRPr lang="en-IN" sz="700">
              <a:solidFill>
                <a:srgbClr val="0070C0"/>
              </a:solidFill>
              <a:latin typeface="Arial" panose="020B0604020202020204" pitchFamily="34" charset="0"/>
            </a:endParaRPr>
          </a:p>
        </p:txBody>
      </p:sp>
      <p:sp>
        <p:nvSpPr>
          <p:cNvPr id="15" name="TextBox 14">
            <a:extLst>
              <a:ext uri="{FF2B5EF4-FFF2-40B4-BE49-F238E27FC236}">
                <a16:creationId xmlns:a16="http://schemas.microsoft.com/office/drawing/2014/main" id="{0568D203-A920-488A-EC2A-DC0EA3911F48}"/>
              </a:ext>
            </a:extLst>
          </p:cNvPr>
          <p:cNvSpPr txBox="1"/>
          <p:nvPr/>
        </p:nvSpPr>
        <p:spPr>
          <a:xfrm>
            <a:off x="304800" y="3771900"/>
            <a:ext cx="52324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860" b="1">
                <a:solidFill>
                  <a:srgbClr val="0F766E"/>
                </a:solidFill>
                <a:latin typeface="Arial" panose="020B0604020202020204" pitchFamily="34" charset="0"/>
              </a:rPr>
              <a:t>[8] </a:t>
            </a:r>
            <a:r>
              <a:rPr lang="en-IN" sz="860">
                <a:solidFill>
                  <a:srgbClr val="1F2937"/>
                </a:solidFill>
                <a:latin typeface="Arial" panose="020B0604020202020204" pitchFamily="34" charset="0"/>
              </a:rPr>
              <a:t>Jal Jeevan Samvad, Oct 2023: IoT water-quality monitoring with complaint tracking</a:t>
            </a:r>
          </a:p>
          <a:p>
            <a:pPr>
              <a:spcBef>
                <a:spcPts val="0"/>
              </a:spcBef>
              <a:spcAft>
                <a:spcPts val="300"/>
              </a:spcAft>
            </a:pPr>
            <a:r>
              <a:rPr lang="en-IN" sz="700">
                <a:solidFill>
                  <a:srgbClr val="0070C0"/>
                </a:solidFill>
                <a:latin typeface="Arial" panose="020B0604020202020204" pitchFamily="34" charset="0"/>
                <a:hlinkClick r:id="rId11"/>
              </a:rPr>
              <a:t>jaljeevanmission.gov.in/sites/default/files/2025-05/JalJeev...</a:t>
            </a:r>
            <a:endParaRPr lang="en-IN" sz="700">
              <a:solidFill>
                <a:srgbClr val="0070C0"/>
              </a:solidFill>
              <a:latin typeface="Arial" panose="020B0604020202020204" pitchFamily="34" charset="0"/>
            </a:endParaRPr>
          </a:p>
        </p:txBody>
      </p:sp>
      <p:sp>
        <p:nvSpPr>
          <p:cNvPr id="16" name="TextBox 15">
            <a:extLst>
              <a:ext uri="{FF2B5EF4-FFF2-40B4-BE49-F238E27FC236}">
                <a16:creationId xmlns:a16="http://schemas.microsoft.com/office/drawing/2014/main" id="{A02C17AF-4153-70D8-FDBA-2D5702C5194C}"/>
              </a:ext>
            </a:extLst>
          </p:cNvPr>
          <p:cNvSpPr txBox="1"/>
          <p:nvPr/>
        </p:nvSpPr>
        <p:spPr>
          <a:xfrm>
            <a:off x="304800" y="4114800"/>
            <a:ext cx="52324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860" b="1">
                <a:solidFill>
                  <a:srgbClr val="0F766E"/>
                </a:solidFill>
                <a:latin typeface="Arial" panose="020B0604020202020204" pitchFamily="34" charset="0"/>
              </a:rPr>
              <a:t>[9] </a:t>
            </a:r>
            <a:r>
              <a:rPr lang="en-US" sz="860">
                <a:solidFill>
                  <a:srgbClr val="1F2937"/>
                </a:solidFill>
                <a:latin typeface="Arial" panose="020B0604020202020204" pitchFamily="34" charset="0"/>
              </a:rPr>
              <a:t>Systematic review: ML for anomaly detection in smart water metering networks (2024)</a:t>
            </a:r>
          </a:p>
          <a:p>
            <a:pPr>
              <a:spcBef>
                <a:spcPts val="0"/>
              </a:spcBef>
              <a:spcAft>
                <a:spcPts val="300"/>
              </a:spcAft>
            </a:pPr>
            <a:r>
              <a:rPr lang="en-US" sz="700">
                <a:solidFill>
                  <a:srgbClr val="0070C0"/>
                </a:solidFill>
                <a:latin typeface="Arial" panose="020B0604020202020204" pitchFamily="34" charset="0"/>
                <a:hlinkClick r:id="rId12"/>
              </a:rPr>
              <a:t>sciencedirect.com/science/article/pii/S1474706524000160</a:t>
            </a:r>
            <a:endParaRPr lang="en-IN" sz="700">
              <a:solidFill>
                <a:srgbClr val="0070C0"/>
              </a:solidFill>
              <a:latin typeface="Arial" panose="020B0604020202020204" pitchFamily="34" charset="0"/>
            </a:endParaRPr>
          </a:p>
        </p:txBody>
      </p:sp>
      <p:sp>
        <p:nvSpPr>
          <p:cNvPr id="17" name="TextBox 16">
            <a:extLst>
              <a:ext uri="{FF2B5EF4-FFF2-40B4-BE49-F238E27FC236}">
                <a16:creationId xmlns:a16="http://schemas.microsoft.com/office/drawing/2014/main" id="{B4FD2D09-B493-FD4B-E1AF-627858E2CAC7}"/>
              </a:ext>
            </a:extLst>
          </p:cNvPr>
          <p:cNvSpPr txBox="1"/>
          <p:nvPr/>
        </p:nvSpPr>
        <p:spPr>
          <a:xfrm>
            <a:off x="304800" y="4457700"/>
            <a:ext cx="52324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860" b="1">
                <a:solidFill>
                  <a:srgbClr val="0F766E"/>
                </a:solidFill>
                <a:latin typeface="Arial" panose="020B0604020202020204" pitchFamily="34" charset="0"/>
              </a:rPr>
              <a:t>[10] </a:t>
            </a:r>
            <a:r>
              <a:rPr lang="en-IN" sz="860">
                <a:solidFill>
                  <a:srgbClr val="1F2937"/>
                </a:solidFill>
                <a:latin typeface="Arial" panose="020B0604020202020204" pitchFamily="34" charset="0"/>
              </a:rPr>
              <a:t>SIH 2026 problem statement SIH26255, Ministry of Jal Shakti</a:t>
            </a:r>
          </a:p>
          <a:p>
            <a:pPr>
              <a:spcBef>
                <a:spcPts val="0"/>
              </a:spcBef>
              <a:spcAft>
                <a:spcPts val="300"/>
              </a:spcAft>
            </a:pPr>
            <a:r>
              <a:rPr lang="en-IN" sz="700">
                <a:solidFill>
                  <a:srgbClr val="0070C0"/>
                </a:solidFill>
                <a:latin typeface="Arial" panose="020B0604020202020204" pitchFamily="34" charset="0"/>
                <a:hlinkClick r:id="rId13"/>
              </a:rPr>
              <a:t>sih.gov.in/sih2026PS</a:t>
            </a:r>
            <a:endParaRPr lang="en-IN" sz="700">
              <a:solidFill>
                <a:srgbClr val="0070C0"/>
              </a:solidFill>
              <a:latin typeface="Arial" panose="020B0604020202020204" pitchFamily="34" charset="0"/>
            </a:endParaRPr>
          </a:p>
        </p:txBody>
      </p:sp>
      <p:sp>
        <p:nvSpPr>
          <p:cNvPr id="18" name="TextBox 17">
            <a:extLst>
              <a:ext uri="{FF2B5EF4-FFF2-40B4-BE49-F238E27FC236}">
                <a16:creationId xmlns:a16="http://schemas.microsoft.com/office/drawing/2014/main" id="{9C22A740-6854-08C9-FE47-97C3EB612D01}"/>
              </a:ext>
            </a:extLst>
          </p:cNvPr>
          <p:cNvSpPr txBox="1"/>
          <p:nvPr/>
        </p:nvSpPr>
        <p:spPr>
          <a:xfrm>
            <a:off x="5664200" y="1117600"/>
            <a:ext cx="62230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1100" b="1">
                <a:solidFill>
                  <a:srgbClr val="0F766E"/>
                </a:solidFill>
                <a:latin typeface="Arial" panose="020B0604020202020204" pitchFamily="34" charset="0"/>
              </a:rPr>
              <a:t>Working platform screens</a:t>
            </a:r>
          </a:p>
        </p:txBody>
      </p:sp>
      <p:pic>
        <p:nvPicPr>
          <p:cNvPr id="20" name="Picture 19">
            <a:extLst>
              <a:ext uri="{FF2B5EF4-FFF2-40B4-BE49-F238E27FC236}">
                <a16:creationId xmlns:a16="http://schemas.microsoft.com/office/drawing/2014/main" id="{01255C24-4FD1-1681-8A36-8764EBDCF45E}"/>
              </a:ext>
            </a:extLst>
          </p:cNvPr>
          <p:cNvPicPr>
            <a:picLocks/>
          </p:cNvPicPr>
          <p:nvPr/>
        </p:nvPicPr>
        <p:blipFill>
          <a:blip r:embed="rId14"/>
          <a:stretch>
            <a:fillRect/>
          </a:stretch>
        </p:blipFill>
        <p:spPr>
          <a:xfrm>
            <a:off x="5664200" y="1371600"/>
            <a:ext cx="1270000" cy="2641600"/>
          </a:xfrm>
          <a:prstGeom prst="rect">
            <a:avLst/>
          </a:prstGeom>
        </p:spPr>
      </p:pic>
      <p:pic>
        <p:nvPicPr>
          <p:cNvPr id="22" name="Picture 21">
            <a:extLst>
              <a:ext uri="{FF2B5EF4-FFF2-40B4-BE49-F238E27FC236}">
                <a16:creationId xmlns:a16="http://schemas.microsoft.com/office/drawing/2014/main" id="{B2B49E00-B742-9A45-6EC1-128C818167C0}"/>
              </a:ext>
            </a:extLst>
          </p:cNvPr>
          <p:cNvPicPr>
            <a:picLocks/>
          </p:cNvPicPr>
          <p:nvPr/>
        </p:nvPicPr>
        <p:blipFill>
          <a:blip r:embed="rId15"/>
          <a:stretch>
            <a:fillRect/>
          </a:stretch>
        </p:blipFill>
        <p:spPr>
          <a:xfrm>
            <a:off x="7010400" y="1371600"/>
            <a:ext cx="1270000" cy="2641600"/>
          </a:xfrm>
          <a:prstGeom prst="rect">
            <a:avLst/>
          </a:prstGeom>
        </p:spPr>
      </p:pic>
      <p:pic>
        <p:nvPicPr>
          <p:cNvPr id="24" name="Picture 23">
            <a:extLst>
              <a:ext uri="{FF2B5EF4-FFF2-40B4-BE49-F238E27FC236}">
                <a16:creationId xmlns:a16="http://schemas.microsoft.com/office/drawing/2014/main" id="{08110A21-F1CF-0930-2853-6EDAE6B2FA37}"/>
              </a:ext>
            </a:extLst>
          </p:cNvPr>
          <p:cNvPicPr>
            <a:picLocks/>
          </p:cNvPicPr>
          <p:nvPr/>
        </p:nvPicPr>
        <p:blipFill>
          <a:blip r:embed="rId16"/>
          <a:stretch>
            <a:fillRect/>
          </a:stretch>
        </p:blipFill>
        <p:spPr>
          <a:xfrm>
            <a:off x="8407400" y="1371600"/>
            <a:ext cx="3479800" cy="2159000"/>
          </a:xfrm>
          <a:prstGeom prst="rect">
            <a:avLst/>
          </a:prstGeom>
          <a:ln w="9525">
            <a:solidFill>
              <a:srgbClr val="CBD5E1"/>
            </a:solidFill>
          </a:ln>
        </p:spPr>
      </p:pic>
      <p:pic>
        <p:nvPicPr>
          <p:cNvPr id="26" name="Picture 25">
            <a:extLst>
              <a:ext uri="{FF2B5EF4-FFF2-40B4-BE49-F238E27FC236}">
                <a16:creationId xmlns:a16="http://schemas.microsoft.com/office/drawing/2014/main" id="{D8643AD7-8EDD-F62D-179B-C5AE14F81AA8}"/>
              </a:ext>
            </a:extLst>
          </p:cNvPr>
          <p:cNvPicPr>
            <a:picLocks/>
          </p:cNvPicPr>
          <p:nvPr/>
        </p:nvPicPr>
        <p:blipFill>
          <a:blip r:embed="rId17"/>
          <a:stretch>
            <a:fillRect/>
          </a:stretch>
        </p:blipFill>
        <p:spPr>
          <a:xfrm>
            <a:off x="8407400" y="3581400"/>
            <a:ext cx="3479800" cy="2159000"/>
          </a:xfrm>
          <a:prstGeom prst="rect">
            <a:avLst/>
          </a:prstGeom>
          <a:ln w="9525">
            <a:solidFill>
              <a:srgbClr val="CBD5E1"/>
            </a:solidFill>
          </a:ln>
        </p:spPr>
      </p:pic>
      <p:sp>
        <p:nvSpPr>
          <p:cNvPr id="27" name="TextBox 26">
            <a:extLst>
              <a:ext uri="{FF2B5EF4-FFF2-40B4-BE49-F238E27FC236}">
                <a16:creationId xmlns:a16="http://schemas.microsoft.com/office/drawing/2014/main" id="{7B0C676D-856E-97BD-7797-6E635CB7D724}"/>
              </a:ext>
            </a:extLst>
          </p:cNvPr>
          <p:cNvSpPr txBox="1"/>
          <p:nvPr/>
        </p:nvSpPr>
        <p:spPr>
          <a:xfrm>
            <a:off x="5664200" y="4064000"/>
            <a:ext cx="26924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800" i="1">
                <a:solidFill>
                  <a:srgbClr val="475569"/>
                </a:solidFill>
                <a:latin typeface="Arial" panose="020B0604020202020204" pitchFamily="34" charset="0"/>
              </a:rPr>
              <a:t>Villager app: tap status and water quality (left); report a problem with photo and opt-in location (right)</a:t>
            </a:r>
            <a:endParaRPr lang="en-IN" sz="800" i="1">
              <a:solidFill>
                <a:srgbClr val="475569"/>
              </a:solidFill>
              <a:latin typeface="Arial" panose="020B0604020202020204" pitchFamily="34" charset="0"/>
            </a:endParaRPr>
          </a:p>
        </p:txBody>
      </p:sp>
      <p:sp>
        <p:nvSpPr>
          <p:cNvPr id="28" name="TextBox 27">
            <a:extLst>
              <a:ext uri="{FF2B5EF4-FFF2-40B4-BE49-F238E27FC236}">
                <a16:creationId xmlns:a16="http://schemas.microsoft.com/office/drawing/2014/main" id="{E1B7B349-A93A-FB2B-6C2F-C4E553F01F95}"/>
              </a:ext>
            </a:extLst>
          </p:cNvPr>
          <p:cNvSpPr txBox="1"/>
          <p:nvPr/>
        </p:nvSpPr>
        <p:spPr>
          <a:xfrm>
            <a:off x="5664200" y="4648200"/>
            <a:ext cx="26924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800" b="1">
                <a:solidFill>
                  <a:srgbClr val="0F766E"/>
                </a:solidFill>
                <a:latin typeface="Arial" panose="020B0604020202020204" pitchFamily="34" charset="0"/>
              </a:rPr>
              <a:t>Gram Panchayat: </a:t>
            </a:r>
            <a:r>
              <a:rPr lang="en-IN" sz="800">
                <a:solidFill>
                  <a:srgbClr val="1F2937"/>
                </a:solidFill>
                <a:latin typeface="Arial" panose="020B0604020202020204" pitchFamily="34" charset="0"/>
              </a:rPr>
              <a:t>AI Early Warning with measured chlorine (top right) and Water Status with acoustic leak alerts (bottom right).</a:t>
            </a:r>
          </a:p>
          <a:p>
            <a:pPr>
              <a:spcBef>
                <a:spcPts val="0"/>
              </a:spcBef>
              <a:spcAft>
                <a:spcPts val="300"/>
              </a:spcAft>
            </a:pPr>
            <a:r>
              <a:rPr lang="en-IN" sz="850" b="1">
                <a:solidFill>
                  <a:srgbClr val="1F2937"/>
                </a:solidFill>
                <a:latin typeface="Arial" panose="020B0604020202020204" pitchFamily="34" charset="0"/>
              </a:rPr>
              <a:t>Demo video: </a:t>
            </a:r>
            <a:r>
              <a:rPr lang="en-IN" sz="850">
                <a:solidFill>
                  <a:srgbClr val="1F2937"/>
                </a:solidFill>
                <a:latin typeface="Arial" panose="020B0604020202020204" pitchFamily="34" charset="0"/>
                <a:hlinkClick r:id="rId18"/>
              </a:rPr>
              <a:t>youtu.be/LYlQtrBbpes</a:t>
            </a:r>
            <a:endParaRPr lang="en-IN" sz="850">
              <a:solidFill>
                <a:srgbClr val="1F2937"/>
              </a:solidFill>
              <a:latin typeface="Arial" panose="020B0604020202020204" pitchFamily="34" charset="0"/>
            </a:endParaRPr>
          </a:p>
          <a:p>
            <a:pPr>
              <a:spcBef>
                <a:spcPts val="0"/>
              </a:spcBef>
              <a:spcAft>
                <a:spcPts val="300"/>
              </a:spcAft>
            </a:pPr>
            <a:r>
              <a:rPr lang="en-IN" sz="820" b="1">
                <a:solidFill>
                  <a:srgbClr val="1F2937"/>
                </a:solidFill>
                <a:latin typeface="Arial" panose="020B0604020202020204" pitchFamily="34" charset="0"/>
              </a:rPr>
              <a:t>Source code: </a:t>
            </a:r>
            <a:r>
              <a:rPr lang="en-IN" sz="820">
                <a:solidFill>
                  <a:srgbClr val="1F2937"/>
                </a:solidFill>
                <a:latin typeface="Arial" panose="020B0604020202020204" pitchFamily="34" charset="0"/>
                <a:hlinkClick r:id="rId19"/>
              </a:rPr>
              <a:t>github.com/Thrisha236/JalRakshak</a:t>
            </a:r>
            <a:r>
              <a:rPr lang="en-IN" sz="820">
                <a:solidFill>
                  <a:srgbClr val="1F2937"/>
                </a:solidFill>
                <a:latin typeface="Arial" panose="020B0604020202020204" pitchFamily="34" charset="0"/>
              </a:rPr>
              <a:t> (platform, node firmware, gateway, circuit and architecture files)</a:t>
            </a:r>
          </a:p>
        </p:txBody>
      </p:sp>
      <p:sp>
        <p:nvSpPr>
          <p:cNvPr id="29" name="TextBox 28">
            <a:extLst>
              <a:ext uri="{FF2B5EF4-FFF2-40B4-BE49-F238E27FC236}">
                <a16:creationId xmlns:a16="http://schemas.microsoft.com/office/drawing/2014/main" id="{F8DC1A4D-17C8-E719-2013-FE484A20BC3C}"/>
              </a:ext>
            </a:extLst>
          </p:cNvPr>
          <p:cNvSpPr txBox="1"/>
          <p:nvPr/>
        </p:nvSpPr>
        <p:spPr>
          <a:xfrm>
            <a:off x="304800" y="5867400"/>
            <a:ext cx="115824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800" i="1">
                <a:solidFill>
                  <a:srgbClr val="475569"/>
                </a:solidFill>
                <a:latin typeface="Arial" panose="020B0604020202020204" pitchFamily="34" charset="0"/>
              </a:rPr>
              <a:t>pH, TDS and turbidity come from field-test-kit entries: screening indicators that trigger confirmatory laboratory testing, not a safety certification.</a:t>
            </a:r>
            <a:endParaRPr lang="en-IN" sz="800" i="1">
              <a:solidFill>
                <a:srgbClr val="475569"/>
              </a:solidFill>
              <a:latin typeface="Arial" panose="020B0604020202020204" pitchFamily="34" charset="0"/>
            </a:endParaRPr>
          </a:p>
        </p:txBody>
      </p:sp>
      <p:sp>
        <p:nvSpPr>
          <p:cNvPr id="19" name="TextBox 1">
            <a:extLst>
              <a:ext uri="{FF2B5EF4-FFF2-40B4-BE49-F238E27FC236}">
                <a16:creationId xmlns:a16="http://schemas.microsoft.com/office/drawing/2014/main" id="{E98EACDB-45CB-6042-483B-470671A2C8F4}"/>
              </a:ext>
            </a:extLst>
          </p:cNvPr>
          <p:cNvSpPr txBox="1"/>
          <p:nvPr/>
        </p:nvSpPr>
        <p:spPr>
          <a:xfrm>
            <a:off x="304800" y="4828032"/>
            <a:ext cx="52070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1100" b="1">
                <a:solidFill>
                  <a:srgbClr val="0F766E"/>
                </a:solidFill>
                <a:latin typeface="Arial" panose="020B0604020202020204" pitchFamily="34" charset="0"/>
              </a:rPr>
              <a:t>Proposed sensor-node hardware (not yet assembled)</a:t>
            </a:r>
            <a:endParaRPr lang="en-IN" sz="1100" b="1">
              <a:solidFill>
                <a:srgbClr val="0F766E"/>
              </a:solidFill>
              <a:latin typeface="Arial" panose="020B0604020202020204" pitchFamily="34" charset="0"/>
            </a:endParaRPr>
          </a:p>
        </p:txBody>
      </p:sp>
      <p:sp>
        <p:nvSpPr>
          <p:cNvPr id="17411" name="TextBox 17410"/>
          <p:cNvSpPr txBox="1"/>
          <p:nvPr/>
        </p:nvSpPr>
        <p:spPr>
          <a:xfrm>
            <a:off x="310896" y="5431536"/>
            <a:ext cx="603504" cy="164592"/>
          </a:xfrm>
          <a:prstGeom prst="rect">
            <a:avLst/>
          </a:prstGeom>
          <a:noFill/>
        </p:spPr>
        <p:txBody>
          <a:bodyPr wrap="none" lIns="0" tIns="0" rIns="0" bIns="0">
            <a:spAutoFit/>
          </a:bodyPr>
          <a:lstStyle/>
          <a:p>
            <a:pPr algn="ctr"/>
            <a:r>
              <a:rPr sz="700" b="1">
                <a:latin typeface="Arial"/>
              </a:rPr>
              <a:t>ESP32</a:t>
            </a:r>
          </a:p>
        </p:txBody>
      </p:sp>
      <p:sp>
        <p:nvSpPr>
          <p:cNvPr id="17413" name="TextBox 17412"/>
          <p:cNvSpPr txBox="1"/>
          <p:nvPr/>
        </p:nvSpPr>
        <p:spPr>
          <a:xfrm>
            <a:off x="886968" y="5431536"/>
            <a:ext cx="603504" cy="164592"/>
          </a:xfrm>
          <a:prstGeom prst="rect">
            <a:avLst/>
          </a:prstGeom>
          <a:noFill/>
        </p:spPr>
        <p:txBody>
          <a:bodyPr wrap="none" lIns="0" tIns="0" rIns="0" bIns="0">
            <a:spAutoFit/>
          </a:bodyPr>
          <a:lstStyle/>
          <a:p>
            <a:pPr algn="ctr"/>
            <a:r>
              <a:rPr sz="700" b="1">
                <a:latin typeface="Arial"/>
              </a:rPr>
              <a:t>LoRa</a:t>
            </a:r>
          </a:p>
        </p:txBody>
      </p:sp>
      <p:sp>
        <p:nvSpPr>
          <p:cNvPr id="17415" name="TextBox 17414"/>
          <p:cNvSpPr txBox="1"/>
          <p:nvPr/>
        </p:nvSpPr>
        <p:spPr>
          <a:xfrm>
            <a:off x="1463039" y="5431536"/>
            <a:ext cx="603504" cy="164592"/>
          </a:xfrm>
          <a:prstGeom prst="rect">
            <a:avLst/>
          </a:prstGeom>
          <a:noFill/>
        </p:spPr>
        <p:txBody>
          <a:bodyPr wrap="none" lIns="0" tIns="0" rIns="0" bIns="0">
            <a:spAutoFit/>
          </a:bodyPr>
          <a:lstStyle/>
          <a:p>
            <a:pPr algn="ctr"/>
            <a:r>
              <a:rPr sz="700" b="1">
                <a:latin typeface="Arial"/>
              </a:rPr>
              <a:t>Pi gateway</a:t>
            </a:r>
          </a:p>
        </p:txBody>
      </p:sp>
      <p:sp>
        <p:nvSpPr>
          <p:cNvPr id="17417" name="TextBox 17416"/>
          <p:cNvSpPr txBox="1"/>
          <p:nvPr/>
        </p:nvSpPr>
        <p:spPr>
          <a:xfrm>
            <a:off x="2039112" y="5431536"/>
            <a:ext cx="603504" cy="164592"/>
          </a:xfrm>
          <a:prstGeom prst="rect">
            <a:avLst/>
          </a:prstGeom>
          <a:noFill/>
        </p:spPr>
        <p:txBody>
          <a:bodyPr wrap="none" lIns="0" tIns="0" rIns="0" bIns="0">
            <a:spAutoFit/>
          </a:bodyPr>
          <a:lstStyle/>
          <a:p>
            <a:pPr algn="ctr"/>
            <a:r>
              <a:rPr sz="700" b="1">
                <a:latin typeface="Arial"/>
              </a:rPr>
              <a:t>Acoustic</a:t>
            </a:r>
          </a:p>
        </p:txBody>
      </p:sp>
      <p:pic>
        <p:nvPicPr>
          <p:cNvPr id="17418" name="Picture 17417" descr="image.png"/>
          <p:cNvPicPr>
            <a:picLocks noChangeAspect="1"/>
          </p:cNvPicPr>
          <p:nvPr/>
        </p:nvPicPr>
        <p:blipFill>
          <a:blip r:embed="rId20"/>
          <a:stretch>
            <a:fillRect/>
          </a:stretch>
        </p:blipFill>
        <p:spPr>
          <a:xfrm>
            <a:off x="2688336" y="5120640"/>
            <a:ext cx="457200" cy="320040"/>
          </a:xfrm>
          <a:prstGeom prst="rect">
            <a:avLst/>
          </a:prstGeom>
        </p:spPr>
      </p:pic>
      <p:sp>
        <p:nvSpPr>
          <p:cNvPr id="17419" name="TextBox 17418"/>
          <p:cNvSpPr txBox="1"/>
          <p:nvPr/>
        </p:nvSpPr>
        <p:spPr>
          <a:xfrm>
            <a:off x="2615184" y="5431536"/>
            <a:ext cx="603504" cy="164592"/>
          </a:xfrm>
          <a:prstGeom prst="rect">
            <a:avLst/>
          </a:prstGeom>
          <a:noFill/>
        </p:spPr>
        <p:txBody>
          <a:bodyPr wrap="none" lIns="0" tIns="0" rIns="0" bIns="0">
            <a:spAutoFit/>
          </a:bodyPr>
          <a:lstStyle/>
          <a:p>
            <a:pPr algn="ctr"/>
            <a:r>
              <a:rPr sz="700" b="1">
                <a:latin typeface="Arial"/>
              </a:rPr>
              <a:t>Chlorine</a:t>
            </a:r>
          </a:p>
        </p:txBody>
      </p:sp>
      <p:sp>
        <p:nvSpPr>
          <p:cNvPr id="17421" name="TextBox 17420"/>
          <p:cNvSpPr txBox="1"/>
          <p:nvPr/>
        </p:nvSpPr>
        <p:spPr>
          <a:xfrm>
            <a:off x="3191256" y="5431536"/>
            <a:ext cx="603504" cy="164592"/>
          </a:xfrm>
          <a:prstGeom prst="rect">
            <a:avLst/>
          </a:prstGeom>
          <a:noFill/>
        </p:spPr>
        <p:txBody>
          <a:bodyPr wrap="none" lIns="0" tIns="0" rIns="0" bIns="0">
            <a:spAutoFit/>
          </a:bodyPr>
          <a:lstStyle/>
          <a:p>
            <a:pPr algn="ctr"/>
            <a:r>
              <a:rPr sz="700" b="1">
                <a:latin typeface="Arial"/>
              </a:rPr>
              <a:t>Pressure</a:t>
            </a:r>
          </a:p>
        </p:txBody>
      </p:sp>
      <p:sp>
        <p:nvSpPr>
          <p:cNvPr id="17423" name="TextBox 17422"/>
          <p:cNvSpPr txBox="1"/>
          <p:nvPr/>
        </p:nvSpPr>
        <p:spPr>
          <a:xfrm>
            <a:off x="3767328" y="5431536"/>
            <a:ext cx="603504" cy="164592"/>
          </a:xfrm>
          <a:prstGeom prst="rect">
            <a:avLst/>
          </a:prstGeom>
          <a:noFill/>
        </p:spPr>
        <p:txBody>
          <a:bodyPr wrap="none" lIns="0" tIns="0" rIns="0" bIns="0">
            <a:spAutoFit/>
          </a:bodyPr>
          <a:lstStyle/>
          <a:p>
            <a:pPr algn="ctr"/>
            <a:r>
              <a:rPr sz="700" b="1">
                <a:latin typeface="Arial"/>
              </a:rPr>
              <a:t>Flow</a:t>
            </a:r>
          </a:p>
        </p:txBody>
      </p:sp>
      <p:sp>
        <p:nvSpPr>
          <p:cNvPr id="17425" name="TextBox 17424"/>
          <p:cNvSpPr txBox="1"/>
          <p:nvPr/>
        </p:nvSpPr>
        <p:spPr>
          <a:xfrm>
            <a:off x="4343400" y="5431536"/>
            <a:ext cx="603504" cy="164592"/>
          </a:xfrm>
          <a:prstGeom prst="rect">
            <a:avLst/>
          </a:prstGeom>
          <a:noFill/>
        </p:spPr>
        <p:txBody>
          <a:bodyPr wrap="none" lIns="0" tIns="0" rIns="0" bIns="0">
            <a:spAutoFit/>
          </a:bodyPr>
          <a:lstStyle/>
          <a:p>
            <a:pPr algn="ctr"/>
            <a:r>
              <a:rPr sz="700" b="1">
                <a:latin typeface="Arial"/>
              </a:rPr>
              <a:t>Tank level</a:t>
            </a:r>
          </a:p>
        </p:txBody>
      </p:sp>
      <p:sp>
        <p:nvSpPr>
          <p:cNvPr id="17427" name="TextBox 17426"/>
          <p:cNvSpPr txBox="1"/>
          <p:nvPr/>
        </p:nvSpPr>
        <p:spPr>
          <a:xfrm>
            <a:off x="4919472" y="5431536"/>
            <a:ext cx="603504" cy="164592"/>
          </a:xfrm>
          <a:prstGeom prst="rect">
            <a:avLst/>
          </a:prstGeom>
          <a:noFill/>
        </p:spPr>
        <p:txBody>
          <a:bodyPr wrap="none" lIns="0" tIns="0" rIns="0" bIns="0">
            <a:spAutoFit/>
          </a:bodyPr>
          <a:lstStyle/>
          <a:p>
            <a:pPr algn="ctr"/>
            <a:r>
              <a:rPr sz="700" b="1">
                <a:latin typeface="Arial"/>
              </a:rPr>
              <a:t>Solar</a:t>
            </a:r>
          </a:p>
        </p:txBody>
      </p:sp>
      <p:sp>
        <p:nvSpPr>
          <p:cNvPr id="17428" name="TextBox 17427"/>
          <p:cNvSpPr txBox="1"/>
          <p:nvPr/>
        </p:nvSpPr>
        <p:spPr>
          <a:xfrm>
            <a:off x="301752" y="5596128"/>
            <a:ext cx="5257800" cy="274320"/>
          </a:xfrm>
          <a:prstGeom prst="rect">
            <a:avLst/>
          </a:prstGeom>
          <a:noFill/>
        </p:spPr>
        <p:txBody>
          <a:bodyPr wrap="square" lIns="0" tIns="0" rIns="0" bIns="0">
            <a:spAutoFit/>
          </a:bodyPr>
          <a:lstStyle/>
          <a:p>
            <a:r>
              <a:rPr sz="700" i="1">
                <a:latin typeface="Arial"/>
              </a:rPr>
              <a:t>ESP32-DevKitC + ADS1115, RFM95W LoRa, 4-20 mA pressure and chlorine probes, pulse water meter, piezo clamp, JSN-SR04T. Vendor photos of single parts, not a built prototype; bench build next.</a:t>
            </a:r>
          </a:p>
        </p:txBody>
      </p:sp>
      <p:pic>
        <p:nvPicPr>
          <p:cNvPr id="17429" name="Picture 17428" descr="image.png"/>
          <p:cNvPicPr>
            <a:picLocks noChangeAspect="1"/>
          </p:cNvPicPr>
          <p:nvPr/>
        </p:nvPicPr>
        <p:blipFill>
          <a:blip r:embed="rId21"/>
          <a:stretch>
            <a:fillRect/>
          </a:stretch>
        </p:blipFill>
        <p:spPr>
          <a:xfrm>
            <a:off x="932688" y="5084064"/>
            <a:ext cx="512064" cy="374904"/>
          </a:xfrm>
          <a:prstGeom prst="rect">
            <a:avLst/>
          </a:prstGeom>
        </p:spPr>
      </p:pic>
      <p:pic>
        <p:nvPicPr>
          <p:cNvPr id="17430" name="Picture 17429" descr="image.png"/>
          <p:cNvPicPr>
            <a:picLocks noChangeAspect="1"/>
          </p:cNvPicPr>
          <p:nvPr/>
        </p:nvPicPr>
        <p:blipFill>
          <a:blip r:embed="rId22"/>
          <a:stretch>
            <a:fillRect/>
          </a:stretch>
        </p:blipFill>
        <p:spPr>
          <a:xfrm>
            <a:off x="1508760" y="5084064"/>
            <a:ext cx="512064" cy="374904"/>
          </a:xfrm>
          <a:prstGeom prst="rect">
            <a:avLst/>
          </a:prstGeom>
        </p:spPr>
      </p:pic>
      <p:pic>
        <p:nvPicPr>
          <p:cNvPr id="17431" name="Picture 17430" descr="image.png"/>
          <p:cNvPicPr>
            <a:picLocks noChangeAspect="1"/>
          </p:cNvPicPr>
          <p:nvPr/>
        </p:nvPicPr>
        <p:blipFill>
          <a:blip r:embed="rId23"/>
          <a:stretch>
            <a:fillRect/>
          </a:stretch>
        </p:blipFill>
        <p:spPr>
          <a:xfrm>
            <a:off x="2084832" y="5084064"/>
            <a:ext cx="512064" cy="374904"/>
          </a:xfrm>
          <a:prstGeom prst="rect">
            <a:avLst/>
          </a:prstGeom>
        </p:spPr>
      </p:pic>
      <p:pic>
        <p:nvPicPr>
          <p:cNvPr id="17432" name="Picture 17431" descr="image.png"/>
          <p:cNvPicPr>
            <a:picLocks noChangeAspect="1"/>
          </p:cNvPicPr>
          <p:nvPr/>
        </p:nvPicPr>
        <p:blipFill>
          <a:blip r:embed="rId24"/>
          <a:stretch>
            <a:fillRect/>
          </a:stretch>
        </p:blipFill>
        <p:spPr>
          <a:xfrm>
            <a:off x="3236976" y="5084064"/>
            <a:ext cx="512064" cy="374904"/>
          </a:xfrm>
          <a:prstGeom prst="rect">
            <a:avLst/>
          </a:prstGeom>
        </p:spPr>
      </p:pic>
      <p:pic>
        <p:nvPicPr>
          <p:cNvPr id="17433" name="Picture 17432" descr="image.png"/>
          <p:cNvPicPr>
            <a:picLocks noChangeAspect="1"/>
          </p:cNvPicPr>
          <p:nvPr/>
        </p:nvPicPr>
        <p:blipFill>
          <a:blip r:embed="rId25"/>
          <a:stretch>
            <a:fillRect/>
          </a:stretch>
        </p:blipFill>
        <p:spPr>
          <a:xfrm>
            <a:off x="3813048" y="5084064"/>
            <a:ext cx="512064" cy="374904"/>
          </a:xfrm>
          <a:prstGeom prst="rect">
            <a:avLst/>
          </a:prstGeom>
        </p:spPr>
      </p:pic>
      <p:pic>
        <p:nvPicPr>
          <p:cNvPr id="17434" name="Picture 17433" descr="image.png"/>
          <p:cNvPicPr>
            <a:picLocks noChangeAspect="1"/>
          </p:cNvPicPr>
          <p:nvPr/>
        </p:nvPicPr>
        <p:blipFill>
          <a:blip r:embed="rId26"/>
          <a:stretch>
            <a:fillRect/>
          </a:stretch>
        </p:blipFill>
        <p:spPr>
          <a:xfrm>
            <a:off x="4389120" y="5084064"/>
            <a:ext cx="512064" cy="374904"/>
          </a:xfrm>
          <a:prstGeom prst="rect">
            <a:avLst/>
          </a:prstGeom>
        </p:spPr>
      </p:pic>
      <p:pic>
        <p:nvPicPr>
          <p:cNvPr id="17435" name="Picture 17434" descr="image.png"/>
          <p:cNvPicPr>
            <a:picLocks noChangeAspect="1"/>
          </p:cNvPicPr>
          <p:nvPr/>
        </p:nvPicPr>
        <p:blipFill>
          <a:blip r:embed="rId27"/>
          <a:stretch>
            <a:fillRect/>
          </a:stretch>
        </p:blipFill>
        <p:spPr>
          <a:xfrm>
            <a:off x="4965192" y="5084064"/>
            <a:ext cx="512064" cy="374904"/>
          </a:xfrm>
          <a:prstGeom prst="rect">
            <a:avLst/>
          </a:prstGeom>
        </p:spPr>
      </p:pic>
      <p:pic>
        <p:nvPicPr>
          <p:cNvPr id="17436" name="Picture 17435" descr="image.png"/>
          <p:cNvPicPr>
            <a:picLocks noChangeAspect="1"/>
          </p:cNvPicPr>
          <p:nvPr/>
        </p:nvPicPr>
        <p:blipFill>
          <a:blip r:embed="rId28"/>
          <a:stretch>
            <a:fillRect/>
          </a:stretch>
        </p:blipFill>
        <p:spPr>
          <a:xfrm>
            <a:off x="356616" y="5084064"/>
            <a:ext cx="512064" cy="374904"/>
          </a:xfrm>
          <a:prstGeom prst="rect">
            <a:avLst/>
          </a:prstGeom>
        </p:spPr>
      </p:pic>
    </p:spTree>
    <p:extLst>
      <p:ext uri="{BB962C8B-B14F-4D97-AF65-F5344CB8AC3E}">
        <p14:creationId xmlns:p14="http://schemas.microsoft.com/office/powerpoint/2010/main" val="3916788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7489</TotalTime>
  <Words>1743</Words>
  <Application>Microsoft Office PowerPoint</Application>
  <PresentationFormat>Widescreen</PresentationFormat>
  <Paragraphs>222</Paragraphs>
  <Slides>6</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vt:i4>
      </vt:variant>
    </vt:vector>
  </HeadingPairs>
  <TitlesOfParts>
    <vt:vector size="13" baseType="lpstr">
      <vt:lpstr>ＭＳ Ｐゴシック</vt:lpstr>
      <vt:lpstr>Arial</vt:lpstr>
      <vt:lpstr>Calibri</vt:lpstr>
      <vt:lpstr>Garamond</vt:lpstr>
      <vt:lpstr>Times New Roman</vt:lpstr>
      <vt:lpstr>TradeGothic</vt:lpstr>
      <vt:lpstr>Office Theme</vt:lpstr>
      <vt:lpstr>SMART INDIA HACKATHON 2026</vt:lpstr>
      <vt:lpstr>THE PROBLEM &amp; OUR SOLUTION</vt:lpstr>
      <vt:lpstr>TECHNICAL APPROACH</vt:lpstr>
      <vt:lpstr>FEASIBILITY AND VIABILITY</vt:lpstr>
      <vt:lpstr>IMPACT AND BENEFITS</vt:lpstr>
      <vt:lpstr>RESEARCH  AND REFERENCES</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Holkundi Ganesh</cp:lastModifiedBy>
  <cp:revision>151</cp:revision>
  <dcterms:created xsi:type="dcterms:W3CDTF">2013-12-12T18:46:50Z</dcterms:created>
  <dcterms:modified xsi:type="dcterms:W3CDTF">2026-10-20T11:56:38Z</dcterms:modified>
  <cp:category/>
</cp:coreProperties>
</file>