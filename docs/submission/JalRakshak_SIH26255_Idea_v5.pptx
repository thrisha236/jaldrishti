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10/19/2026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10/19/2026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10/19/2026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10/19/2026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10/19/2026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hyperlink" Target="https://www.ejalshakti.gov.in/JJMReport/JJMIndia.aspx" TargetMode="External"/><Relationship Id="rId13" Type="http://schemas.openxmlformats.org/officeDocument/2006/relationships/hyperlink" Target="https://www.sih.gov.in/sih2026PS" TargetMode="External"/><Relationship Id="rId3" Type="http://schemas.openxmlformats.org/officeDocument/2006/relationships/image" Target="../media/image2.png"/><Relationship Id="rId7" Type="http://schemas.openxmlformats.org/officeDocument/2006/relationships/hyperlink" Target="https://www.pmindia.gov.in/en/news_updates/" TargetMode="External"/><Relationship Id="rId12" Type="http://schemas.openxmlformats.org/officeDocument/2006/relationships/hyperlink" Target="https://www.sciencedirect.com/science/article/pii/S1474706524000160" TargetMode="External"/><Relationship Id="rId17" Type="http://schemas.openxmlformats.org/officeDocument/2006/relationships/image" Target="../media/image25.png"/><Relationship Id="rId2" Type="http://schemas.openxmlformats.org/officeDocument/2006/relationships/notesSlide" Target="../notesSlides/notesSlide5.xml"/><Relationship Id="rId16"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hyperlink" Target="https://www.pib.gov.in/PressReleasePage.aspx?PRID=2209798" TargetMode="External"/><Relationship Id="rId11" Type="http://schemas.openxmlformats.org/officeDocument/2006/relationships/hyperlink" Target="https://jaljeevanmission.gov.in/sites/default/files/2025-05/JalJeevanSamvad-October-2023-en.pdf" TargetMode="External"/><Relationship Id="rId5" Type="http://schemas.openxmlformats.org/officeDocument/2006/relationships/hyperlink" Target="https://www.pib.gov.in/PressReleasePage.aspx?PRID=2298959" TargetMode="External"/><Relationship Id="rId15" Type="http://schemas.openxmlformats.org/officeDocument/2006/relationships/image" Target="../media/image23.png"/><Relationship Id="rId10" Type="http://schemas.openxmlformats.org/officeDocument/2006/relationships/hyperlink" Target="https://www.pib.gov.in/PressReleaseIframePage.aspx?PRID=1708701" TargetMode="External"/><Relationship Id="rId4" Type="http://schemas.openxmlformats.org/officeDocument/2006/relationships/hyperlink" Target="https://jaljeevanmission.gov.in/sites/default/files/2025-12/FHTC_National%20Report%202024.pdf" TargetMode="External"/><Relationship Id="rId9" Type="http://schemas.openxmlformats.org/officeDocument/2006/relationships/hyperlink" Target="https://www.ejalshakti.gov.in/WQMIS/" TargetMode="External"/><Relationship Id="rId1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r>
              <a:rPr lang="en-US" b="1">
                <a:solidFill>
                  <a:srgbClr val="0F766E"/>
                </a:solidFill>
                <a:latin typeface="Times New Roman" panose="02020603050405020304" pitchFamily="18" charset="0"/>
                <a:cs typeface="Times New Roman" panose="02020603050405020304" pitchFamily="18" charset="0"/>
              </a:rPr>
              <a:t>JalRakshak</a:t>
            </a:r>
            <a:endParaRPr lang="en-IN" b="1" dirty="0">
              <a:solidFill>
                <a:srgbClr val="0F766E"/>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1625599"/>
            <a:ext cx="6604000" cy="2922851"/>
          </a:xfrm>
          <a:prstGeom prst="rect">
            <a:avLst/>
          </a:prstGeom>
          <a:noFill/>
        </p:spPr>
        <p:txBody>
          <a:bodyPr wrap="square" rtlCol="0">
            <a:spAutoFit/>
          </a:bodyPr>
          <a:lstStyle/>
          <a:p>
            <a:pPr marL="342900" indent="-342900">
              <a:spcBef>
                <a:spcPts val="0"/>
              </a:spcBef>
              <a:spcAft>
                <a:spcPts val="700"/>
              </a:spcAft>
              <a:buFont typeface="+mj-lt"/>
              <a:buChar char="•"/>
            </a:pPr>
            <a:r>
              <a:rPr lang="en-US" sz="1250" b="1">
                <a:latin typeface="Arial" panose="020B0604020202020204" pitchFamily="34" charset="0"/>
              </a:rPr>
              <a:t>Problem Statement ID - </a:t>
            </a:r>
            <a:r>
              <a:rPr lang="en-US" sz="1250">
                <a:latin typeface="Arial" panose="020B0604020202020204" pitchFamily="34" charset="0"/>
              </a:rPr>
              <a:t>SIH26255</a:t>
            </a:r>
          </a:p>
          <a:p>
            <a:pPr marL="342900" indent="-342900">
              <a:spcBef>
                <a:spcPts val="0"/>
              </a:spcBef>
              <a:spcAft>
                <a:spcPts val="700"/>
              </a:spcAft>
              <a:buFont typeface="+mj-lt"/>
              <a:buChar char="•"/>
            </a:pPr>
            <a:r>
              <a:rPr lang="en-US" sz="1250" b="1">
                <a:latin typeface="Arial" panose="020B0604020202020204" pitchFamily="34" charset="0"/>
              </a:rPr>
              <a:t>Problem Statement Title - </a:t>
            </a:r>
            <a:r>
              <a:rPr lang="en-US" sz="1020">
                <a:latin typeface="Arial" panose="020B0604020202020204" pitchFamily="34" charset="0"/>
              </a:rPr>
              <a:t>Development of a solution using AI and ML to monitor the functionality of FHTC in real time at both the Gram Panchayat and household levels. This solution should provide alerts on water quality issues, allow village members to give feedback through mobile devices, and automatically sync data with IMIS/Sujal Gaon IDs.</a:t>
            </a:r>
          </a:p>
          <a:p>
            <a:pPr marL="342900" indent="-342900">
              <a:spcBef>
                <a:spcPts val="0"/>
              </a:spcBef>
              <a:spcAft>
                <a:spcPts val="700"/>
              </a:spcAft>
              <a:buFont typeface="+mj-lt"/>
              <a:buChar char="•"/>
            </a:pPr>
            <a:r>
              <a:rPr lang="en-US" sz="1250" b="1">
                <a:latin typeface="Arial" panose="020B0604020202020204" pitchFamily="34" charset="0"/>
              </a:rPr>
              <a:t>Organization - </a:t>
            </a:r>
            <a:r>
              <a:rPr lang="en-US" sz="1250">
                <a:latin typeface="Arial" panose="020B0604020202020204" pitchFamily="34" charset="0"/>
              </a:rPr>
              <a:t>Ministry of Jal Shakti (MoJS)</a:t>
            </a:r>
          </a:p>
          <a:p>
            <a:pPr marL="342900" indent="-342900">
              <a:spcBef>
                <a:spcPts val="0"/>
              </a:spcBef>
              <a:spcAft>
                <a:spcPts val="700"/>
              </a:spcAft>
              <a:buFont typeface="+mj-lt"/>
              <a:buChar char="•"/>
            </a:pPr>
            <a:r>
              <a:rPr lang="en-US" sz="1250" b="1">
                <a:latin typeface="Arial" panose="020B0604020202020204" pitchFamily="34" charset="0"/>
              </a:rPr>
              <a:t>Department - </a:t>
            </a:r>
            <a:r>
              <a:rPr lang="en-US" sz="1250">
                <a:latin typeface="Arial" panose="020B0604020202020204" pitchFamily="34" charset="0"/>
              </a:rPr>
              <a:t>National Jal Jeevan Mission (NJJM), Department of Drinking Water &amp; Sanitation (DDWS)</a:t>
            </a:r>
          </a:p>
          <a:p>
            <a:pPr marL="342900" indent="-342900">
              <a:spcBef>
                <a:spcPts val="0"/>
              </a:spcBef>
              <a:spcAft>
                <a:spcPts val="700"/>
              </a:spcAft>
              <a:buFont typeface="+mj-lt"/>
              <a:buChar char="•"/>
            </a:pPr>
            <a:r>
              <a:rPr lang="en-US" sz="1250" b="1">
                <a:latin typeface="Arial" panose="020B0604020202020204" pitchFamily="34" charset="0"/>
              </a:rPr>
              <a:t>Theme - </a:t>
            </a:r>
            <a:r>
              <a:rPr lang="en-US" sz="1250">
                <a:latin typeface="Arial" panose="020B0604020202020204" pitchFamily="34" charset="0"/>
              </a:rPr>
              <a:t>Clean &amp; Green Technology</a:t>
            </a:r>
          </a:p>
          <a:p>
            <a:pPr marL="342900" indent="-342900">
              <a:spcBef>
                <a:spcPts val="0"/>
              </a:spcBef>
              <a:spcAft>
                <a:spcPts val="700"/>
              </a:spcAft>
              <a:buFont typeface="+mj-lt"/>
              <a:buChar char="•"/>
            </a:pPr>
            <a:r>
              <a:rPr lang="en-US" sz="1250" b="1">
                <a:latin typeface="Arial" panose="020B0604020202020204" pitchFamily="34" charset="0"/>
              </a:rPr>
              <a:t>PS Category - </a:t>
            </a:r>
            <a:r>
              <a:rPr lang="en-US" sz="1250">
                <a:latin typeface="Arial" panose="020B0604020202020204" pitchFamily="34" charset="0"/>
              </a:rPr>
              <a:t>Hardware</a:t>
            </a:r>
          </a:p>
          <a:p>
            <a:pPr marL="342900" indent="-342900">
              <a:spcBef>
                <a:spcPts val="0"/>
              </a:spcBef>
              <a:spcAft>
                <a:spcPts val="700"/>
              </a:spcAft>
              <a:buFont typeface="+mj-lt"/>
              <a:buChar char="•"/>
            </a:pPr>
            <a:r>
              <a:rPr lang="en-US" sz="1250" b="1">
                <a:latin typeface="Arial" panose="020B0604020202020204" pitchFamily="34" charset="0"/>
              </a:rPr>
              <a:t>Team ID - </a:t>
            </a:r>
            <a:r>
              <a:rPr lang="en-US" sz="1250">
                <a:latin typeface="Arial" panose="020B0604020202020204" pitchFamily="34" charset="0"/>
              </a:rPr>
              <a:t>[enter from portal]</a:t>
            </a:r>
          </a:p>
          <a:p>
            <a:pPr marL="342900" indent="-342900">
              <a:spcBef>
                <a:spcPts val="0"/>
              </a:spcBef>
              <a:spcAft>
                <a:spcPts val="700"/>
              </a:spcAft>
              <a:buFont typeface="+mj-lt"/>
              <a:buChar char="•"/>
            </a:pPr>
            <a:r>
              <a:rPr lang="en-US" sz="1250" b="1">
                <a:latin typeface="Arial" panose="020B0604020202020204" pitchFamily="34" charset="0"/>
              </a:rPr>
              <a:t>Team Name - </a:t>
            </a:r>
            <a:r>
              <a:rPr lang="en-US" sz="1250">
                <a:latin typeface="Arial" panose="020B0604020202020204" pitchFamily="34" charset="0"/>
              </a:rPr>
              <a:t>Team Vistaar</a:t>
            </a:r>
            <a:endParaRPr lang="en-IN" sz="125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 name="TextBox 2">
            <a:extLst>
              <a:ext uri="{FF2B5EF4-FFF2-40B4-BE49-F238E27FC236}">
                <a16:creationId xmlns:a16="http://schemas.microsoft.com/office/drawing/2014/main" id="{B784294D-3741-93E8-B4B5-4EEF9BCCE102}"/>
              </a:ext>
            </a:extLst>
          </p:cNvPr>
          <p:cNvSpPr txBox="1"/>
          <p:nvPr/>
        </p:nvSpPr>
        <p:spPr>
          <a:xfrm>
            <a:off x="1244600" y="1219200"/>
            <a:ext cx="85344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1500" i="1">
                <a:solidFill>
                  <a:srgbClr val="475569"/>
                </a:solidFill>
                <a:latin typeface="Arial" panose="020B0604020202020204" pitchFamily="34" charset="0"/>
              </a:rPr>
              <a:t>Your Water. Your Village. Your Voice.</a:t>
            </a:r>
            <a:endParaRPr lang="en-IN" sz="1500" i="1">
              <a:solidFill>
                <a:srgbClr val="475569"/>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778000" y="0"/>
            <a:ext cx="7874000" cy="1143000"/>
          </a:xfrm>
        </p:spPr>
        <p:txBody>
          <a:bodyPr/>
          <a:lstStyle/>
          <a:p>
            <a:pPr eaLnBrk="1" hangingPunct="1"/>
            <a:r>
              <a:rPr lang="en-US" sz="2600" b="1">
                <a:latin typeface="Times New Roman" panose="02020603050405020304" pitchFamily="18" charset="0"/>
                <a:ea typeface="ＭＳ Ｐゴシック" pitchFamily="1" charset="-128"/>
                <a:cs typeface="Times New Roman" panose="02020603050405020304" pitchFamily="18" charset="0"/>
              </a:rPr>
              <a:t>THE PROBLEM &amp; OUR SOLUTION</a:t>
            </a:r>
            <a:endParaRPr lang="en-US" sz="2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42321934-2B34-B41E-3F6B-D23024DDFF6A}"/>
              </a:ext>
            </a:extLst>
          </p:cNvPr>
          <p:cNvSpPr/>
          <p:nvPr/>
        </p:nvSpPr>
        <p:spPr>
          <a:xfrm>
            <a:off x="304800" y="1168400"/>
            <a:ext cx="3022600" cy="4038600"/>
          </a:xfrm>
          <a:prstGeom prst="roundRect">
            <a:avLst>
              <a:gd name="adj" fmla="val 8000"/>
            </a:avLst>
          </a:prstGeom>
          <a:solidFill>
            <a:srgbClr val="FFF7F5"/>
          </a:solidFill>
          <a:ln w="9525">
            <a:solidFill>
              <a:srgbClr val="F3C9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DE6C2FAA-4CE3-5F3C-F011-4EC4CEF1C6CB}"/>
              </a:ext>
            </a:extLst>
          </p:cNvPr>
          <p:cNvSpPr/>
          <p:nvPr/>
        </p:nvSpPr>
        <p:spPr>
          <a:xfrm>
            <a:off x="406400" y="1244600"/>
            <a:ext cx="2819400" cy="279400"/>
          </a:xfrm>
          <a:prstGeom prst="roundRect">
            <a:avLst>
              <a:gd name="adj" fmla="val 8000"/>
            </a:avLst>
          </a:prstGeom>
          <a:solidFill>
            <a:srgbClr val="B91C1C"/>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THE PROBLEM</a:t>
            </a:r>
          </a:p>
        </p:txBody>
      </p:sp>
      <p:pic>
        <p:nvPicPr>
          <p:cNvPr id="5" name="Picture 4">
            <a:extLst>
              <a:ext uri="{FF2B5EF4-FFF2-40B4-BE49-F238E27FC236}">
                <a16:creationId xmlns:a16="http://schemas.microsoft.com/office/drawing/2014/main" id="{E4F3F864-C53C-297D-5B82-9346752B68FF}"/>
              </a:ext>
            </a:extLst>
          </p:cNvPr>
          <p:cNvPicPr>
            <a:picLocks/>
          </p:cNvPicPr>
          <p:nvPr/>
        </p:nvPicPr>
        <p:blipFill>
          <a:blip r:embed="rId4"/>
          <a:stretch>
            <a:fillRect/>
          </a:stretch>
        </p:blipFill>
        <p:spPr>
          <a:xfrm>
            <a:off x="381000" y="1651000"/>
            <a:ext cx="355600" cy="355600"/>
          </a:xfrm>
          <a:prstGeom prst="rect">
            <a:avLst/>
          </a:prstGeom>
        </p:spPr>
      </p:pic>
      <p:sp>
        <p:nvSpPr>
          <p:cNvPr id="8" name="TextBox 7">
            <a:extLst>
              <a:ext uri="{FF2B5EF4-FFF2-40B4-BE49-F238E27FC236}">
                <a16:creationId xmlns:a16="http://schemas.microsoft.com/office/drawing/2014/main" id="{7BD84E12-2188-B094-7A68-FBF3F0324C54}"/>
              </a:ext>
            </a:extLst>
          </p:cNvPr>
          <p:cNvSpPr txBox="1"/>
          <p:nvPr/>
        </p:nvSpPr>
        <p:spPr>
          <a:xfrm>
            <a:off x="812800" y="15748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Periodic reporting only</a:t>
            </a:r>
          </a:p>
          <a:p>
            <a:pPr>
              <a:spcBef>
                <a:spcPts val="0"/>
              </a:spcBef>
              <a:spcAft>
                <a:spcPts val="300"/>
              </a:spcAft>
            </a:pPr>
            <a:r>
              <a:rPr lang="en-US" sz="770">
                <a:solidFill>
                  <a:srgbClr val="475569"/>
                </a:solidFill>
                <a:latin typeface="Arial" panose="020B0604020202020204" pitchFamily="34" charset="0"/>
              </a:rPr>
              <a:t>Monitoring relies on periodic reports and field inspections, so disruptions are found late</a:t>
            </a:r>
            <a:endParaRPr lang="en-IN" sz="770">
              <a:solidFill>
                <a:srgbClr val="475569"/>
              </a:solidFill>
              <a:latin typeface="Arial" panose="020B0604020202020204" pitchFamily="34" charset="0"/>
            </a:endParaRPr>
          </a:p>
        </p:txBody>
      </p:sp>
      <p:pic>
        <p:nvPicPr>
          <p:cNvPr id="13" name="Picture 12">
            <a:extLst>
              <a:ext uri="{FF2B5EF4-FFF2-40B4-BE49-F238E27FC236}">
                <a16:creationId xmlns:a16="http://schemas.microsoft.com/office/drawing/2014/main" id="{E66D87A5-5287-5B67-DD15-92810A739CB7}"/>
              </a:ext>
            </a:extLst>
          </p:cNvPr>
          <p:cNvPicPr>
            <a:picLocks/>
          </p:cNvPicPr>
          <p:nvPr/>
        </p:nvPicPr>
        <p:blipFill>
          <a:blip r:embed="rId5"/>
          <a:stretch>
            <a:fillRect/>
          </a:stretch>
        </p:blipFill>
        <p:spPr>
          <a:xfrm>
            <a:off x="381000" y="2374900"/>
            <a:ext cx="355600" cy="355600"/>
          </a:xfrm>
          <a:prstGeom prst="rect">
            <a:avLst/>
          </a:prstGeom>
        </p:spPr>
      </p:pic>
      <p:sp>
        <p:nvSpPr>
          <p:cNvPr id="14" name="TextBox 13">
            <a:extLst>
              <a:ext uri="{FF2B5EF4-FFF2-40B4-BE49-F238E27FC236}">
                <a16:creationId xmlns:a16="http://schemas.microsoft.com/office/drawing/2014/main" id="{20EB782D-E69C-20C6-90E7-EBDAE9DFEBA2}"/>
              </a:ext>
            </a:extLst>
          </p:cNvPr>
          <p:cNvSpPr txBox="1"/>
          <p:nvPr/>
        </p:nvSpPr>
        <p:spPr>
          <a:xfrm>
            <a:off x="812800" y="22987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Disruptions go unseen</a:t>
            </a:r>
          </a:p>
          <a:p>
            <a:pPr>
              <a:spcBef>
                <a:spcPts val="0"/>
              </a:spcBef>
              <a:spcAft>
                <a:spcPts val="300"/>
              </a:spcAft>
            </a:pPr>
            <a:r>
              <a:rPr lang="en-US" sz="770">
                <a:solidFill>
                  <a:srgbClr val="475569"/>
                </a:solidFill>
                <a:latin typeface="Arial" panose="020B0604020202020204" pitchFamily="34" charset="0"/>
              </a:rPr>
              <a:t>Non-functional taps, intermittent supply, poor water quality, inadequate pressure, infrastructure failures</a:t>
            </a:r>
            <a:endParaRPr lang="en-IN" sz="770">
              <a:solidFill>
                <a:srgbClr val="475569"/>
              </a:solidFill>
              <a:latin typeface="Arial" panose="020B0604020202020204" pitchFamily="34" charset="0"/>
            </a:endParaRPr>
          </a:p>
        </p:txBody>
      </p:sp>
      <p:pic>
        <p:nvPicPr>
          <p:cNvPr id="16" name="Picture 15">
            <a:extLst>
              <a:ext uri="{FF2B5EF4-FFF2-40B4-BE49-F238E27FC236}">
                <a16:creationId xmlns:a16="http://schemas.microsoft.com/office/drawing/2014/main" id="{BDCE1005-D0C5-9279-F0C2-46D519A0F9C1}"/>
              </a:ext>
            </a:extLst>
          </p:cNvPr>
          <p:cNvPicPr>
            <a:picLocks/>
          </p:cNvPicPr>
          <p:nvPr/>
        </p:nvPicPr>
        <p:blipFill>
          <a:blip r:embed="rId6"/>
          <a:stretch>
            <a:fillRect/>
          </a:stretch>
        </p:blipFill>
        <p:spPr>
          <a:xfrm>
            <a:off x="381000" y="3098800"/>
            <a:ext cx="355600" cy="355600"/>
          </a:xfrm>
          <a:prstGeom prst="rect">
            <a:avLst/>
          </a:prstGeom>
        </p:spPr>
      </p:pic>
      <p:sp>
        <p:nvSpPr>
          <p:cNvPr id="17" name="TextBox 16">
            <a:extLst>
              <a:ext uri="{FF2B5EF4-FFF2-40B4-BE49-F238E27FC236}">
                <a16:creationId xmlns:a16="http://schemas.microsoft.com/office/drawing/2014/main" id="{930D7406-06FB-BE07-D579-6D5F54381534}"/>
              </a:ext>
            </a:extLst>
          </p:cNvPr>
          <p:cNvSpPr txBox="1"/>
          <p:nvPr/>
        </p:nvSpPr>
        <p:spPr>
          <a:xfrm>
            <a:off x="812800" y="30226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Limited community feedback</a:t>
            </a:r>
          </a:p>
          <a:p>
            <a:pPr>
              <a:spcBef>
                <a:spcPts val="0"/>
              </a:spcBef>
              <a:spcAft>
                <a:spcPts val="300"/>
              </a:spcAft>
            </a:pPr>
            <a:r>
              <a:rPr lang="en-US" sz="770">
                <a:solidFill>
                  <a:srgbClr val="475569"/>
                </a:solidFill>
                <a:latin typeface="Arial" panose="020B0604020202020204" pitchFamily="34" charset="0"/>
              </a:rPr>
              <a:t>No real-time way for villagers to report, or to validate service</a:t>
            </a:r>
            <a:endParaRPr lang="en-IN" sz="770">
              <a:solidFill>
                <a:srgbClr val="475569"/>
              </a:solidFill>
              <a:latin typeface="Arial" panose="020B0604020202020204" pitchFamily="34" charset="0"/>
            </a:endParaRPr>
          </a:p>
        </p:txBody>
      </p:sp>
      <p:pic>
        <p:nvPicPr>
          <p:cNvPr id="19" name="Picture 18">
            <a:extLst>
              <a:ext uri="{FF2B5EF4-FFF2-40B4-BE49-F238E27FC236}">
                <a16:creationId xmlns:a16="http://schemas.microsoft.com/office/drawing/2014/main" id="{E5D64CED-9D02-3F1C-3868-3E5260681F84}"/>
              </a:ext>
            </a:extLst>
          </p:cNvPr>
          <p:cNvPicPr>
            <a:picLocks/>
          </p:cNvPicPr>
          <p:nvPr/>
        </p:nvPicPr>
        <p:blipFill>
          <a:blip r:embed="rId7"/>
          <a:stretch>
            <a:fillRect/>
          </a:stretch>
        </p:blipFill>
        <p:spPr>
          <a:xfrm>
            <a:off x="381000" y="3822700"/>
            <a:ext cx="355600" cy="355600"/>
          </a:xfrm>
          <a:prstGeom prst="rect">
            <a:avLst/>
          </a:prstGeom>
        </p:spPr>
      </p:pic>
      <p:sp>
        <p:nvSpPr>
          <p:cNvPr id="20" name="TextBox 19">
            <a:extLst>
              <a:ext uri="{FF2B5EF4-FFF2-40B4-BE49-F238E27FC236}">
                <a16:creationId xmlns:a16="http://schemas.microsoft.com/office/drawing/2014/main" id="{04B3092F-A74F-06D3-4700-0369B9E3395E}"/>
              </a:ext>
            </a:extLst>
          </p:cNvPr>
          <p:cNvSpPr txBox="1"/>
          <p:nvPr/>
        </p:nvSpPr>
        <p:spPr>
          <a:xfrm>
            <a:off x="812800" y="37465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No unified platform</a:t>
            </a:r>
          </a:p>
          <a:p>
            <a:pPr>
              <a:spcBef>
                <a:spcPts val="0"/>
              </a:spcBef>
              <a:spcAft>
                <a:spcPts val="300"/>
              </a:spcAft>
            </a:pPr>
            <a:r>
              <a:rPr lang="en-US" sz="770">
                <a:solidFill>
                  <a:srgbClr val="475569"/>
                </a:solidFill>
                <a:latin typeface="Arial" panose="020B0604020202020204" pitchFamily="34" charset="0"/>
              </a:rPr>
              <a:t>Sensors, mobile apps, water-quality systems and citizen feedback are not brought together</a:t>
            </a:r>
            <a:endParaRPr lang="en-IN" sz="770">
              <a:solidFill>
                <a:srgbClr val="475569"/>
              </a:solidFill>
              <a:latin typeface="Arial" panose="020B0604020202020204" pitchFamily="34" charset="0"/>
            </a:endParaRPr>
          </a:p>
        </p:txBody>
      </p:sp>
      <p:pic>
        <p:nvPicPr>
          <p:cNvPr id="22" name="Picture 21">
            <a:extLst>
              <a:ext uri="{FF2B5EF4-FFF2-40B4-BE49-F238E27FC236}">
                <a16:creationId xmlns:a16="http://schemas.microsoft.com/office/drawing/2014/main" id="{47BC12D7-E706-07F5-7E11-44439B28BBC5}"/>
              </a:ext>
            </a:extLst>
          </p:cNvPr>
          <p:cNvPicPr>
            <a:picLocks/>
          </p:cNvPicPr>
          <p:nvPr/>
        </p:nvPicPr>
        <p:blipFill>
          <a:blip r:embed="rId8"/>
          <a:stretch>
            <a:fillRect/>
          </a:stretch>
        </p:blipFill>
        <p:spPr>
          <a:xfrm>
            <a:off x="381000" y="4546600"/>
            <a:ext cx="355600" cy="355600"/>
          </a:xfrm>
          <a:prstGeom prst="rect">
            <a:avLst/>
          </a:prstGeom>
        </p:spPr>
      </p:pic>
      <p:sp>
        <p:nvSpPr>
          <p:cNvPr id="23" name="TextBox 22">
            <a:extLst>
              <a:ext uri="{FF2B5EF4-FFF2-40B4-BE49-F238E27FC236}">
                <a16:creationId xmlns:a16="http://schemas.microsoft.com/office/drawing/2014/main" id="{3257E316-CDA3-E9F6-FA78-EBADE7434B59}"/>
              </a:ext>
            </a:extLst>
          </p:cNvPr>
          <p:cNvSpPr txBox="1"/>
          <p:nvPr/>
        </p:nvSpPr>
        <p:spPr>
          <a:xfrm>
            <a:off x="812800" y="44704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Taps installed, service uncertain</a:t>
            </a:r>
          </a:p>
          <a:p>
            <a:pPr>
              <a:spcBef>
                <a:spcPts val="0"/>
              </a:spcBef>
              <a:spcAft>
                <a:spcPts val="300"/>
              </a:spcAft>
            </a:pPr>
            <a:r>
              <a:rPr lang="en-US" sz="770">
                <a:solidFill>
                  <a:srgbClr val="475569"/>
                </a:solidFill>
                <a:latin typeface="Arial" panose="020B0604020202020204" pitchFamily="34" charset="0"/>
              </a:rPr>
              <a:t>98.1% of surveyed households had a tap, but only 76.0% were assessed as functional [1]</a:t>
            </a:r>
            <a:endParaRPr lang="en-IN" sz="770">
              <a:solidFill>
                <a:srgbClr val="475569"/>
              </a:solidFill>
              <a:latin typeface="Arial" panose="020B0604020202020204" pitchFamily="34" charset="0"/>
            </a:endParaRPr>
          </a:p>
        </p:txBody>
      </p:sp>
      <p:pic>
        <p:nvPicPr>
          <p:cNvPr id="25" name="Picture 24">
            <a:extLst>
              <a:ext uri="{FF2B5EF4-FFF2-40B4-BE49-F238E27FC236}">
                <a16:creationId xmlns:a16="http://schemas.microsoft.com/office/drawing/2014/main" id="{601AABF5-2373-19A7-F25B-2BF25F6E853B}"/>
              </a:ext>
            </a:extLst>
          </p:cNvPr>
          <p:cNvPicPr>
            <a:picLocks/>
          </p:cNvPicPr>
          <p:nvPr/>
        </p:nvPicPr>
        <p:blipFill>
          <a:blip r:embed="rId9"/>
          <a:stretch>
            <a:fillRect/>
          </a:stretch>
        </p:blipFill>
        <p:spPr>
          <a:xfrm>
            <a:off x="3403600" y="1168400"/>
            <a:ext cx="5207000" cy="4064000"/>
          </a:xfrm>
          <a:prstGeom prst="rect">
            <a:avLst/>
          </a:prstGeom>
          <a:ln w="9525">
            <a:solidFill>
              <a:srgbClr val="CBD5E1"/>
            </a:solidFill>
          </a:ln>
        </p:spPr>
      </p:pic>
      <p:sp>
        <p:nvSpPr>
          <p:cNvPr id="26" name="Rectangle: Rounded Corners 25">
            <a:extLst>
              <a:ext uri="{FF2B5EF4-FFF2-40B4-BE49-F238E27FC236}">
                <a16:creationId xmlns:a16="http://schemas.microsoft.com/office/drawing/2014/main" id="{FB8A9243-14BB-E525-863D-47A26827520A}"/>
              </a:ext>
            </a:extLst>
          </p:cNvPr>
          <p:cNvSpPr/>
          <p:nvPr/>
        </p:nvSpPr>
        <p:spPr>
          <a:xfrm>
            <a:off x="8686800" y="1168400"/>
            <a:ext cx="3200400" cy="4038600"/>
          </a:xfrm>
          <a:prstGeom prst="roundRect">
            <a:avLst>
              <a:gd name="adj" fmla="val 8000"/>
            </a:avLst>
          </a:prstGeom>
          <a:solidFill>
            <a:srgbClr val="F3FBF5"/>
          </a:solidFill>
          <a:ln w="9525">
            <a:solidFill>
              <a:srgbClr val="BFE3C8"/>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CC429581-8065-57BE-53C8-3C3ACF5C1372}"/>
              </a:ext>
            </a:extLst>
          </p:cNvPr>
          <p:cNvSpPr/>
          <p:nvPr/>
        </p:nvSpPr>
        <p:spPr>
          <a:xfrm>
            <a:off x="8788400" y="1244600"/>
            <a:ext cx="2997200" cy="2794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OUR SOLUTION: JALRAKSHAK</a:t>
            </a:r>
          </a:p>
        </p:txBody>
      </p:sp>
      <p:sp>
        <p:nvSpPr>
          <p:cNvPr id="28" name="Oval 27">
            <a:extLst>
              <a:ext uri="{FF2B5EF4-FFF2-40B4-BE49-F238E27FC236}">
                <a16:creationId xmlns:a16="http://schemas.microsoft.com/office/drawing/2014/main" id="{35EE06D8-00DE-24F5-2968-AE548819BBD1}"/>
              </a:ext>
            </a:extLst>
          </p:cNvPr>
          <p:cNvSpPr/>
          <p:nvPr/>
        </p:nvSpPr>
        <p:spPr>
          <a:xfrm>
            <a:off x="8839200" y="16129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29" name="TextBox 28">
            <a:extLst>
              <a:ext uri="{FF2B5EF4-FFF2-40B4-BE49-F238E27FC236}">
                <a16:creationId xmlns:a16="http://schemas.microsoft.com/office/drawing/2014/main" id="{1227B4C5-F3F5-5AF8-CA6D-8BD4B826E346}"/>
              </a:ext>
            </a:extLst>
          </p:cNvPr>
          <p:cNvSpPr txBox="1"/>
          <p:nvPr/>
        </p:nvSpPr>
        <p:spPr>
          <a:xfrm>
            <a:off x="9093200" y="15748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Continuous FHTC monitoring</a:t>
            </a:r>
          </a:p>
          <a:p>
            <a:pPr>
              <a:spcBef>
                <a:spcPts val="0"/>
              </a:spcBef>
              <a:spcAft>
                <a:spcPts val="300"/>
              </a:spcAft>
            </a:pPr>
            <a:r>
              <a:rPr lang="en-US" sz="740">
                <a:solidFill>
                  <a:srgbClr val="475569"/>
                </a:solidFill>
                <a:latin typeface="Arial" panose="020B0604020202020204" pitchFamily="34" charset="0"/>
              </a:rPr>
              <a:t>at Gram Panchayat and household levels using AI/ML</a:t>
            </a:r>
            <a:endParaRPr lang="en-IN" sz="740">
              <a:solidFill>
                <a:srgbClr val="475569"/>
              </a:solidFill>
              <a:latin typeface="Arial" panose="020B0604020202020204" pitchFamily="34" charset="0"/>
            </a:endParaRPr>
          </a:p>
        </p:txBody>
      </p:sp>
      <p:sp>
        <p:nvSpPr>
          <p:cNvPr id="30" name="Oval 29">
            <a:extLst>
              <a:ext uri="{FF2B5EF4-FFF2-40B4-BE49-F238E27FC236}">
                <a16:creationId xmlns:a16="http://schemas.microsoft.com/office/drawing/2014/main" id="{D1F9E270-55E8-A0B4-F752-7B54FD428607}"/>
              </a:ext>
            </a:extLst>
          </p:cNvPr>
          <p:cNvSpPr/>
          <p:nvPr/>
        </p:nvSpPr>
        <p:spPr>
          <a:xfrm>
            <a:off x="8839200" y="21285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31" name="TextBox 30">
            <a:extLst>
              <a:ext uri="{FF2B5EF4-FFF2-40B4-BE49-F238E27FC236}">
                <a16:creationId xmlns:a16="http://schemas.microsoft.com/office/drawing/2014/main" id="{0D07DDC9-1278-DFBE-1447-2159F2C1C6BB}"/>
              </a:ext>
            </a:extLst>
          </p:cNvPr>
          <p:cNvSpPr txBox="1"/>
          <p:nvPr/>
        </p:nvSpPr>
        <p:spPr>
          <a:xfrm>
            <a:off x="9093200" y="20904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Real-time alerts</a:t>
            </a:r>
          </a:p>
          <a:p>
            <a:pPr>
              <a:spcBef>
                <a:spcPts val="0"/>
              </a:spcBef>
              <a:spcAft>
                <a:spcPts val="300"/>
              </a:spcAft>
            </a:pPr>
            <a:r>
              <a:rPr lang="en-US" sz="740">
                <a:solidFill>
                  <a:srgbClr val="475569"/>
                </a:solidFill>
                <a:latin typeface="Arial" panose="020B0604020202020204" pitchFamily="34" charset="0"/>
              </a:rPr>
              <a:t>water supply disruption, water quality deterioration, low pressure, leakages, infrastructure failure</a:t>
            </a:r>
            <a:endParaRPr lang="en-IN" sz="740">
              <a:solidFill>
                <a:srgbClr val="475569"/>
              </a:solidFill>
              <a:latin typeface="Arial" panose="020B0604020202020204" pitchFamily="34" charset="0"/>
            </a:endParaRPr>
          </a:p>
        </p:txBody>
      </p:sp>
      <p:sp>
        <p:nvSpPr>
          <p:cNvPr id="32" name="Oval 31">
            <a:extLst>
              <a:ext uri="{FF2B5EF4-FFF2-40B4-BE49-F238E27FC236}">
                <a16:creationId xmlns:a16="http://schemas.microsoft.com/office/drawing/2014/main" id="{9AD3AF2D-EE8F-84C3-AC57-D9D26CE8BC99}"/>
              </a:ext>
            </a:extLst>
          </p:cNvPr>
          <p:cNvSpPr/>
          <p:nvPr/>
        </p:nvSpPr>
        <p:spPr>
          <a:xfrm>
            <a:off x="8839200" y="264414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33" name="TextBox 32">
            <a:extLst>
              <a:ext uri="{FF2B5EF4-FFF2-40B4-BE49-F238E27FC236}">
                <a16:creationId xmlns:a16="http://schemas.microsoft.com/office/drawing/2014/main" id="{7FF91DD5-30AF-1579-7989-40210F51CEFA}"/>
              </a:ext>
            </a:extLst>
          </p:cNvPr>
          <p:cNvSpPr txBox="1"/>
          <p:nvPr/>
        </p:nvSpPr>
        <p:spPr>
          <a:xfrm>
            <a:off x="9093200" y="260604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Community feedback</a:t>
            </a:r>
          </a:p>
          <a:p>
            <a:pPr>
              <a:spcBef>
                <a:spcPts val="0"/>
              </a:spcBef>
              <a:spcAft>
                <a:spcPts val="300"/>
              </a:spcAft>
            </a:pPr>
            <a:r>
              <a:rPr lang="en-US" sz="740">
                <a:solidFill>
                  <a:srgbClr val="475569"/>
                </a:solidFill>
                <a:latin typeface="Arial" panose="020B0604020202020204" pitchFamily="34" charset="0"/>
              </a:rPr>
              <a:t>complaints, photographs and geo-tagged observations from mobile devices, in local languages</a:t>
            </a:r>
            <a:endParaRPr lang="en-IN" sz="740">
              <a:solidFill>
                <a:srgbClr val="475569"/>
              </a:solidFill>
              <a:latin typeface="Arial" panose="020B0604020202020204" pitchFamily="34" charset="0"/>
            </a:endParaRPr>
          </a:p>
        </p:txBody>
      </p:sp>
      <p:sp>
        <p:nvSpPr>
          <p:cNvPr id="34" name="Oval 33">
            <a:extLst>
              <a:ext uri="{FF2B5EF4-FFF2-40B4-BE49-F238E27FC236}">
                <a16:creationId xmlns:a16="http://schemas.microsoft.com/office/drawing/2014/main" id="{BCA7024D-3F1D-885B-DA6B-79B883379D62}"/>
              </a:ext>
            </a:extLst>
          </p:cNvPr>
          <p:cNvSpPr/>
          <p:nvPr/>
        </p:nvSpPr>
        <p:spPr>
          <a:xfrm>
            <a:off x="8839200" y="315976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35" name="TextBox 34">
            <a:extLst>
              <a:ext uri="{FF2B5EF4-FFF2-40B4-BE49-F238E27FC236}">
                <a16:creationId xmlns:a16="http://schemas.microsoft.com/office/drawing/2014/main" id="{3F4667EB-5532-3D6D-F295-9FF84339936B}"/>
              </a:ext>
            </a:extLst>
          </p:cNvPr>
          <p:cNvSpPr txBox="1"/>
          <p:nvPr/>
        </p:nvSpPr>
        <p:spPr>
          <a:xfrm>
            <a:off x="9093200" y="312166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fr-FR" sz="880" b="1">
                <a:solidFill>
                  <a:srgbClr val="1F2937"/>
                </a:solidFill>
                <a:latin typeface="Arial" panose="020B0604020202020204" pitchFamily="34" charset="0"/>
              </a:rPr>
              <a:t>AI/ML analytics</a:t>
            </a:r>
          </a:p>
          <a:p>
            <a:pPr>
              <a:spcBef>
                <a:spcPts val="0"/>
              </a:spcBef>
              <a:spcAft>
                <a:spcPts val="300"/>
              </a:spcAft>
            </a:pPr>
            <a:r>
              <a:rPr lang="fr-FR" sz="740">
                <a:solidFill>
                  <a:srgbClr val="475569"/>
                </a:solidFill>
                <a:latin typeface="Arial" panose="020B0604020202020204" pitchFamily="34" charset="0"/>
              </a:rPr>
              <a:t>abnormal service patterns, failure prediction, maintenance prioritisation</a:t>
            </a:r>
            <a:endParaRPr lang="en-IN" sz="740">
              <a:solidFill>
                <a:srgbClr val="475569"/>
              </a:solidFill>
              <a:latin typeface="Arial" panose="020B0604020202020204" pitchFamily="34" charset="0"/>
            </a:endParaRPr>
          </a:p>
        </p:txBody>
      </p:sp>
      <p:sp>
        <p:nvSpPr>
          <p:cNvPr id="36" name="Oval 35">
            <a:extLst>
              <a:ext uri="{FF2B5EF4-FFF2-40B4-BE49-F238E27FC236}">
                <a16:creationId xmlns:a16="http://schemas.microsoft.com/office/drawing/2014/main" id="{015A103D-1C2B-1F13-95CF-B1C99C36F2A5}"/>
              </a:ext>
            </a:extLst>
          </p:cNvPr>
          <p:cNvSpPr/>
          <p:nvPr/>
        </p:nvSpPr>
        <p:spPr>
          <a:xfrm>
            <a:off x="8839200" y="367538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37" name="TextBox 36">
            <a:extLst>
              <a:ext uri="{FF2B5EF4-FFF2-40B4-BE49-F238E27FC236}">
                <a16:creationId xmlns:a16="http://schemas.microsoft.com/office/drawing/2014/main" id="{C23341D0-57C9-FA4F-A522-0993695E8453}"/>
              </a:ext>
            </a:extLst>
          </p:cNvPr>
          <p:cNvSpPr txBox="1"/>
          <p:nvPr/>
        </p:nvSpPr>
        <p:spPr>
          <a:xfrm>
            <a:off x="9093200" y="363728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Automatic sync</a:t>
            </a:r>
          </a:p>
          <a:p>
            <a:pPr>
              <a:spcBef>
                <a:spcPts val="0"/>
              </a:spcBef>
              <a:spcAft>
                <a:spcPts val="300"/>
              </a:spcAft>
            </a:pPr>
            <a:r>
              <a:rPr lang="en-US" sz="740">
                <a:solidFill>
                  <a:srgbClr val="475569"/>
                </a:solidFill>
                <a:latin typeface="Arial" panose="020B0604020202020204" pitchFamily="34" charset="0"/>
              </a:rPr>
              <a:t>monitoring data, alerts and feedback to IMIS, Sujal Gaon IDs and other JJM platforms</a:t>
            </a:r>
            <a:endParaRPr lang="en-IN" sz="740">
              <a:solidFill>
                <a:srgbClr val="475569"/>
              </a:solidFill>
              <a:latin typeface="Arial" panose="020B0604020202020204" pitchFamily="34" charset="0"/>
            </a:endParaRPr>
          </a:p>
        </p:txBody>
      </p:sp>
      <p:sp>
        <p:nvSpPr>
          <p:cNvPr id="38" name="Oval 37">
            <a:extLst>
              <a:ext uri="{FF2B5EF4-FFF2-40B4-BE49-F238E27FC236}">
                <a16:creationId xmlns:a16="http://schemas.microsoft.com/office/drawing/2014/main" id="{8B610228-6514-6908-588A-F89F632F65E8}"/>
              </a:ext>
            </a:extLst>
          </p:cNvPr>
          <p:cNvSpPr/>
          <p:nvPr/>
        </p:nvSpPr>
        <p:spPr>
          <a:xfrm>
            <a:off x="8839200" y="41910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39" name="TextBox 38">
            <a:extLst>
              <a:ext uri="{FF2B5EF4-FFF2-40B4-BE49-F238E27FC236}">
                <a16:creationId xmlns:a16="http://schemas.microsoft.com/office/drawing/2014/main" id="{DE2E885A-17B6-AA20-2AE0-1805CD0F1D24}"/>
              </a:ext>
            </a:extLst>
          </p:cNvPr>
          <p:cNvSpPr txBox="1"/>
          <p:nvPr/>
        </p:nvSpPr>
        <p:spPr>
          <a:xfrm>
            <a:off x="9093200" y="41529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1F2937"/>
                </a:solidFill>
                <a:latin typeface="Arial" panose="020B0604020202020204" pitchFamily="34" charset="0"/>
              </a:rPr>
              <a:t>Interactive dashboards</a:t>
            </a:r>
          </a:p>
          <a:p>
            <a:pPr>
              <a:spcBef>
                <a:spcPts val="0"/>
              </a:spcBef>
              <a:spcAft>
                <a:spcPts val="300"/>
              </a:spcAft>
            </a:pPr>
            <a:r>
              <a:rPr lang="en-IN" sz="740">
                <a:solidFill>
                  <a:srgbClr val="475569"/>
                </a:solidFill>
                <a:latin typeface="Arial" panose="020B0604020202020204" pitchFamily="34" charset="0"/>
              </a:rPr>
              <a:t>GIS visualisation, service status indicators, analytics for multiple administrative levels</a:t>
            </a:r>
          </a:p>
        </p:txBody>
      </p:sp>
      <p:sp>
        <p:nvSpPr>
          <p:cNvPr id="40" name="Oval 39">
            <a:extLst>
              <a:ext uri="{FF2B5EF4-FFF2-40B4-BE49-F238E27FC236}">
                <a16:creationId xmlns:a16="http://schemas.microsoft.com/office/drawing/2014/main" id="{4D5F2B56-0C86-EF99-FD9D-732119ADF1CB}"/>
              </a:ext>
            </a:extLst>
          </p:cNvPr>
          <p:cNvSpPr/>
          <p:nvPr/>
        </p:nvSpPr>
        <p:spPr>
          <a:xfrm>
            <a:off x="8839200" y="47066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7</a:t>
            </a:r>
          </a:p>
        </p:txBody>
      </p:sp>
      <p:sp>
        <p:nvSpPr>
          <p:cNvPr id="41" name="TextBox 40">
            <a:extLst>
              <a:ext uri="{FF2B5EF4-FFF2-40B4-BE49-F238E27FC236}">
                <a16:creationId xmlns:a16="http://schemas.microsoft.com/office/drawing/2014/main" id="{0EDC3423-7FCB-3F03-7333-B25C8A30CD2D}"/>
              </a:ext>
            </a:extLst>
          </p:cNvPr>
          <p:cNvSpPr txBox="1"/>
          <p:nvPr/>
        </p:nvSpPr>
        <p:spPr>
          <a:xfrm>
            <a:off x="9093200" y="46685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Scalable, interoperable, secure</a:t>
            </a:r>
          </a:p>
          <a:p>
            <a:pPr>
              <a:spcBef>
                <a:spcPts val="0"/>
              </a:spcBef>
              <a:spcAft>
                <a:spcPts val="300"/>
              </a:spcAft>
            </a:pPr>
            <a:r>
              <a:rPr lang="en-US" sz="740">
                <a:solidFill>
                  <a:srgbClr val="475569"/>
                </a:solidFill>
                <a:latin typeface="Arial" panose="020B0604020202020204" pitchFamily="34" charset="0"/>
              </a:rPr>
              <a:t>data security and ease of deployment</a:t>
            </a:r>
            <a:endParaRPr lang="en-IN" sz="740">
              <a:solidFill>
                <a:srgbClr val="475569"/>
              </a:solidFill>
              <a:latin typeface="Arial" panose="020B0604020202020204" pitchFamily="34" charset="0"/>
            </a:endParaRPr>
          </a:p>
        </p:txBody>
      </p:sp>
      <p:sp>
        <p:nvSpPr>
          <p:cNvPr id="42" name="Arrow: Pentagon 41">
            <a:extLst>
              <a:ext uri="{FF2B5EF4-FFF2-40B4-BE49-F238E27FC236}">
                <a16:creationId xmlns:a16="http://schemas.microsoft.com/office/drawing/2014/main" id="{FAB910FB-B335-B4E7-9B82-E745AA55A656}"/>
              </a:ext>
            </a:extLst>
          </p:cNvPr>
          <p:cNvSpPr/>
          <p:nvPr/>
        </p:nvSpPr>
        <p:spPr>
          <a:xfrm>
            <a:off x="304800" y="5308600"/>
            <a:ext cx="1701800" cy="508000"/>
          </a:xfrm>
          <a:prstGeom prst="homePlat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SENSE</a:t>
            </a:r>
          </a:p>
          <a:p>
            <a:pPr algn="ctr">
              <a:spcBef>
                <a:spcPts val="0"/>
              </a:spcBef>
              <a:spcAft>
                <a:spcPts val="300"/>
              </a:spcAft>
            </a:pPr>
            <a:r>
              <a:rPr lang="en-IN" sz="750">
                <a:solidFill>
                  <a:srgbClr val="FFFFFF"/>
                </a:solidFill>
                <a:latin typeface="Arial" panose="020B0604020202020204" pitchFamily="34" charset="0"/>
              </a:rPr>
              <a:t>Nodes + villagers</a:t>
            </a:r>
          </a:p>
        </p:txBody>
      </p:sp>
      <p:sp>
        <p:nvSpPr>
          <p:cNvPr id="43" name="Arrow: Chevron 42">
            <a:extLst>
              <a:ext uri="{FF2B5EF4-FFF2-40B4-BE49-F238E27FC236}">
                <a16:creationId xmlns:a16="http://schemas.microsoft.com/office/drawing/2014/main" id="{0D335A3E-7605-F62D-2D55-EB13FB26672C}"/>
              </a:ext>
            </a:extLst>
          </p:cNvPr>
          <p:cNvSpPr/>
          <p:nvPr/>
        </p:nvSpPr>
        <p:spPr>
          <a:xfrm>
            <a:off x="19304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UNDERSTAND</a:t>
            </a:r>
          </a:p>
          <a:p>
            <a:pPr algn="ctr">
              <a:spcBef>
                <a:spcPts val="0"/>
              </a:spcBef>
              <a:spcAft>
                <a:spcPts val="300"/>
              </a:spcAft>
            </a:pPr>
            <a:r>
              <a:rPr lang="en-IN" sz="750">
                <a:solidFill>
                  <a:srgbClr val="FFFFFF"/>
                </a:solidFill>
                <a:latin typeface="Arial" panose="020B0604020202020204" pitchFamily="34" charset="0"/>
              </a:rPr>
              <a:t>Rules + AI/ML</a:t>
            </a:r>
          </a:p>
        </p:txBody>
      </p:sp>
      <p:sp>
        <p:nvSpPr>
          <p:cNvPr id="44" name="Arrow: Chevron 43">
            <a:extLst>
              <a:ext uri="{FF2B5EF4-FFF2-40B4-BE49-F238E27FC236}">
                <a16:creationId xmlns:a16="http://schemas.microsoft.com/office/drawing/2014/main" id="{9E65B516-87B3-242A-E3F5-5A2F1DB2CE9A}"/>
              </a:ext>
            </a:extLst>
          </p:cNvPr>
          <p:cNvSpPr/>
          <p:nvPr/>
        </p:nvSpPr>
        <p:spPr>
          <a:xfrm>
            <a:off x="35560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ALERT</a:t>
            </a:r>
          </a:p>
          <a:p>
            <a:pPr algn="ctr">
              <a:spcBef>
                <a:spcPts val="0"/>
              </a:spcBef>
              <a:spcAft>
                <a:spcPts val="300"/>
              </a:spcAft>
            </a:pPr>
            <a:r>
              <a:rPr lang="en-IN" sz="750">
                <a:solidFill>
                  <a:srgbClr val="FFFFFF"/>
                </a:solidFill>
                <a:latin typeface="Arial" panose="020B0604020202020204" pitchFamily="34" charset="0"/>
              </a:rPr>
              <a:t>Alert Center</a:t>
            </a:r>
          </a:p>
        </p:txBody>
      </p:sp>
      <p:sp>
        <p:nvSpPr>
          <p:cNvPr id="45" name="Arrow: Chevron 44">
            <a:extLst>
              <a:ext uri="{FF2B5EF4-FFF2-40B4-BE49-F238E27FC236}">
                <a16:creationId xmlns:a16="http://schemas.microsoft.com/office/drawing/2014/main" id="{801F803A-84AF-E9AA-85C6-8A9B71E7E75C}"/>
              </a:ext>
            </a:extLst>
          </p:cNvPr>
          <p:cNvSpPr/>
          <p:nvPr/>
        </p:nvSpPr>
        <p:spPr>
          <a:xfrm>
            <a:off x="51816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REPORT</a:t>
            </a:r>
          </a:p>
          <a:p>
            <a:pPr algn="ctr">
              <a:spcBef>
                <a:spcPts val="0"/>
              </a:spcBef>
              <a:spcAft>
                <a:spcPts val="300"/>
              </a:spcAft>
            </a:pPr>
            <a:r>
              <a:rPr lang="en-IN" sz="750">
                <a:solidFill>
                  <a:srgbClr val="FFFFFF"/>
                </a:solidFill>
                <a:latin typeface="Arial" panose="020B0604020202020204" pitchFamily="34" charset="0"/>
              </a:rPr>
              <a:t>IMIS / JJM platforms</a:t>
            </a:r>
          </a:p>
        </p:txBody>
      </p:sp>
      <p:sp>
        <p:nvSpPr>
          <p:cNvPr id="46" name="Arrow: Chevron 45">
            <a:extLst>
              <a:ext uri="{FF2B5EF4-FFF2-40B4-BE49-F238E27FC236}">
                <a16:creationId xmlns:a16="http://schemas.microsoft.com/office/drawing/2014/main" id="{C142E6C8-325D-B2CD-6269-93126DF53E7B}"/>
              </a:ext>
            </a:extLst>
          </p:cNvPr>
          <p:cNvSpPr/>
          <p:nvPr/>
        </p:nvSpPr>
        <p:spPr>
          <a:xfrm>
            <a:off x="68072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FIX</a:t>
            </a:r>
          </a:p>
          <a:p>
            <a:pPr algn="ctr">
              <a:spcBef>
                <a:spcPts val="0"/>
              </a:spcBef>
              <a:spcAft>
                <a:spcPts val="300"/>
              </a:spcAft>
            </a:pPr>
            <a:r>
              <a:rPr lang="en-IN" sz="750">
                <a:solidFill>
                  <a:srgbClr val="FFFFFF"/>
                </a:solidFill>
                <a:latin typeface="Arial" panose="020B0604020202020204" pitchFamily="34" charset="0"/>
              </a:rPr>
              <a:t>Task + repair</a:t>
            </a:r>
          </a:p>
        </p:txBody>
      </p:sp>
      <p:sp>
        <p:nvSpPr>
          <p:cNvPr id="47" name="Arrow: Chevron 46">
            <a:extLst>
              <a:ext uri="{FF2B5EF4-FFF2-40B4-BE49-F238E27FC236}">
                <a16:creationId xmlns:a16="http://schemas.microsoft.com/office/drawing/2014/main" id="{BBE9D896-92ED-A9EC-9673-449FE51126C0}"/>
              </a:ext>
            </a:extLst>
          </p:cNvPr>
          <p:cNvSpPr/>
          <p:nvPr/>
        </p:nvSpPr>
        <p:spPr>
          <a:xfrm>
            <a:off x="8432800" y="5308600"/>
            <a:ext cx="1701800" cy="508000"/>
          </a:xfrm>
          <a:prstGeom prst="chevron">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VERIFY</a:t>
            </a:r>
          </a:p>
          <a:p>
            <a:pPr algn="ctr">
              <a:spcBef>
                <a:spcPts val="0"/>
              </a:spcBef>
              <a:spcAft>
                <a:spcPts val="300"/>
              </a:spcAft>
            </a:pPr>
            <a:r>
              <a:rPr lang="en-IN" sz="750">
                <a:solidFill>
                  <a:srgbClr val="FFFFFF"/>
                </a:solidFill>
                <a:latin typeface="Arial" panose="020B0604020202020204" pitchFamily="34" charset="0"/>
              </a:rPr>
              <a:t>Readings recover</a:t>
            </a:r>
          </a:p>
        </p:txBody>
      </p:sp>
      <p:sp>
        <p:nvSpPr>
          <p:cNvPr id="48" name="Rectangle: Rounded Corners 47">
            <a:extLst>
              <a:ext uri="{FF2B5EF4-FFF2-40B4-BE49-F238E27FC236}">
                <a16:creationId xmlns:a16="http://schemas.microsoft.com/office/drawing/2014/main" id="{CA48575A-1D1F-B3A6-867C-DFE7088F792E}"/>
              </a:ext>
            </a:extLst>
          </p:cNvPr>
          <p:cNvSpPr/>
          <p:nvPr/>
        </p:nvSpPr>
        <p:spPr>
          <a:xfrm>
            <a:off x="10160000" y="5308600"/>
            <a:ext cx="1727200" cy="508000"/>
          </a:xfrm>
          <a:prstGeom prst="roundRect">
            <a:avLst>
              <a:gd name="adj" fmla="val 8000"/>
            </a:avLst>
          </a:prstGeom>
          <a:solidFill>
            <a:srgbClr val="FFFFFF"/>
          </a:solidFill>
          <a:ln w="9525">
            <a:solidFill>
              <a:srgbClr val="0070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US" sz="900" b="1">
                <a:solidFill>
                  <a:srgbClr val="0070C0"/>
                </a:solidFill>
                <a:latin typeface="Arial" panose="020B0604020202020204" pitchFamily="34" charset="0"/>
              </a:rPr>
              <a:t>DEMO VIDEO (YouTube)</a:t>
            </a:r>
          </a:p>
          <a:p>
            <a:pPr algn="ctr">
              <a:spcBef>
                <a:spcPts val="0"/>
              </a:spcBef>
              <a:spcAft>
                <a:spcPts val="300"/>
              </a:spcAft>
            </a:pPr>
            <a:r>
              <a:rPr lang="en-US" sz="800">
                <a:solidFill>
                  <a:srgbClr val="475569"/>
                </a:solidFill>
                <a:latin typeface="Arial" panose="020B0604020202020204" pitchFamily="34" charset="0"/>
              </a:rPr>
              <a:t>[add link after upload]</a:t>
            </a:r>
            <a:endParaRPr lang="en-IN" sz="800">
              <a:solidFill>
                <a:srgbClr val="475569"/>
              </a:solidFill>
              <a:latin typeface="Arial" panose="020B0604020202020204" pitchFamily="34" charset="0"/>
            </a:endParaRPr>
          </a:p>
        </p:txBody>
      </p:sp>
      <p:sp>
        <p:nvSpPr>
          <p:cNvPr id="49" name="TextBox 48">
            <a:extLst>
              <a:ext uri="{FF2B5EF4-FFF2-40B4-BE49-F238E27FC236}">
                <a16:creationId xmlns:a16="http://schemas.microsoft.com/office/drawing/2014/main" id="{FA1CED00-8008-BB8C-8C70-EB2C7C7CF7FF}"/>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900" b="1">
                <a:solidFill>
                  <a:srgbClr val="0F766E"/>
                </a:solidFill>
                <a:latin typeface="Arial" panose="020B0604020202020204" pitchFamily="34" charset="0"/>
              </a:rPr>
              <a:t>For: </a:t>
            </a:r>
            <a:r>
              <a:rPr lang="en-US" sz="900">
                <a:solidFill>
                  <a:srgbClr val="1F2937"/>
                </a:solidFill>
                <a:latin typeface="Arial" panose="020B0604020202020204" pitchFamily="34" charset="0"/>
              </a:rPr>
              <a:t>Village Water &amp; Sanitation Committees (VWSCs), Gram Panchayats, implementing agencies and State authorities.</a:t>
            </a:r>
          </a:p>
          <a:p>
            <a:pPr>
              <a:spcBef>
                <a:spcPts val="0"/>
              </a:spcBef>
              <a:spcAft>
                <a:spcPts val="300"/>
              </a:spcAft>
            </a:pPr>
            <a:r>
              <a:rPr lang="en-US" sz="750" i="1">
                <a:solidFill>
                  <a:srgbClr val="475569"/>
                </a:solidFill>
                <a:latin typeface="Arial" panose="020B0604020202020204" pitchFamily="34" charset="0"/>
              </a:rPr>
              <a:t>[1] DDWS, Functionality Assessment of Household Tap Connection, National Report 2024 (weighted sample estimates).</a:t>
            </a:r>
            <a:endParaRPr lang="en-IN" sz="750" i="1">
              <a:solidFill>
                <a:srgbClr val="475569"/>
              </a:solidFill>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AF1DC646-B4DE-49B0-3453-4A90AAB1DE8D}"/>
              </a:ext>
            </a:extLst>
          </p:cNvPr>
          <p:cNvPicPr>
            <a:picLocks/>
          </p:cNvPicPr>
          <p:nvPr/>
        </p:nvPicPr>
        <p:blipFill>
          <a:blip r:embed="rId4"/>
          <a:stretch>
            <a:fillRect/>
          </a:stretch>
        </p:blipFill>
        <p:spPr>
          <a:xfrm>
            <a:off x="304800" y="1143000"/>
            <a:ext cx="8890000" cy="2870200"/>
          </a:xfrm>
          <a:prstGeom prst="rect">
            <a:avLst/>
          </a:prstGeom>
          <a:ln w="9525">
            <a:solidFill>
              <a:srgbClr val="CBD5E1"/>
            </a:solidFill>
          </a:ln>
        </p:spPr>
      </p:pic>
      <p:sp>
        <p:nvSpPr>
          <p:cNvPr id="4" name="Rectangle: Rounded Corners 3">
            <a:extLst>
              <a:ext uri="{FF2B5EF4-FFF2-40B4-BE49-F238E27FC236}">
                <a16:creationId xmlns:a16="http://schemas.microsoft.com/office/drawing/2014/main" id="{09827747-93F2-3CF6-CFA0-9D7702E532C7}"/>
              </a:ext>
            </a:extLst>
          </p:cNvPr>
          <p:cNvSpPr/>
          <p:nvPr/>
        </p:nvSpPr>
        <p:spPr>
          <a:xfrm>
            <a:off x="9296400" y="1143000"/>
            <a:ext cx="2590800" cy="2870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5B0AD2CB-1ABE-DA3E-1810-273D0468740B}"/>
              </a:ext>
            </a:extLst>
          </p:cNvPr>
          <p:cNvSpPr txBox="1"/>
          <p:nvPr/>
        </p:nvSpPr>
        <p:spPr>
          <a:xfrm>
            <a:off x="9372600" y="1193800"/>
            <a:ext cx="2438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50" b="1">
                <a:solidFill>
                  <a:srgbClr val="0F766E"/>
                </a:solidFill>
                <a:latin typeface="Arial" panose="020B0604020202020204" pitchFamily="34" charset="0"/>
              </a:rPr>
              <a:t>Technology stack</a:t>
            </a:r>
          </a:p>
        </p:txBody>
      </p:sp>
      <p:sp>
        <p:nvSpPr>
          <p:cNvPr id="8" name="TextBox 7">
            <a:extLst>
              <a:ext uri="{FF2B5EF4-FFF2-40B4-BE49-F238E27FC236}">
                <a16:creationId xmlns:a16="http://schemas.microsoft.com/office/drawing/2014/main" id="{FDD5740A-8E02-DA93-2BBB-1A51806EDDE1}"/>
              </a:ext>
            </a:extLst>
          </p:cNvPr>
          <p:cNvSpPr txBox="1"/>
          <p:nvPr/>
        </p:nvSpPr>
        <p:spPr>
          <a:xfrm>
            <a:off x="9372600" y="1397000"/>
            <a:ext cx="24638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80" b="1">
                <a:solidFill>
                  <a:srgbClr val="1F2937"/>
                </a:solidFill>
                <a:latin typeface="Arial" panose="020B0604020202020204" pitchFamily="34" charset="0"/>
              </a:rPr>
              <a:t>App: </a:t>
            </a:r>
            <a:r>
              <a:rPr lang="en-IN" sz="880">
                <a:solidFill>
                  <a:srgbClr val="1F2937"/>
                </a:solidFill>
                <a:latin typeface="Arial" panose="020B0604020202020204" pitchFamily="34" charset="0"/>
              </a:rPr>
              <a:t>React, Vite, Tailwind CSS, MapLibre, i18next (EN / TE / HI)</a:t>
            </a:r>
          </a:p>
          <a:p>
            <a:pPr>
              <a:spcBef>
                <a:spcPts val="0"/>
              </a:spcBef>
              <a:spcAft>
                <a:spcPts val="300"/>
              </a:spcAft>
            </a:pPr>
            <a:r>
              <a:rPr lang="en-IN" sz="880" b="1">
                <a:solidFill>
                  <a:srgbClr val="1F2937"/>
                </a:solidFill>
                <a:latin typeface="Arial" panose="020B0604020202020204" pitchFamily="34" charset="0"/>
              </a:rPr>
              <a:t>Backend: </a:t>
            </a:r>
            <a:r>
              <a:rPr lang="en-IN" sz="880">
                <a:solidFill>
                  <a:srgbClr val="1F2937"/>
                </a:solidFill>
                <a:latin typeface="Arial" panose="020B0604020202020204" pitchFamily="34" charset="0"/>
              </a:rPr>
              <a:t>Python, FastAPI, SQLAlchemy, JWT</a:t>
            </a:r>
          </a:p>
          <a:p>
            <a:pPr>
              <a:spcBef>
                <a:spcPts val="0"/>
              </a:spcBef>
              <a:spcAft>
                <a:spcPts val="300"/>
              </a:spcAft>
            </a:pPr>
            <a:r>
              <a:rPr lang="en-IN" sz="880" b="1">
                <a:solidFill>
                  <a:srgbClr val="1F2937"/>
                </a:solidFill>
                <a:latin typeface="Arial" panose="020B0604020202020204" pitchFamily="34" charset="0"/>
              </a:rPr>
              <a:t>Database: </a:t>
            </a:r>
            <a:r>
              <a:rPr lang="en-IN" sz="880">
                <a:solidFill>
                  <a:srgbClr val="1F2937"/>
                </a:solidFill>
                <a:latin typeface="Arial" panose="020B0604020202020204" pitchFamily="34" charset="0"/>
              </a:rPr>
              <a:t>PostgreSQL + PostGIS (SQLite for development)</a:t>
            </a:r>
          </a:p>
          <a:p>
            <a:pPr>
              <a:spcBef>
                <a:spcPts val="0"/>
              </a:spcBef>
              <a:spcAft>
                <a:spcPts val="300"/>
              </a:spcAft>
            </a:pPr>
            <a:r>
              <a:rPr lang="en-IN" sz="880" b="1">
                <a:solidFill>
                  <a:srgbClr val="1F2937"/>
                </a:solidFill>
                <a:latin typeface="Arial" panose="020B0604020202020204" pitchFamily="34" charset="0"/>
              </a:rPr>
              <a:t>AI/ML: </a:t>
            </a:r>
            <a:r>
              <a:rPr lang="en-IN" sz="880">
                <a:solidFill>
                  <a:srgbClr val="1F2937"/>
                </a:solidFill>
                <a:latin typeface="Arial" panose="020B0604020202020204" pitchFamily="34" charset="0"/>
              </a:rPr>
              <a:t>scikit-learn, NumPy: Isolation Forest, DBSCAN, Theil-Sen trend</a:t>
            </a:r>
          </a:p>
          <a:p>
            <a:pPr>
              <a:spcBef>
                <a:spcPts val="0"/>
              </a:spcBef>
              <a:spcAft>
                <a:spcPts val="300"/>
              </a:spcAft>
            </a:pPr>
            <a:r>
              <a:rPr lang="en-IN" sz="880" b="1">
                <a:solidFill>
                  <a:srgbClr val="1F2937"/>
                </a:solidFill>
                <a:latin typeface="Arial" panose="020B0604020202020204" pitchFamily="34" charset="0"/>
              </a:rPr>
              <a:t>IoT: </a:t>
            </a:r>
            <a:r>
              <a:rPr lang="en-IN" sz="880">
                <a:solidFill>
                  <a:srgbClr val="1F2937"/>
                </a:solidFill>
                <a:latin typeface="Arial" panose="020B0604020202020204" pitchFamily="34" charset="0"/>
              </a:rPr>
              <a:t>ESP32 (MicroPython firmware), ADS1115, LoRa SX1276, Raspberry Pi gateway, MQTT</a:t>
            </a:r>
          </a:p>
          <a:p>
            <a:pPr>
              <a:spcBef>
                <a:spcPts val="0"/>
              </a:spcBef>
              <a:spcAft>
                <a:spcPts val="300"/>
              </a:spcAft>
            </a:pPr>
            <a:r>
              <a:rPr lang="en-IN" sz="880" b="1">
                <a:solidFill>
                  <a:srgbClr val="1F2937"/>
                </a:solidFill>
                <a:latin typeface="Arial" panose="020B0604020202020204" pitchFamily="34" charset="0"/>
              </a:rPr>
              <a:t>Interfaces: </a:t>
            </a:r>
            <a:r>
              <a:rPr lang="en-IN" sz="880">
                <a:solidFill>
                  <a:srgbClr val="1F2937"/>
                </a:solidFill>
                <a:latin typeface="Arial" panose="020B0604020202020204" pitchFamily="34" charset="0"/>
              </a:rPr>
              <a:t>REST + OpenAPI, GeoJSON, CSV</a:t>
            </a:r>
          </a:p>
          <a:p>
            <a:pPr>
              <a:spcBef>
                <a:spcPts val="0"/>
              </a:spcBef>
              <a:spcAft>
                <a:spcPts val="300"/>
              </a:spcAft>
            </a:pPr>
            <a:r>
              <a:rPr lang="en-IN" sz="880" b="1">
                <a:solidFill>
                  <a:srgbClr val="1F2937"/>
                </a:solidFill>
                <a:latin typeface="Arial" panose="020B0604020202020204" pitchFamily="34" charset="0"/>
              </a:rPr>
              <a:t>Deployment: </a:t>
            </a:r>
            <a:r>
              <a:rPr lang="en-IN" sz="880">
                <a:solidFill>
                  <a:srgbClr val="1F2937"/>
                </a:solidFill>
                <a:latin typeface="Arial" panose="020B0604020202020204" pitchFamily="34" charset="0"/>
              </a:rPr>
              <a:t>Docker, Nginx</a:t>
            </a:r>
          </a:p>
        </p:txBody>
      </p:sp>
      <p:sp>
        <p:nvSpPr>
          <p:cNvPr id="9" name="Rectangle: Rounded Corners 8">
            <a:extLst>
              <a:ext uri="{FF2B5EF4-FFF2-40B4-BE49-F238E27FC236}">
                <a16:creationId xmlns:a16="http://schemas.microsoft.com/office/drawing/2014/main" id="{6D17A850-932E-FF49-B412-BF46E75B1976}"/>
              </a:ext>
            </a:extLst>
          </p:cNvPr>
          <p:cNvSpPr/>
          <p:nvPr/>
        </p:nvSpPr>
        <p:spPr>
          <a:xfrm>
            <a:off x="304800" y="4089400"/>
            <a:ext cx="11582400" cy="2235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2691C365-2C1D-5DE8-DF39-1DB10F9DFD7E}"/>
              </a:ext>
            </a:extLst>
          </p:cNvPr>
          <p:cNvSpPr txBox="1"/>
          <p:nvPr/>
        </p:nvSpPr>
        <p:spPr>
          <a:xfrm>
            <a:off x="381000" y="4140200"/>
            <a:ext cx="11430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Hardware we use and how it connects (circuit diagram on the next slide)</a:t>
            </a:r>
            <a:endParaRPr lang="en-IN" sz="1150" b="1">
              <a:solidFill>
                <a:srgbClr val="0F766E"/>
              </a:solidFill>
              <a:latin typeface="Arial" panose="020B0604020202020204" pitchFamily="34" charset="0"/>
            </a:endParaRPr>
          </a:p>
        </p:txBody>
      </p:sp>
      <p:pic>
        <p:nvPicPr>
          <p:cNvPr id="15" name="Picture 14">
            <a:extLst>
              <a:ext uri="{FF2B5EF4-FFF2-40B4-BE49-F238E27FC236}">
                <a16:creationId xmlns:a16="http://schemas.microsoft.com/office/drawing/2014/main" id="{CEA58226-293E-D36B-A934-591606F1DF7A}"/>
              </a:ext>
            </a:extLst>
          </p:cNvPr>
          <p:cNvPicPr>
            <a:picLocks/>
          </p:cNvPicPr>
          <p:nvPr/>
        </p:nvPicPr>
        <p:blipFill>
          <a:blip r:embed="rId5"/>
          <a:stretch>
            <a:fillRect/>
          </a:stretch>
        </p:blipFill>
        <p:spPr>
          <a:xfrm>
            <a:off x="508000" y="4419600"/>
            <a:ext cx="965200" cy="685800"/>
          </a:xfrm>
          <a:prstGeom prst="rect">
            <a:avLst/>
          </a:prstGeom>
        </p:spPr>
      </p:pic>
      <p:sp>
        <p:nvSpPr>
          <p:cNvPr id="16" name="TextBox 15">
            <a:extLst>
              <a:ext uri="{FF2B5EF4-FFF2-40B4-BE49-F238E27FC236}">
                <a16:creationId xmlns:a16="http://schemas.microsoft.com/office/drawing/2014/main" id="{16B0F861-F492-1232-CA7A-E47ED5FFC097}"/>
              </a:ext>
            </a:extLst>
          </p:cNvPr>
          <p:cNvSpPr txBox="1"/>
          <p:nvPr/>
        </p:nvSpPr>
        <p:spPr>
          <a:xfrm>
            <a:off x="342900" y="5156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ESP32 node</a:t>
            </a:r>
          </a:p>
        </p:txBody>
      </p:sp>
      <p:sp>
        <p:nvSpPr>
          <p:cNvPr id="17" name="TextBox 16">
            <a:extLst>
              <a:ext uri="{FF2B5EF4-FFF2-40B4-BE49-F238E27FC236}">
                <a16:creationId xmlns:a16="http://schemas.microsoft.com/office/drawing/2014/main" id="{778C0EDE-2DD1-6DC7-FE7F-DAED1C7A9F31}"/>
              </a:ext>
            </a:extLst>
          </p:cNvPr>
          <p:cNvSpPr txBox="1"/>
          <p:nvPr/>
        </p:nvSpPr>
        <p:spPr>
          <a:xfrm>
            <a:off x="355600" y="53594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800">
                <a:solidFill>
                  <a:srgbClr val="475569"/>
                </a:solidFill>
                <a:latin typeface="Arial" panose="020B0604020202020204" pitchFamily="34" charset="0"/>
              </a:rPr>
              <a:t>Reads sensors through ADC, I2C and GPIO; deep sleep between samples</a:t>
            </a:r>
            <a:endParaRPr lang="en-IN" sz="800">
              <a:solidFill>
                <a:srgbClr val="475569"/>
              </a:solidFill>
              <a:latin typeface="Arial" panose="020B0604020202020204" pitchFamily="34" charset="0"/>
            </a:endParaRPr>
          </a:p>
        </p:txBody>
      </p:sp>
      <p:pic>
        <p:nvPicPr>
          <p:cNvPr id="19" name="Picture 18">
            <a:extLst>
              <a:ext uri="{FF2B5EF4-FFF2-40B4-BE49-F238E27FC236}">
                <a16:creationId xmlns:a16="http://schemas.microsoft.com/office/drawing/2014/main" id="{4A8AD899-7D61-B614-F813-78B7B57F5E34}"/>
              </a:ext>
            </a:extLst>
          </p:cNvPr>
          <p:cNvPicPr>
            <a:picLocks/>
          </p:cNvPicPr>
          <p:nvPr/>
        </p:nvPicPr>
        <p:blipFill>
          <a:blip r:embed="rId6"/>
          <a:stretch>
            <a:fillRect/>
          </a:stretch>
        </p:blipFill>
        <p:spPr>
          <a:xfrm>
            <a:off x="1784350" y="4419600"/>
            <a:ext cx="965200" cy="685800"/>
          </a:xfrm>
          <a:prstGeom prst="rect">
            <a:avLst/>
          </a:prstGeom>
        </p:spPr>
      </p:pic>
      <p:sp>
        <p:nvSpPr>
          <p:cNvPr id="20" name="TextBox 19">
            <a:extLst>
              <a:ext uri="{FF2B5EF4-FFF2-40B4-BE49-F238E27FC236}">
                <a16:creationId xmlns:a16="http://schemas.microsoft.com/office/drawing/2014/main" id="{43E5F443-DFD0-A013-84C1-36D000092DE7}"/>
              </a:ext>
            </a:extLst>
          </p:cNvPr>
          <p:cNvSpPr txBox="1"/>
          <p:nvPr/>
        </p:nvSpPr>
        <p:spPr>
          <a:xfrm>
            <a:off x="1619250" y="5156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LoRa SX1276</a:t>
            </a:r>
          </a:p>
        </p:txBody>
      </p:sp>
      <p:sp>
        <p:nvSpPr>
          <p:cNvPr id="21" name="TextBox 20">
            <a:extLst>
              <a:ext uri="{FF2B5EF4-FFF2-40B4-BE49-F238E27FC236}">
                <a16:creationId xmlns:a16="http://schemas.microsoft.com/office/drawing/2014/main" id="{18F70996-09EA-1FB6-EF7A-DBA5AE78D59D}"/>
              </a:ext>
            </a:extLst>
          </p:cNvPr>
          <p:cNvSpPr txBox="1"/>
          <p:nvPr/>
        </p:nvSpPr>
        <p:spPr>
          <a:xfrm>
            <a:off x="1631950" y="53594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00">
                <a:solidFill>
                  <a:srgbClr val="475569"/>
                </a:solidFill>
                <a:latin typeface="Arial" panose="020B0604020202020204" pitchFamily="34" charset="0"/>
              </a:rPr>
              <a:t>SPI radio, 865-867 MHz, node to village gateway</a:t>
            </a:r>
          </a:p>
        </p:txBody>
      </p:sp>
      <p:pic>
        <p:nvPicPr>
          <p:cNvPr id="23" name="Picture 22">
            <a:extLst>
              <a:ext uri="{FF2B5EF4-FFF2-40B4-BE49-F238E27FC236}">
                <a16:creationId xmlns:a16="http://schemas.microsoft.com/office/drawing/2014/main" id="{A459AE20-6714-B5A6-51EB-157886F63628}"/>
              </a:ext>
            </a:extLst>
          </p:cNvPr>
          <p:cNvPicPr>
            <a:picLocks/>
          </p:cNvPicPr>
          <p:nvPr/>
        </p:nvPicPr>
        <p:blipFill>
          <a:blip r:embed="rId7"/>
          <a:stretch>
            <a:fillRect/>
          </a:stretch>
        </p:blipFill>
        <p:spPr>
          <a:xfrm>
            <a:off x="3060700" y="4419600"/>
            <a:ext cx="965200" cy="685800"/>
          </a:xfrm>
          <a:prstGeom prst="rect">
            <a:avLst/>
          </a:prstGeom>
        </p:spPr>
      </p:pic>
      <p:sp>
        <p:nvSpPr>
          <p:cNvPr id="24" name="TextBox 23">
            <a:extLst>
              <a:ext uri="{FF2B5EF4-FFF2-40B4-BE49-F238E27FC236}">
                <a16:creationId xmlns:a16="http://schemas.microsoft.com/office/drawing/2014/main" id="{5C12AAEF-9099-112F-37A2-4B44138745B1}"/>
              </a:ext>
            </a:extLst>
          </p:cNvPr>
          <p:cNvSpPr txBox="1"/>
          <p:nvPr/>
        </p:nvSpPr>
        <p:spPr>
          <a:xfrm>
            <a:off x="2895600" y="5156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Pi gateway</a:t>
            </a:r>
          </a:p>
        </p:txBody>
      </p:sp>
      <p:sp>
        <p:nvSpPr>
          <p:cNvPr id="25" name="TextBox 24">
            <a:extLst>
              <a:ext uri="{FF2B5EF4-FFF2-40B4-BE49-F238E27FC236}">
                <a16:creationId xmlns:a16="http://schemas.microsoft.com/office/drawing/2014/main" id="{BE4D3506-01A0-2096-85F6-A020131BA0D2}"/>
              </a:ext>
            </a:extLst>
          </p:cNvPr>
          <p:cNvSpPr txBox="1"/>
          <p:nvPr/>
        </p:nvSpPr>
        <p:spPr>
          <a:xfrm>
            <a:off x="2908300" y="53594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800">
                <a:solidFill>
                  <a:srgbClr val="475569"/>
                </a:solidFill>
                <a:latin typeface="Arial" panose="020B0604020202020204" pitchFamily="34" charset="0"/>
              </a:rPr>
              <a:t>Buffers readings, sends over 4G MQTT to the ingestion API</a:t>
            </a:r>
            <a:endParaRPr lang="en-IN" sz="800">
              <a:solidFill>
                <a:srgbClr val="475569"/>
              </a:solidFill>
              <a:latin typeface="Arial" panose="020B0604020202020204" pitchFamily="34" charset="0"/>
            </a:endParaRPr>
          </a:p>
        </p:txBody>
      </p:sp>
      <p:sp>
        <p:nvSpPr>
          <p:cNvPr id="26" name="Rectangle: Rounded Corners 25">
            <a:extLst>
              <a:ext uri="{FF2B5EF4-FFF2-40B4-BE49-F238E27FC236}">
                <a16:creationId xmlns:a16="http://schemas.microsoft.com/office/drawing/2014/main" id="{05059ACE-AA06-ADB6-EA4B-F7AF0A71AE44}"/>
              </a:ext>
            </a:extLst>
          </p:cNvPr>
          <p:cNvSpPr/>
          <p:nvPr/>
        </p:nvSpPr>
        <p:spPr>
          <a:xfrm>
            <a:off x="4171950" y="4368800"/>
            <a:ext cx="1257300" cy="18796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8" name="Picture 27">
            <a:extLst>
              <a:ext uri="{FF2B5EF4-FFF2-40B4-BE49-F238E27FC236}">
                <a16:creationId xmlns:a16="http://schemas.microsoft.com/office/drawing/2014/main" id="{DB0873AF-2C24-D139-18BB-EBF566E4E925}"/>
              </a:ext>
            </a:extLst>
          </p:cNvPr>
          <p:cNvPicPr>
            <a:picLocks/>
          </p:cNvPicPr>
          <p:nvPr/>
        </p:nvPicPr>
        <p:blipFill>
          <a:blip r:embed="rId8"/>
          <a:stretch>
            <a:fillRect/>
          </a:stretch>
        </p:blipFill>
        <p:spPr>
          <a:xfrm>
            <a:off x="4337050" y="4419600"/>
            <a:ext cx="965200" cy="685800"/>
          </a:xfrm>
          <a:prstGeom prst="rect">
            <a:avLst/>
          </a:prstGeom>
        </p:spPr>
      </p:pic>
      <p:sp>
        <p:nvSpPr>
          <p:cNvPr id="29" name="TextBox 28">
            <a:extLst>
              <a:ext uri="{FF2B5EF4-FFF2-40B4-BE49-F238E27FC236}">
                <a16:creationId xmlns:a16="http://schemas.microsoft.com/office/drawing/2014/main" id="{1936D0AF-1C84-6D16-8147-EF8C52434A1D}"/>
              </a:ext>
            </a:extLst>
          </p:cNvPr>
          <p:cNvSpPr txBox="1"/>
          <p:nvPr/>
        </p:nvSpPr>
        <p:spPr>
          <a:xfrm>
            <a:off x="4171950" y="5156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Acoustic sensor</a:t>
            </a:r>
          </a:p>
        </p:txBody>
      </p:sp>
      <p:sp>
        <p:nvSpPr>
          <p:cNvPr id="30" name="TextBox 29">
            <a:extLst>
              <a:ext uri="{FF2B5EF4-FFF2-40B4-BE49-F238E27FC236}">
                <a16:creationId xmlns:a16="http://schemas.microsoft.com/office/drawing/2014/main" id="{869DF3FD-220E-459D-6598-03D43B804760}"/>
              </a:ext>
            </a:extLst>
          </p:cNvPr>
          <p:cNvSpPr txBox="1"/>
          <p:nvPr/>
        </p:nvSpPr>
        <p:spPr>
          <a:xfrm>
            <a:off x="4184650" y="53594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800">
                <a:solidFill>
                  <a:srgbClr val="475569"/>
                </a:solidFill>
                <a:latin typeface="Arial" panose="020B0604020202020204" pitchFamily="34" charset="0"/>
              </a:rPr>
              <a:t>Piezo clamp on the pipe; leak noise is amplified, filtered and analysed on the node</a:t>
            </a:r>
            <a:endParaRPr lang="en-IN" sz="800">
              <a:solidFill>
                <a:srgbClr val="475569"/>
              </a:solidFill>
              <a:latin typeface="Arial" panose="020B0604020202020204" pitchFamily="34" charset="0"/>
            </a:endParaRPr>
          </a:p>
        </p:txBody>
      </p:sp>
      <p:sp>
        <p:nvSpPr>
          <p:cNvPr id="31" name="Rectangle: Rounded Corners 30">
            <a:extLst>
              <a:ext uri="{FF2B5EF4-FFF2-40B4-BE49-F238E27FC236}">
                <a16:creationId xmlns:a16="http://schemas.microsoft.com/office/drawing/2014/main" id="{26A5CB09-2860-4340-50B9-B8679D661A07}"/>
              </a:ext>
            </a:extLst>
          </p:cNvPr>
          <p:cNvSpPr/>
          <p:nvPr/>
        </p:nvSpPr>
        <p:spPr>
          <a:xfrm>
            <a:off x="5448300" y="4368800"/>
            <a:ext cx="1257300" cy="18796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33" name="Picture 32">
            <a:extLst>
              <a:ext uri="{FF2B5EF4-FFF2-40B4-BE49-F238E27FC236}">
                <a16:creationId xmlns:a16="http://schemas.microsoft.com/office/drawing/2014/main" id="{52916E61-174E-04B4-CF16-5F66AE08379A}"/>
              </a:ext>
            </a:extLst>
          </p:cNvPr>
          <p:cNvPicPr>
            <a:picLocks/>
          </p:cNvPicPr>
          <p:nvPr/>
        </p:nvPicPr>
        <p:blipFill>
          <a:blip r:embed="rId9"/>
          <a:stretch>
            <a:fillRect/>
          </a:stretch>
        </p:blipFill>
        <p:spPr>
          <a:xfrm>
            <a:off x="5613400" y="4419600"/>
            <a:ext cx="965200" cy="685800"/>
          </a:xfrm>
          <a:prstGeom prst="rect">
            <a:avLst/>
          </a:prstGeom>
        </p:spPr>
      </p:pic>
      <p:sp>
        <p:nvSpPr>
          <p:cNvPr id="34" name="TextBox 33">
            <a:extLst>
              <a:ext uri="{FF2B5EF4-FFF2-40B4-BE49-F238E27FC236}">
                <a16:creationId xmlns:a16="http://schemas.microsoft.com/office/drawing/2014/main" id="{D80E1A49-F359-4541-26AB-88583ED402EF}"/>
              </a:ext>
            </a:extLst>
          </p:cNvPr>
          <p:cNvSpPr txBox="1"/>
          <p:nvPr/>
        </p:nvSpPr>
        <p:spPr>
          <a:xfrm>
            <a:off x="5448300" y="5156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Chlorine sensor</a:t>
            </a:r>
          </a:p>
        </p:txBody>
      </p:sp>
      <p:sp>
        <p:nvSpPr>
          <p:cNvPr id="35" name="TextBox 34">
            <a:extLst>
              <a:ext uri="{FF2B5EF4-FFF2-40B4-BE49-F238E27FC236}">
                <a16:creationId xmlns:a16="http://schemas.microsoft.com/office/drawing/2014/main" id="{452305D7-DB28-1E99-B4AE-F3FB131C9DA0}"/>
              </a:ext>
            </a:extLst>
          </p:cNvPr>
          <p:cNvSpPr txBox="1"/>
          <p:nvPr/>
        </p:nvSpPr>
        <p:spPr>
          <a:xfrm>
            <a:off x="5461000" y="53594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800">
                <a:solidFill>
                  <a:srgbClr val="475569"/>
                </a:solidFill>
                <a:latin typeface="Arial" panose="020B0604020202020204" pitchFamily="34" charset="0"/>
              </a:rPr>
              <a:t>4-20 mA probe in a flow cell at the tail end; measured mg/L, low-chlorine alert</a:t>
            </a:r>
            <a:endParaRPr lang="en-IN" sz="800">
              <a:solidFill>
                <a:srgbClr val="475569"/>
              </a:solidFill>
              <a:latin typeface="Arial" panose="020B0604020202020204" pitchFamily="34" charset="0"/>
            </a:endParaRPr>
          </a:p>
        </p:txBody>
      </p:sp>
      <p:pic>
        <p:nvPicPr>
          <p:cNvPr id="37" name="Picture 36">
            <a:extLst>
              <a:ext uri="{FF2B5EF4-FFF2-40B4-BE49-F238E27FC236}">
                <a16:creationId xmlns:a16="http://schemas.microsoft.com/office/drawing/2014/main" id="{6E9F696D-61A2-B7B9-3D7A-554F5CDFC996}"/>
              </a:ext>
            </a:extLst>
          </p:cNvPr>
          <p:cNvPicPr>
            <a:picLocks/>
          </p:cNvPicPr>
          <p:nvPr/>
        </p:nvPicPr>
        <p:blipFill>
          <a:blip r:embed="rId10"/>
          <a:stretch>
            <a:fillRect/>
          </a:stretch>
        </p:blipFill>
        <p:spPr>
          <a:xfrm>
            <a:off x="6889750" y="4419600"/>
            <a:ext cx="965200" cy="685800"/>
          </a:xfrm>
          <a:prstGeom prst="rect">
            <a:avLst/>
          </a:prstGeom>
        </p:spPr>
      </p:pic>
      <p:sp>
        <p:nvSpPr>
          <p:cNvPr id="38" name="TextBox 37">
            <a:extLst>
              <a:ext uri="{FF2B5EF4-FFF2-40B4-BE49-F238E27FC236}">
                <a16:creationId xmlns:a16="http://schemas.microsoft.com/office/drawing/2014/main" id="{58FAF53B-9AB6-F123-38A5-3B2DD5F870FA}"/>
              </a:ext>
            </a:extLst>
          </p:cNvPr>
          <p:cNvSpPr txBox="1"/>
          <p:nvPr/>
        </p:nvSpPr>
        <p:spPr>
          <a:xfrm>
            <a:off x="6724650" y="5156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Pressure x2</a:t>
            </a:r>
          </a:p>
        </p:txBody>
      </p:sp>
      <p:sp>
        <p:nvSpPr>
          <p:cNvPr id="39" name="TextBox 38">
            <a:extLst>
              <a:ext uri="{FF2B5EF4-FFF2-40B4-BE49-F238E27FC236}">
                <a16:creationId xmlns:a16="http://schemas.microsoft.com/office/drawing/2014/main" id="{492FF95B-56A6-A767-5856-E91C4231F3C8}"/>
              </a:ext>
            </a:extLst>
          </p:cNvPr>
          <p:cNvSpPr txBox="1"/>
          <p:nvPr/>
        </p:nvSpPr>
        <p:spPr>
          <a:xfrm>
            <a:off x="6737350" y="53594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800">
                <a:solidFill>
                  <a:srgbClr val="475569"/>
                </a:solidFill>
                <a:latin typeface="Arial" panose="020B0604020202020204" pitchFamily="34" charset="0"/>
              </a:rPr>
              <a:t>4-20 mA transmitters, head and tail; low-pressure alert</a:t>
            </a:r>
            <a:endParaRPr lang="en-IN" sz="800">
              <a:solidFill>
                <a:srgbClr val="475569"/>
              </a:solidFill>
              <a:latin typeface="Arial" panose="020B0604020202020204" pitchFamily="34" charset="0"/>
            </a:endParaRPr>
          </a:p>
        </p:txBody>
      </p:sp>
      <p:pic>
        <p:nvPicPr>
          <p:cNvPr id="41" name="Picture 40">
            <a:extLst>
              <a:ext uri="{FF2B5EF4-FFF2-40B4-BE49-F238E27FC236}">
                <a16:creationId xmlns:a16="http://schemas.microsoft.com/office/drawing/2014/main" id="{7129410A-46FB-77F2-FD5B-FB3FCCEE7DA3}"/>
              </a:ext>
            </a:extLst>
          </p:cNvPr>
          <p:cNvPicPr>
            <a:picLocks/>
          </p:cNvPicPr>
          <p:nvPr/>
        </p:nvPicPr>
        <p:blipFill>
          <a:blip r:embed="rId11"/>
          <a:stretch>
            <a:fillRect/>
          </a:stretch>
        </p:blipFill>
        <p:spPr>
          <a:xfrm>
            <a:off x="8166100" y="4419600"/>
            <a:ext cx="965200" cy="685800"/>
          </a:xfrm>
          <a:prstGeom prst="rect">
            <a:avLst/>
          </a:prstGeom>
        </p:spPr>
      </p:pic>
      <p:sp>
        <p:nvSpPr>
          <p:cNvPr id="42" name="TextBox 41">
            <a:extLst>
              <a:ext uri="{FF2B5EF4-FFF2-40B4-BE49-F238E27FC236}">
                <a16:creationId xmlns:a16="http://schemas.microsoft.com/office/drawing/2014/main" id="{2DC1F82A-9DF8-82E9-AB11-B2AA36EF2237}"/>
              </a:ext>
            </a:extLst>
          </p:cNvPr>
          <p:cNvSpPr txBox="1"/>
          <p:nvPr/>
        </p:nvSpPr>
        <p:spPr>
          <a:xfrm>
            <a:off x="8001000" y="5156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Flow meter x2</a:t>
            </a:r>
          </a:p>
        </p:txBody>
      </p:sp>
      <p:sp>
        <p:nvSpPr>
          <p:cNvPr id="43" name="TextBox 42">
            <a:extLst>
              <a:ext uri="{FF2B5EF4-FFF2-40B4-BE49-F238E27FC236}">
                <a16:creationId xmlns:a16="http://schemas.microsoft.com/office/drawing/2014/main" id="{FEE5B6A5-0C50-E7AC-4207-310C1445B1D2}"/>
              </a:ext>
            </a:extLst>
          </p:cNvPr>
          <p:cNvSpPr txBox="1"/>
          <p:nvPr/>
        </p:nvSpPr>
        <p:spPr>
          <a:xfrm>
            <a:off x="8013700" y="53594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800">
                <a:solidFill>
                  <a:srgbClr val="475569"/>
                </a:solidFill>
                <a:latin typeface="Arial" panose="020B0604020202020204" pitchFamily="34" charset="0"/>
              </a:rPr>
              <a:t>Pulse output, head and tail; head-to-tail gap means a leak</a:t>
            </a:r>
            <a:endParaRPr lang="en-IN" sz="800">
              <a:solidFill>
                <a:srgbClr val="475569"/>
              </a:solidFill>
              <a:latin typeface="Arial" panose="020B0604020202020204" pitchFamily="34" charset="0"/>
            </a:endParaRPr>
          </a:p>
        </p:txBody>
      </p:sp>
      <p:pic>
        <p:nvPicPr>
          <p:cNvPr id="45" name="Picture 44">
            <a:extLst>
              <a:ext uri="{FF2B5EF4-FFF2-40B4-BE49-F238E27FC236}">
                <a16:creationId xmlns:a16="http://schemas.microsoft.com/office/drawing/2014/main" id="{2ED71503-4BCA-95BB-62AF-826D0B28D5E1}"/>
              </a:ext>
            </a:extLst>
          </p:cNvPr>
          <p:cNvPicPr>
            <a:picLocks/>
          </p:cNvPicPr>
          <p:nvPr/>
        </p:nvPicPr>
        <p:blipFill>
          <a:blip r:embed="rId12"/>
          <a:stretch>
            <a:fillRect/>
          </a:stretch>
        </p:blipFill>
        <p:spPr>
          <a:xfrm>
            <a:off x="9442450" y="4419600"/>
            <a:ext cx="965200" cy="685800"/>
          </a:xfrm>
          <a:prstGeom prst="rect">
            <a:avLst/>
          </a:prstGeom>
        </p:spPr>
      </p:pic>
      <p:sp>
        <p:nvSpPr>
          <p:cNvPr id="46" name="TextBox 45">
            <a:extLst>
              <a:ext uri="{FF2B5EF4-FFF2-40B4-BE49-F238E27FC236}">
                <a16:creationId xmlns:a16="http://schemas.microsoft.com/office/drawing/2014/main" id="{080F8404-70EC-208F-6969-68F13D81130D}"/>
              </a:ext>
            </a:extLst>
          </p:cNvPr>
          <p:cNvSpPr txBox="1"/>
          <p:nvPr/>
        </p:nvSpPr>
        <p:spPr>
          <a:xfrm>
            <a:off x="9277350" y="5156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Ultrasonic level</a:t>
            </a:r>
          </a:p>
        </p:txBody>
      </p:sp>
      <p:sp>
        <p:nvSpPr>
          <p:cNvPr id="47" name="TextBox 46">
            <a:extLst>
              <a:ext uri="{FF2B5EF4-FFF2-40B4-BE49-F238E27FC236}">
                <a16:creationId xmlns:a16="http://schemas.microsoft.com/office/drawing/2014/main" id="{25E9D7DA-E2AB-A600-8285-02EB752DAB0E}"/>
              </a:ext>
            </a:extLst>
          </p:cNvPr>
          <p:cNvSpPr txBox="1"/>
          <p:nvPr/>
        </p:nvSpPr>
        <p:spPr>
          <a:xfrm>
            <a:off x="9290050" y="53594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800">
                <a:solidFill>
                  <a:srgbClr val="475569"/>
                </a:solidFill>
                <a:latin typeface="Arial" panose="020B0604020202020204" pitchFamily="34" charset="0"/>
              </a:rPr>
              <a:t>JSN-SR04T on the tank; supply and tank health</a:t>
            </a:r>
            <a:endParaRPr lang="en-IN" sz="800">
              <a:solidFill>
                <a:srgbClr val="475569"/>
              </a:solidFill>
              <a:latin typeface="Arial" panose="020B0604020202020204" pitchFamily="34" charset="0"/>
            </a:endParaRPr>
          </a:p>
        </p:txBody>
      </p:sp>
      <p:pic>
        <p:nvPicPr>
          <p:cNvPr id="49" name="Picture 48">
            <a:extLst>
              <a:ext uri="{FF2B5EF4-FFF2-40B4-BE49-F238E27FC236}">
                <a16:creationId xmlns:a16="http://schemas.microsoft.com/office/drawing/2014/main" id="{8B3C5EB5-1D3A-1D1E-BEE2-74D02BF60C93}"/>
              </a:ext>
            </a:extLst>
          </p:cNvPr>
          <p:cNvPicPr>
            <a:picLocks/>
          </p:cNvPicPr>
          <p:nvPr/>
        </p:nvPicPr>
        <p:blipFill>
          <a:blip r:embed="rId13"/>
          <a:stretch>
            <a:fillRect/>
          </a:stretch>
        </p:blipFill>
        <p:spPr>
          <a:xfrm>
            <a:off x="10718800" y="4419600"/>
            <a:ext cx="965200" cy="685800"/>
          </a:xfrm>
          <a:prstGeom prst="rect">
            <a:avLst/>
          </a:prstGeom>
        </p:spPr>
      </p:pic>
      <p:sp>
        <p:nvSpPr>
          <p:cNvPr id="50" name="TextBox 49">
            <a:extLst>
              <a:ext uri="{FF2B5EF4-FFF2-40B4-BE49-F238E27FC236}">
                <a16:creationId xmlns:a16="http://schemas.microsoft.com/office/drawing/2014/main" id="{267E2C69-0931-E322-2F96-2EF25BD5FDC0}"/>
              </a:ext>
            </a:extLst>
          </p:cNvPr>
          <p:cNvSpPr txBox="1"/>
          <p:nvPr/>
        </p:nvSpPr>
        <p:spPr>
          <a:xfrm>
            <a:off x="10553700" y="5156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Solar + battery</a:t>
            </a:r>
          </a:p>
        </p:txBody>
      </p:sp>
      <p:sp>
        <p:nvSpPr>
          <p:cNvPr id="51" name="TextBox 50">
            <a:extLst>
              <a:ext uri="{FF2B5EF4-FFF2-40B4-BE49-F238E27FC236}">
                <a16:creationId xmlns:a16="http://schemas.microsoft.com/office/drawing/2014/main" id="{C6012705-10D3-1E4F-A82E-7F4853E1945A}"/>
              </a:ext>
            </a:extLst>
          </p:cNvPr>
          <p:cNvSpPr txBox="1"/>
          <p:nvPr/>
        </p:nvSpPr>
        <p:spPr>
          <a:xfrm>
            <a:off x="10566400" y="53594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800">
                <a:solidFill>
                  <a:srgbClr val="475569"/>
                </a:solidFill>
                <a:latin typeface="Arial" panose="020B0604020202020204" pitchFamily="34" charset="0"/>
              </a:rPr>
              <a:t>12 V 10 W panel, 7 Ah battery, IP65 box; buck and boost rails</a:t>
            </a:r>
            <a:endParaRPr lang="en-IN" sz="800">
              <a:solidFill>
                <a:srgbClr val="475569"/>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85A2C08D-8E37-4B0F-EB96-35B09491747A}"/>
              </a:ext>
            </a:extLst>
          </p:cNvPr>
          <p:cNvPicPr>
            <a:picLocks/>
          </p:cNvPicPr>
          <p:nvPr/>
        </p:nvPicPr>
        <p:blipFill>
          <a:blip r:embed="rId4"/>
          <a:stretch>
            <a:fillRect/>
          </a:stretch>
        </p:blipFill>
        <p:spPr>
          <a:xfrm>
            <a:off x="304800" y="1168400"/>
            <a:ext cx="6604000" cy="4191000"/>
          </a:xfrm>
          <a:prstGeom prst="rect">
            <a:avLst/>
          </a:prstGeom>
          <a:ln w="9525">
            <a:solidFill>
              <a:srgbClr val="CBD5E1"/>
            </a:solidFill>
          </a:ln>
        </p:spPr>
      </p:pic>
      <p:sp>
        <p:nvSpPr>
          <p:cNvPr id="4" name="TextBox 3">
            <a:extLst>
              <a:ext uri="{FF2B5EF4-FFF2-40B4-BE49-F238E27FC236}">
                <a16:creationId xmlns:a16="http://schemas.microsoft.com/office/drawing/2014/main" id="{67AA05CB-0C4F-8EE6-B43B-0A3A9746922A}"/>
              </a:ext>
            </a:extLst>
          </p:cNvPr>
          <p:cNvSpPr txBox="1"/>
          <p:nvPr/>
        </p:nvSpPr>
        <p:spPr>
          <a:xfrm>
            <a:off x="304800" y="5372100"/>
            <a:ext cx="6604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700" i="1">
                <a:solidFill>
                  <a:srgbClr val="475569"/>
                </a:solidFill>
                <a:latin typeface="Arial" panose="020B0604020202020204" pitchFamily="34" charset="0"/>
              </a:rPr>
              <a:t>Circuit of sensor node B (pipeline head / tail): ESP32 with LoRa, ADS1115, 4-20 mA loops, flow, acoustic and tank-level inputs.</a:t>
            </a:r>
            <a:endParaRPr lang="en-IN" sz="700" i="1">
              <a:solidFill>
                <a:srgbClr val="475569"/>
              </a:solidFill>
              <a:latin typeface="Arial" panose="020B0604020202020204" pitchFamily="34" charset="0"/>
            </a:endParaRPr>
          </a:p>
        </p:txBody>
      </p:sp>
      <p:sp>
        <p:nvSpPr>
          <p:cNvPr id="5" name="Rectangle: Rounded Corners 4">
            <a:extLst>
              <a:ext uri="{FF2B5EF4-FFF2-40B4-BE49-F238E27FC236}">
                <a16:creationId xmlns:a16="http://schemas.microsoft.com/office/drawing/2014/main" id="{A80075AF-AD56-EE5C-1FB8-8FF02462AB9D}"/>
              </a:ext>
            </a:extLst>
          </p:cNvPr>
          <p:cNvSpPr/>
          <p:nvPr/>
        </p:nvSpPr>
        <p:spPr>
          <a:xfrm>
            <a:off x="7010400" y="1168400"/>
            <a:ext cx="2387600" cy="1219200"/>
          </a:xfrm>
          <a:prstGeom prst="roundRect">
            <a:avLst>
              <a:gd name="adj" fmla="val 8000"/>
            </a:avLst>
          </a:prstGeom>
          <a:solidFill>
            <a:srgbClr val="DBEA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10D8A641-C751-9014-21CF-A6BF05F4D1F7}"/>
              </a:ext>
            </a:extLst>
          </p:cNvPr>
          <p:cNvSpPr/>
          <p:nvPr/>
        </p:nvSpPr>
        <p:spPr>
          <a:xfrm>
            <a:off x="7010400" y="1168400"/>
            <a:ext cx="2387600" cy="228600"/>
          </a:xfrm>
          <a:prstGeom prst="roundRect">
            <a:avLst>
              <a:gd name="adj" fmla="val 8000"/>
            </a:avLst>
          </a:prstGeom>
          <a:solidFill>
            <a:srgbClr val="0070C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Scalability</a:t>
            </a:r>
          </a:p>
        </p:txBody>
      </p:sp>
      <p:sp>
        <p:nvSpPr>
          <p:cNvPr id="9" name="TextBox 8">
            <a:extLst>
              <a:ext uri="{FF2B5EF4-FFF2-40B4-BE49-F238E27FC236}">
                <a16:creationId xmlns:a16="http://schemas.microsoft.com/office/drawing/2014/main" id="{405FB29E-6112-3E0B-23D9-447AC11BB98B}"/>
              </a:ext>
            </a:extLst>
          </p:cNvPr>
          <p:cNvSpPr txBox="1"/>
          <p:nvPr/>
        </p:nvSpPr>
        <p:spPr>
          <a:xfrm>
            <a:off x="70612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One village, then a cluster per gateway, block, district, state</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Stateless APIs; PostgreSQL + PostGIS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Same node design in every village</a:t>
            </a:r>
            <a:endParaRPr lang="en-IN" sz="790">
              <a:solidFill>
                <a:srgbClr val="1F2937"/>
              </a:solidFill>
              <a:latin typeface="Arial" panose="020B0604020202020204" pitchFamily="34" charset="0"/>
            </a:endParaRPr>
          </a:p>
        </p:txBody>
      </p:sp>
      <p:sp>
        <p:nvSpPr>
          <p:cNvPr id="13" name="Rectangle: Rounded Corners 12">
            <a:extLst>
              <a:ext uri="{FF2B5EF4-FFF2-40B4-BE49-F238E27FC236}">
                <a16:creationId xmlns:a16="http://schemas.microsoft.com/office/drawing/2014/main" id="{248469E1-6EEF-25C5-5B3E-06E91955A6C1}"/>
              </a:ext>
            </a:extLst>
          </p:cNvPr>
          <p:cNvSpPr/>
          <p:nvPr/>
        </p:nvSpPr>
        <p:spPr>
          <a:xfrm>
            <a:off x="9499600" y="1168400"/>
            <a:ext cx="2387600" cy="1219200"/>
          </a:xfrm>
          <a:prstGeom prst="roundRect">
            <a:avLst>
              <a:gd name="adj" fmla="val 8000"/>
            </a:avLst>
          </a:prstGeom>
          <a:solidFill>
            <a:srgbClr val="D1FAE5"/>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39BC8FD6-6D0A-3526-DA01-9F257E1F8C1B}"/>
              </a:ext>
            </a:extLst>
          </p:cNvPr>
          <p:cNvSpPr/>
          <p:nvPr/>
        </p:nvSpPr>
        <p:spPr>
          <a:xfrm>
            <a:off x="9499600" y="1168400"/>
            <a:ext cx="2387600" cy="2286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Interoperability</a:t>
            </a:r>
          </a:p>
        </p:txBody>
      </p:sp>
      <p:sp>
        <p:nvSpPr>
          <p:cNvPr id="15" name="TextBox 14">
            <a:extLst>
              <a:ext uri="{FF2B5EF4-FFF2-40B4-BE49-F238E27FC236}">
                <a16:creationId xmlns:a16="http://schemas.microsoft.com/office/drawing/2014/main" id="{F24372C3-4CCF-17FD-4E83-0E6574EC535D}"/>
              </a:ext>
            </a:extLst>
          </p:cNvPr>
          <p:cNvSpPr txBox="1"/>
          <p:nvPr/>
        </p:nvSpPr>
        <p:spPr>
          <a:xfrm>
            <a:off x="95504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Keyed to Sujal Gaon and Sujalam Bharat IDs</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Sync with IMIS, JJM Dashboard, WQMIS</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Open formats: REST/OpenAPI, GeoJSON, CSV</a:t>
            </a:r>
          </a:p>
        </p:txBody>
      </p:sp>
      <p:sp>
        <p:nvSpPr>
          <p:cNvPr id="16" name="Rectangle: Rounded Corners 15">
            <a:extLst>
              <a:ext uri="{FF2B5EF4-FFF2-40B4-BE49-F238E27FC236}">
                <a16:creationId xmlns:a16="http://schemas.microsoft.com/office/drawing/2014/main" id="{337B252A-67B9-436B-3FCC-71309B75F87B}"/>
              </a:ext>
            </a:extLst>
          </p:cNvPr>
          <p:cNvSpPr/>
          <p:nvPr/>
        </p:nvSpPr>
        <p:spPr>
          <a:xfrm>
            <a:off x="7010400" y="2438400"/>
            <a:ext cx="2387600" cy="1219200"/>
          </a:xfrm>
          <a:prstGeom prst="roundRect">
            <a:avLst>
              <a:gd name="adj" fmla="val 8000"/>
            </a:avLst>
          </a:prstGeom>
          <a:solidFill>
            <a:srgbClr val="EDE9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3B525657-A7AB-151D-B29A-7924333705A1}"/>
              </a:ext>
            </a:extLst>
          </p:cNvPr>
          <p:cNvSpPr/>
          <p:nvPr/>
        </p:nvSpPr>
        <p:spPr>
          <a:xfrm>
            <a:off x="7010400" y="2438400"/>
            <a:ext cx="2387600" cy="228600"/>
          </a:xfrm>
          <a:prstGeom prst="roundRect">
            <a:avLst>
              <a:gd name="adj" fmla="val 8000"/>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Data security</a:t>
            </a:r>
          </a:p>
        </p:txBody>
      </p:sp>
      <p:sp>
        <p:nvSpPr>
          <p:cNvPr id="18" name="TextBox 17">
            <a:extLst>
              <a:ext uri="{FF2B5EF4-FFF2-40B4-BE49-F238E27FC236}">
                <a16:creationId xmlns:a16="http://schemas.microsoft.com/office/drawing/2014/main" id="{8AE062A9-46E2-3CD0-DC90-ACC58EEE29D2}"/>
              </a:ext>
            </a:extLst>
          </p:cNvPr>
          <p:cNvSpPr txBox="1"/>
          <p:nvPr/>
        </p:nvSpPr>
        <p:spPr>
          <a:xfrm>
            <a:off x="70612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Role-based access by village; hashed passwords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Rate limits, audit log, GPS removed from photos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No personal data sent to other platforms</a:t>
            </a:r>
            <a:endParaRPr lang="en-IN" sz="790">
              <a:solidFill>
                <a:srgbClr val="1F2937"/>
              </a:solidFill>
              <a:latin typeface="Arial" panose="020B0604020202020204" pitchFamily="34" charset="0"/>
            </a:endParaRPr>
          </a:p>
        </p:txBody>
      </p:sp>
      <p:sp>
        <p:nvSpPr>
          <p:cNvPr id="19" name="Rectangle: Rounded Corners 18">
            <a:extLst>
              <a:ext uri="{FF2B5EF4-FFF2-40B4-BE49-F238E27FC236}">
                <a16:creationId xmlns:a16="http://schemas.microsoft.com/office/drawing/2014/main" id="{73C84F53-3056-77A7-90A0-8DCB2707BD7D}"/>
              </a:ext>
            </a:extLst>
          </p:cNvPr>
          <p:cNvSpPr/>
          <p:nvPr/>
        </p:nvSpPr>
        <p:spPr>
          <a:xfrm>
            <a:off x="9499600" y="2438400"/>
            <a:ext cx="2387600" cy="1219200"/>
          </a:xfrm>
          <a:prstGeom prst="roundRect">
            <a:avLst>
              <a:gd name="adj" fmla="val 8000"/>
            </a:avLst>
          </a:prstGeom>
          <a:solidFill>
            <a:srgbClr val="FEF3C7"/>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4564FDC1-EBAB-A28C-1967-A71008B47116}"/>
              </a:ext>
            </a:extLst>
          </p:cNvPr>
          <p:cNvSpPr/>
          <p:nvPr/>
        </p:nvSpPr>
        <p:spPr>
          <a:xfrm>
            <a:off x="9499600" y="2438400"/>
            <a:ext cx="2387600" cy="228600"/>
          </a:xfrm>
          <a:prstGeom prst="roundRect">
            <a:avLst>
              <a:gd name="adj" fmla="val 8000"/>
            </a:avLst>
          </a:prstGeom>
          <a:solidFill>
            <a:srgbClr val="B4530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Ease of deployment</a:t>
            </a:r>
          </a:p>
        </p:txBody>
      </p:sp>
      <p:sp>
        <p:nvSpPr>
          <p:cNvPr id="21" name="TextBox 20">
            <a:extLst>
              <a:ext uri="{FF2B5EF4-FFF2-40B4-BE49-F238E27FC236}">
                <a16:creationId xmlns:a16="http://schemas.microsoft.com/office/drawing/2014/main" id="{D7D40D03-8840-C222-23F4-97CB5938DC04}"/>
              </a:ext>
            </a:extLst>
          </p:cNvPr>
          <p:cNvSpPr txBox="1"/>
          <p:nvPr/>
        </p:nvSpPr>
        <p:spPr>
          <a:xfrm>
            <a:off x="95504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Solar node, plug-in LoRa gateway, no grid cabling</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Mobile web app: nothing to install</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Docker deployment, one configuration file</a:t>
            </a:r>
            <a:endParaRPr lang="en-IN" sz="790">
              <a:solidFill>
                <a:srgbClr val="1F2937"/>
              </a:solidFill>
              <a:latin typeface="Arial" panose="020B0604020202020204" pitchFamily="34" charset="0"/>
            </a:endParaRPr>
          </a:p>
        </p:txBody>
      </p:sp>
      <p:pic>
        <p:nvPicPr>
          <p:cNvPr id="23" name="Picture 22">
            <a:extLst>
              <a:ext uri="{FF2B5EF4-FFF2-40B4-BE49-F238E27FC236}">
                <a16:creationId xmlns:a16="http://schemas.microsoft.com/office/drawing/2014/main" id="{690D7B18-9E18-B365-5698-7A2031119CC2}"/>
              </a:ext>
            </a:extLst>
          </p:cNvPr>
          <p:cNvPicPr>
            <a:picLocks/>
          </p:cNvPicPr>
          <p:nvPr/>
        </p:nvPicPr>
        <p:blipFill>
          <a:blip r:embed="rId5"/>
          <a:stretch>
            <a:fillRect/>
          </a:stretch>
        </p:blipFill>
        <p:spPr>
          <a:xfrm>
            <a:off x="7010400" y="3733800"/>
            <a:ext cx="2743200" cy="1651000"/>
          </a:xfrm>
          <a:prstGeom prst="rect">
            <a:avLst/>
          </a:prstGeom>
          <a:ln w="9525">
            <a:solidFill>
              <a:srgbClr val="CBD5E1"/>
            </a:solidFill>
          </a:ln>
        </p:spPr>
      </p:pic>
      <p:sp>
        <p:nvSpPr>
          <p:cNvPr id="24" name="TextBox 23">
            <a:extLst>
              <a:ext uri="{FF2B5EF4-FFF2-40B4-BE49-F238E27FC236}">
                <a16:creationId xmlns:a16="http://schemas.microsoft.com/office/drawing/2014/main" id="{44E2FB0B-5329-E7F6-CDCD-AC7F200143BD}"/>
              </a:ext>
            </a:extLst>
          </p:cNvPr>
          <p:cNvSpPr txBox="1"/>
          <p:nvPr/>
        </p:nvSpPr>
        <p:spPr>
          <a:xfrm>
            <a:off x="9829800" y="3733800"/>
            <a:ext cx="2057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pPr>
            <a:r>
              <a:rPr lang="en-US" sz="900" b="1">
                <a:solidFill>
                  <a:srgbClr val="0F766E"/>
                </a:solidFill>
                <a:latin typeface="Arial" panose="020B0604020202020204" pitchFamily="34" charset="0"/>
              </a:rPr>
              <a:t>Node installation concept</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Solar-powered pole node with an IP65 box</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Clamp-on acoustic sensor: no digging</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Chlorine flow cell at the tail end</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LoRa to the Panchayat gateway</a:t>
            </a:r>
            <a:endParaRPr lang="en-IN" sz="800">
              <a:solidFill>
                <a:srgbClr val="1F2937"/>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A65719B9-878F-1FDE-6AB2-CE6BB222A900}"/>
              </a:ext>
            </a:extLst>
          </p:cNvPr>
          <p:cNvSpPr/>
          <p:nvPr/>
        </p:nvSpPr>
        <p:spPr>
          <a:xfrm>
            <a:off x="304800" y="5511800"/>
            <a:ext cx="36830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D37EDB45-768E-B96B-828E-A2DCAB58C213}"/>
              </a:ext>
            </a:extLst>
          </p:cNvPr>
          <p:cNvSpPr txBox="1"/>
          <p:nvPr/>
        </p:nvSpPr>
        <p:spPr>
          <a:xfrm>
            <a:off x="381000" y="5562600"/>
            <a:ext cx="35306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50" b="1">
                <a:solidFill>
                  <a:srgbClr val="0F766E"/>
                </a:solidFill>
                <a:latin typeface="Arial" panose="020B0604020202020204" pitchFamily="34" charset="0"/>
              </a:rPr>
              <a:t>Feasibility analysis</a:t>
            </a:r>
          </a:p>
        </p:txBody>
      </p:sp>
      <p:sp>
        <p:nvSpPr>
          <p:cNvPr id="27" name="TextBox 26">
            <a:extLst>
              <a:ext uri="{FF2B5EF4-FFF2-40B4-BE49-F238E27FC236}">
                <a16:creationId xmlns:a16="http://schemas.microsoft.com/office/drawing/2014/main" id="{D2A7BDC9-63C4-EC89-FD53-BACE515CF3C0}"/>
              </a:ext>
            </a:extLst>
          </p:cNvPr>
          <p:cNvSpPr txBox="1"/>
          <p:nvPr/>
        </p:nvSpPr>
        <p:spPr>
          <a:xfrm>
            <a:off x="381000" y="5791200"/>
            <a:ext cx="35560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Off-the-shelf sensors, ESP32, LoRa, Raspberry Pi</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Node firmware and gateway written; 278 automated tests pass</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Open-source software; rules work from day one, AI/ML improves with data</a:t>
            </a:r>
            <a:endParaRPr lang="en-IN" sz="74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7B12E38E-1FBD-98C3-893D-A5CB5C6BF974}"/>
              </a:ext>
            </a:extLst>
          </p:cNvPr>
          <p:cNvSpPr/>
          <p:nvPr/>
        </p:nvSpPr>
        <p:spPr>
          <a:xfrm>
            <a:off x="4089400" y="5511800"/>
            <a:ext cx="77978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7C95790C-3FDF-CEB3-03F8-249D2DED06F5}"/>
              </a:ext>
            </a:extLst>
          </p:cNvPr>
          <p:cNvSpPr txBox="1"/>
          <p:nvPr/>
        </p:nvSpPr>
        <p:spPr>
          <a:xfrm>
            <a:off x="4165600" y="5562600"/>
            <a:ext cx="7645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Potential challenges and strategies to overcome them</a:t>
            </a:r>
            <a:endParaRPr lang="en-IN" sz="1150" b="1">
              <a:solidFill>
                <a:srgbClr val="0F766E"/>
              </a:solidFill>
              <a:latin typeface="Arial" panose="020B0604020202020204" pitchFamily="34" charset="0"/>
            </a:endParaRPr>
          </a:p>
        </p:txBody>
      </p:sp>
      <p:sp>
        <p:nvSpPr>
          <p:cNvPr id="30" name="TextBox 29">
            <a:extLst>
              <a:ext uri="{FF2B5EF4-FFF2-40B4-BE49-F238E27FC236}">
                <a16:creationId xmlns:a16="http://schemas.microsoft.com/office/drawing/2014/main" id="{9FD96294-9308-8C43-A391-64F2873DAA68}"/>
              </a:ext>
            </a:extLst>
          </p:cNvPr>
          <p:cNvSpPr txBox="1"/>
          <p:nvPr/>
        </p:nvSpPr>
        <p:spPr>
          <a:xfrm>
            <a:off x="41656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False alarms: </a:t>
            </a:r>
            <a:r>
              <a:rPr lang="en-US" sz="730">
                <a:solidFill>
                  <a:srgbClr val="1F2937"/>
                </a:solidFill>
                <a:latin typeface="Arial" panose="020B0604020202020204" pitchFamily="34" charset="0"/>
              </a:rPr>
              <a:t>persistence windows; HIGH needs two kinds of evidence</a:t>
            </a:r>
            <a:endParaRPr lang="en-IN" sz="730">
              <a:solidFill>
                <a:srgbClr val="1F2937"/>
              </a:solidFill>
              <a:latin typeface="Arial" panose="020B0604020202020204" pitchFamily="34" charset="0"/>
            </a:endParaRPr>
          </a:p>
        </p:txBody>
      </p:sp>
      <p:sp>
        <p:nvSpPr>
          <p:cNvPr id="31" name="TextBox 30">
            <a:extLst>
              <a:ext uri="{FF2B5EF4-FFF2-40B4-BE49-F238E27FC236}">
                <a16:creationId xmlns:a16="http://schemas.microsoft.com/office/drawing/2014/main" id="{1778F8DB-9A76-BD2A-2DD0-55562A633CB8}"/>
              </a:ext>
            </a:extLst>
          </p:cNvPr>
          <p:cNvSpPr txBox="1"/>
          <p:nvPr/>
        </p:nvSpPr>
        <p:spPr>
          <a:xfrm>
            <a:off x="67564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Sensor fault or drift: </a:t>
            </a:r>
            <a:r>
              <a:rPr lang="en-US" sz="730">
                <a:solidFill>
                  <a:srgbClr val="1F2937"/>
                </a:solidFill>
                <a:latin typeface="Arial" panose="020B0604020202020204" pitchFamily="34" charset="0"/>
              </a:rPr>
              <a:t>health gate; chlorine probe checked with a DPD kit</a:t>
            </a:r>
            <a:endParaRPr lang="en-IN" sz="730">
              <a:solidFill>
                <a:srgbClr val="1F2937"/>
              </a:solidFill>
              <a:latin typeface="Arial" panose="020B0604020202020204" pitchFamily="34" charset="0"/>
            </a:endParaRPr>
          </a:p>
        </p:txBody>
      </p:sp>
      <p:sp>
        <p:nvSpPr>
          <p:cNvPr id="32" name="TextBox 31">
            <a:extLst>
              <a:ext uri="{FF2B5EF4-FFF2-40B4-BE49-F238E27FC236}">
                <a16:creationId xmlns:a16="http://schemas.microsoft.com/office/drawing/2014/main" id="{525B637F-0365-577F-9D69-AE95C9A1815F}"/>
              </a:ext>
            </a:extLst>
          </p:cNvPr>
          <p:cNvSpPr txBox="1"/>
          <p:nvPr/>
        </p:nvSpPr>
        <p:spPr>
          <a:xfrm>
            <a:off x="93472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Rural network: </a:t>
            </a:r>
            <a:r>
              <a:rPr lang="en-US" sz="730">
                <a:solidFill>
                  <a:srgbClr val="1F2937"/>
                </a:solidFill>
                <a:latin typeface="Arial" panose="020B0604020202020204" pitchFamily="34" charset="0"/>
              </a:rPr>
              <a:t>gateway buffers readings, sends when online</a:t>
            </a:r>
            <a:endParaRPr lang="en-IN" sz="730">
              <a:solidFill>
                <a:srgbClr val="1F2937"/>
              </a:solidFill>
              <a:latin typeface="Arial" panose="020B0604020202020204" pitchFamily="34" charset="0"/>
            </a:endParaRPr>
          </a:p>
        </p:txBody>
      </p:sp>
      <p:sp>
        <p:nvSpPr>
          <p:cNvPr id="33" name="TextBox 32">
            <a:extLst>
              <a:ext uri="{FF2B5EF4-FFF2-40B4-BE49-F238E27FC236}">
                <a16:creationId xmlns:a16="http://schemas.microsoft.com/office/drawing/2014/main" id="{6385FE30-43EC-17CD-B768-6303E7F50531}"/>
              </a:ext>
            </a:extLst>
          </p:cNvPr>
          <p:cNvSpPr txBox="1"/>
          <p:nvPr/>
        </p:nvSpPr>
        <p:spPr>
          <a:xfrm>
            <a:off x="41656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Trust in AI: </a:t>
            </a:r>
            <a:r>
              <a:rPr lang="en-US" sz="730">
                <a:solidFill>
                  <a:srgbClr val="1F2937"/>
                </a:solidFill>
                <a:latin typeface="Arial" panose="020B0604020202020204" pitchFamily="34" charset="0"/>
              </a:rPr>
              <a:t>every score shows its reasons</a:t>
            </a:r>
            <a:endParaRPr lang="en-IN" sz="730">
              <a:solidFill>
                <a:srgbClr val="1F2937"/>
              </a:solidFill>
              <a:latin typeface="Arial" panose="020B0604020202020204" pitchFamily="34" charset="0"/>
            </a:endParaRPr>
          </a:p>
        </p:txBody>
      </p:sp>
      <p:sp>
        <p:nvSpPr>
          <p:cNvPr id="34" name="TextBox 33">
            <a:extLst>
              <a:ext uri="{FF2B5EF4-FFF2-40B4-BE49-F238E27FC236}">
                <a16:creationId xmlns:a16="http://schemas.microsoft.com/office/drawing/2014/main" id="{530E336E-04BC-869D-0994-1BE1CA161A65}"/>
              </a:ext>
            </a:extLst>
          </p:cNvPr>
          <p:cNvSpPr txBox="1"/>
          <p:nvPr/>
        </p:nvSpPr>
        <p:spPr>
          <a:xfrm>
            <a:off x="67564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730" b="1">
                <a:solidFill>
                  <a:srgbClr val="B91C1C"/>
                </a:solidFill>
                <a:latin typeface="Arial" panose="020B0604020202020204" pitchFamily="34" charset="0"/>
              </a:rPr>
              <a:t>Leak vs noise: </a:t>
            </a:r>
            <a:r>
              <a:rPr lang="en-IN" sz="730">
                <a:solidFill>
                  <a:srgbClr val="1F2937"/>
                </a:solidFill>
                <a:latin typeface="Arial" panose="020B0604020202020204" pitchFamily="34" charset="0"/>
              </a:rPr>
              <a:t>per-pipe acoustic baseline plus flow gap</a:t>
            </a:r>
          </a:p>
        </p:txBody>
      </p:sp>
      <p:sp>
        <p:nvSpPr>
          <p:cNvPr id="35" name="TextBox 34">
            <a:extLst>
              <a:ext uri="{FF2B5EF4-FFF2-40B4-BE49-F238E27FC236}">
                <a16:creationId xmlns:a16="http://schemas.microsoft.com/office/drawing/2014/main" id="{B5D58718-535C-63DD-18C7-F5A232D1F5EC}"/>
              </a:ext>
            </a:extLst>
          </p:cNvPr>
          <p:cNvSpPr txBox="1"/>
          <p:nvPr/>
        </p:nvSpPr>
        <p:spPr>
          <a:xfrm>
            <a:off x="93472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Platform access: </a:t>
            </a:r>
            <a:r>
              <a:rPr lang="en-US" sz="730">
                <a:solidFill>
                  <a:srgbClr val="1F2937"/>
                </a:solidFill>
                <a:latin typeface="Arial" panose="020B0604020202020204" pitchFamily="34" charset="0"/>
              </a:rPr>
              <a:t>adapters ready; official access and specifications needed</a:t>
            </a:r>
            <a:endParaRPr lang="en-IN" sz="730">
              <a:solidFill>
                <a:srgbClr val="1F2937"/>
              </a:solidFill>
              <a:latin typeface="Arial" panose="020B0604020202020204" pitchFamily="34" charset="0"/>
            </a:endParaRP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60986421-1081-638B-FCB1-876275C765E1}"/>
              </a:ext>
            </a:extLst>
          </p:cNvPr>
          <p:cNvSpPr/>
          <p:nvPr/>
        </p:nvSpPr>
        <p:spPr>
          <a:xfrm>
            <a:off x="304800" y="1143000"/>
            <a:ext cx="7137400" cy="29464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2AB2FC9F-D605-47F9-8956-5822B28034B6}"/>
              </a:ext>
            </a:extLst>
          </p:cNvPr>
          <p:cNvSpPr txBox="1"/>
          <p:nvPr/>
        </p:nvSpPr>
        <p:spPr>
          <a:xfrm>
            <a:off x="381000" y="1193800"/>
            <a:ext cx="69850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50" b="1">
                <a:solidFill>
                  <a:srgbClr val="0F766E"/>
                </a:solidFill>
                <a:latin typeface="Arial" panose="020B0604020202020204" pitchFamily="34" charset="0"/>
              </a:rPr>
              <a:t>Expected outcomes</a:t>
            </a:r>
          </a:p>
        </p:txBody>
      </p:sp>
      <p:sp>
        <p:nvSpPr>
          <p:cNvPr id="4" name="Oval 3">
            <a:extLst>
              <a:ext uri="{FF2B5EF4-FFF2-40B4-BE49-F238E27FC236}">
                <a16:creationId xmlns:a16="http://schemas.microsoft.com/office/drawing/2014/main" id="{0E786946-ACA7-11DA-39FF-1AEDA89C61A3}"/>
              </a:ext>
            </a:extLst>
          </p:cNvPr>
          <p:cNvSpPr/>
          <p:nvPr/>
        </p:nvSpPr>
        <p:spPr>
          <a:xfrm>
            <a:off x="406400" y="1498600"/>
            <a:ext cx="215900" cy="2159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5" name="TextBox 4">
            <a:extLst>
              <a:ext uri="{FF2B5EF4-FFF2-40B4-BE49-F238E27FC236}">
                <a16:creationId xmlns:a16="http://schemas.microsoft.com/office/drawing/2014/main" id="{12C5318E-5B66-ACBC-5083-90A6B6D51EC9}"/>
              </a:ext>
            </a:extLst>
          </p:cNvPr>
          <p:cNvSpPr txBox="1"/>
          <p:nvPr/>
        </p:nvSpPr>
        <p:spPr>
          <a:xfrm>
            <a:off x="685800" y="1422400"/>
            <a:ext cx="67056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40" b="1">
                <a:solidFill>
                  <a:srgbClr val="0F766E"/>
                </a:solidFill>
                <a:latin typeface="Arial" panose="020B0604020202020204" pitchFamily="34" charset="0"/>
              </a:rPr>
              <a:t>AI/ML-enabled platform: </a:t>
            </a:r>
            <a:r>
              <a:rPr lang="en-US" sz="940">
                <a:solidFill>
                  <a:srgbClr val="1F2937"/>
                </a:solidFill>
                <a:latin typeface="Arial" panose="020B0604020202020204" pitchFamily="34" charset="0"/>
              </a:rPr>
              <a:t>real-time monitoring of Functional Household Tap Connections and rural water supply service delivery</a:t>
            </a:r>
            <a:endParaRPr lang="en-IN" sz="940">
              <a:solidFill>
                <a:srgbClr val="1F2937"/>
              </a:solidFill>
              <a:latin typeface="Arial" panose="020B0604020202020204" pitchFamily="34" charset="0"/>
            </a:endParaRPr>
          </a:p>
        </p:txBody>
      </p:sp>
      <p:sp>
        <p:nvSpPr>
          <p:cNvPr id="8" name="Oval 7">
            <a:extLst>
              <a:ext uri="{FF2B5EF4-FFF2-40B4-BE49-F238E27FC236}">
                <a16:creationId xmlns:a16="http://schemas.microsoft.com/office/drawing/2014/main" id="{3DBDA683-4CF2-0A6D-7984-7A1204D4E801}"/>
              </a:ext>
            </a:extLst>
          </p:cNvPr>
          <p:cNvSpPr/>
          <p:nvPr/>
        </p:nvSpPr>
        <p:spPr>
          <a:xfrm>
            <a:off x="406400" y="1930400"/>
            <a:ext cx="215900" cy="2159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9" name="TextBox 8">
            <a:extLst>
              <a:ext uri="{FF2B5EF4-FFF2-40B4-BE49-F238E27FC236}">
                <a16:creationId xmlns:a16="http://schemas.microsoft.com/office/drawing/2014/main" id="{3F03BE34-E2C2-F098-A640-5BECECA403F3}"/>
              </a:ext>
            </a:extLst>
          </p:cNvPr>
          <p:cNvSpPr txBox="1"/>
          <p:nvPr/>
        </p:nvSpPr>
        <p:spPr>
          <a:xfrm>
            <a:off x="685800" y="1854200"/>
            <a:ext cx="67056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40" b="1">
                <a:solidFill>
                  <a:srgbClr val="0F766E"/>
                </a:solidFill>
                <a:latin typeface="Arial" panose="020B0604020202020204" pitchFamily="34" charset="0"/>
              </a:rPr>
              <a:t>Early identification and prediction: </a:t>
            </a:r>
            <a:r>
              <a:rPr lang="en-US" sz="940">
                <a:solidFill>
                  <a:srgbClr val="1F2937"/>
                </a:solidFill>
                <a:latin typeface="Arial" panose="020B0604020202020204" pitchFamily="34" charset="0"/>
              </a:rPr>
              <a:t>of service disruptions, water quality issues and infrastructure failures, enabling timely corrective action</a:t>
            </a:r>
            <a:endParaRPr lang="en-IN" sz="940">
              <a:solidFill>
                <a:srgbClr val="1F2937"/>
              </a:solidFill>
              <a:latin typeface="Arial" panose="020B0604020202020204" pitchFamily="34" charset="0"/>
            </a:endParaRPr>
          </a:p>
        </p:txBody>
      </p:sp>
      <p:sp>
        <p:nvSpPr>
          <p:cNvPr id="13" name="Oval 12">
            <a:extLst>
              <a:ext uri="{FF2B5EF4-FFF2-40B4-BE49-F238E27FC236}">
                <a16:creationId xmlns:a16="http://schemas.microsoft.com/office/drawing/2014/main" id="{740F5C8A-B123-AE02-67AD-810D7C679C0C}"/>
              </a:ext>
            </a:extLst>
          </p:cNvPr>
          <p:cNvSpPr/>
          <p:nvPr/>
        </p:nvSpPr>
        <p:spPr>
          <a:xfrm>
            <a:off x="406400" y="2362200"/>
            <a:ext cx="215900" cy="2159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14" name="TextBox 13">
            <a:extLst>
              <a:ext uri="{FF2B5EF4-FFF2-40B4-BE49-F238E27FC236}">
                <a16:creationId xmlns:a16="http://schemas.microsoft.com/office/drawing/2014/main" id="{8F8F7750-11C8-01BE-B023-824E497535FC}"/>
              </a:ext>
            </a:extLst>
          </p:cNvPr>
          <p:cNvSpPr txBox="1"/>
          <p:nvPr/>
        </p:nvSpPr>
        <p:spPr>
          <a:xfrm>
            <a:off x="685800" y="2286000"/>
            <a:ext cx="67056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40" b="1">
                <a:solidFill>
                  <a:srgbClr val="0F766E"/>
                </a:solidFill>
                <a:latin typeface="Arial" panose="020B0604020202020204" pitchFamily="34" charset="0"/>
              </a:rPr>
              <a:t>Community participation: </a:t>
            </a:r>
            <a:r>
              <a:rPr lang="en-US" sz="940">
                <a:solidFill>
                  <a:srgbClr val="1F2937"/>
                </a:solidFill>
                <a:latin typeface="Arial" panose="020B0604020202020204" pitchFamily="34" charset="0"/>
              </a:rPr>
              <a:t>mobile-based citizen feedback, grievance reporting and service validation</a:t>
            </a:r>
            <a:endParaRPr lang="en-IN" sz="940">
              <a:solidFill>
                <a:srgbClr val="1F2937"/>
              </a:solidFill>
              <a:latin typeface="Arial" panose="020B0604020202020204" pitchFamily="34" charset="0"/>
            </a:endParaRPr>
          </a:p>
        </p:txBody>
      </p:sp>
      <p:sp>
        <p:nvSpPr>
          <p:cNvPr id="15" name="Oval 14">
            <a:extLst>
              <a:ext uri="{FF2B5EF4-FFF2-40B4-BE49-F238E27FC236}">
                <a16:creationId xmlns:a16="http://schemas.microsoft.com/office/drawing/2014/main" id="{357BF98B-E26C-78A9-8554-314F72D3F585}"/>
              </a:ext>
            </a:extLst>
          </p:cNvPr>
          <p:cNvSpPr/>
          <p:nvPr/>
        </p:nvSpPr>
        <p:spPr>
          <a:xfrm>
            <a:off x="406400" y="2794000"/>
            <a:ext cx="215900" cy="2159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16" name="TextBox 15">
            <a:extLst>
              <a:ext uri="{FF2B5EF4-FFF2-40B4-BE49-F238E27FC236}">
                <a16:creationId xmlns:a16="http://schemas.microsoft.com/office/drawing/2014/main" id="{F6BC060C-23F5-9B5D-5929-D5AC34C0A868}"/>
              </a:ext>
            </a:extLst>
          </p:cNvPr>
          <p:cNvSpPr txBox="1"/>
          <p:nvPr/>
        </p:nvSpPr>
        <p:spPr>
          <a:xfrm>
            <a:off x="685800" y="2717800"/>
            <a:ext cx="67056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40" b="1">
                <a:solidFill>
                  <a:srgbClr val="0F766E"/>
                </a:solidFill>
                <a:latin typeface="Arial" panose="020B0604020202020204" pitchFamily="34" charset="0"/>
              </a:rPr>
              <a:t>Automatic integration: </a:t>
            </a:r>
            <a:r>
              <a:rPr lang="en-US" sz="940">
                <a:solidFill>
                  <a:srgbClr val="1F2937"/>
                </a:solidFill>
                <a:latin typeface="Arial" panose="020B0604020202020204" pitchFamily="34" charset="0"/>
              </a:rPr>
              <a:t>of monitoring data with IMIS, Sujal Gaon IDs and other Jal Jeevan Mission digital platforms</a:t>
            </a:r>
            <a:endParaRPr lang="en-IN" sz="940">
              <a:solidFill>
                <a:srgbClr val="1F2937"/>
              </a:solidFill>
              <a:latin typeface="Arial" panose="020B0604020202020204" pitchFamily="34" charset="0"/>
            </a:endParaRPr>
          </a:p>
        </p:txBody>
      </p:sp>
      <p:sp>
        <p:nvSpPr>
          <p:cNvPr id="17" name="Oval 16">
            <a:extLst>
              <a:ext uri="{FF2B5EF4-FFF2-40B4-BE49-F238E27FC236}">
                <a16:creationId xmlns:a16="http://schemas.microsoft.com/office/drawing/2014/main" id="{4B805217-C0C5-656B-16DB-F885E7EB0DE2}"/>
              </a:ext>
            </a:extLst>
          </p:cNvPr>
          <p:cNvSpPr/>
          <p:nvPr/>
        </p:nvSpPr>
        <p:spPr>
          <a:xfrm>
            <a:off x="406400" y="3225800"/>
            <a:ext cx="215900" cy="2159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18" name="TextBox 17">
            <a:extLst>
              <a:ext uri="{FF2B5EF4-FFF2-40B4-BE49-F238E27FC236}">
                <a16:creationId xmlns:a16="http://schemas.microsoft.com/office/drawing/2014/main" id="{7D3A05AA-3F0C-3D21-32CB-4575629FBFE0}"/>
              </a:ext>
            </a:extLst>
          </p:cNvPr>
          <p:cNvSpPr txBox="1"/>
          <p:nvPr/>
        </p:nvSpPr>
        <p:spPr>
          <a:xfrm>
            <a:off x="685800" y="3149600"/>
            <a:ext cx="67056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40" b="1">
                <a:solidFill>
                  <a:srgbClr val="0F766E"/>
                </a:solidFill>
                <a:latin typeface="Arial" panose="020B0604020202020204" pitchFamily="34" charset="0"/>
              </a:rPr>
              <a:t>Operational efficiency: </a:t>
            </a:r>
            <a:r>
              <a:rPr lang="en-US" sz="940">
                <a:solidFill>
                  <a:srgbClr val="1F2937"/>
                </a:solidFill>
                <a:latin typeface="Arial" panose="020B0604020202020204" pitchFamily="34" charset="0"/>
              </a:rPr>
              <a:t>preventive maintenance planning, transparency and evidence-based decision-making</a:t>
            </a:r>
            <a:endParaRPr lang="en-IN" sz="940">
              <a:solidFill>
                <a:srgbClr val="1F2937"/>
              </a:solidFill>
              <a:latin typeface="Arial" panose="020B0604020202020204" pitchFamily="34" charset="0"/>
            </a:endParaRPr>
          </a:p>
        </p:txBody>
      </p:sp>
      <p:sp>
        <p:nvSpPr>
          <p:cNvPr id="19" name="Oval 18">
            <a:extLst>
              <a:ext uri="{FF2B5EF4-FFF2-40B4-BE49-F238E27FC236}">
                <a16:creationId xmlns:a16="http://schemas.microsoft.com/office/drawing/2014/main" id="{A59FE109-2B66-39AC-796C-07467A289C76}"/>
              </a:ext>
            </a:extLst>
          </p:cNvPr>
          <p:cNvSpPr/>
          <p:nvPr/>
        </p:nvSpPr>
        <p:spPr>
          <a:xfrm>
            <a:off x="406400" y="3657600"/>
            <a:ext cx="215900" cy="2159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20" name="TextBox 19">
            <a:extLst>
              <a:ext uri="{FF2B5EF4-FFF2-40B4-BE49-F238E27FC236}">
                <a16:creationId xmlns:a16="http://schemas.microsoft.com/office/drawing/2014/main" id="{A5561BF3-7610-1FF4-7B7B-C70262519CED}"/>
              </a:ext>
            </a:extLst>
          </p:cNvPr>
          <p:cNvSpPr txBox="1"/>
          <p:nvPr/>
        </p:nvSpPr>
        <p:spPr>
          <a:xfrm>
            <a:off x="685800" y="3581400"/>
            <a:ext cx="67056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40" b="1">
                <a:solidFill>
                  <a:srgbClr val="0F766E"/>
                </a:solidFill>
                <a:latin typeface="Arial" panose="020B0604020202020204" pitchFamily="34" charset="0"/>
              </a:rPr>
              <a:t>Reliability, accountability, sustainability: </a:t>
            </a:r>
            <a:r>
              <a:rPr lang="en-US" sz="940">
                <a:solidFill>
                  <a:srgbClr val="1F2937"/>
                </a:solidFill>
                <a:latin typeface="Arial" panose="020B0604020202020204" pitchFamily="34" charset="0"/>
              </a:rPr>
              <a:t>of FHTCs through continuous AI-assisted monitoring and analytics</a:t>
            </a:r>
            <a:endParaRPr lang="en-IN" sz="940">
              <a:solidFill>
                <a:srgbClr val="1F2937"/>
              </a:solidFill>
              <a:latin typeface="Arial" panose="020B0604020202020204" pitchFamily="34" charset="0"/>
            </a:endParaRPr>
          </a:p>
        </p:txBody>
      </p:sp>
      <p:pic>
        <p:nvPicPr>
          <p:cNvPr id="22" name="Picture 21">
            <a:extLst>
              <a:ext uri="{FF2B5EF4-FFF2-40B4-BE49-F238E27FC236}">
                <a16:creationId xmlns:a16="http://schemas.microsoft.com/office/drawing/2014/main" id="{027CCB08-8177-5844-B47B-75785355779F}"/>
              </a:ext>
            </a:extLst>
          </p:cNvPr>
          <p:cNvPicPr>
            <a:picLocks/>
          </p:cNvPicPr>
          <p:nvPr/>
        </p:nvPicPr>
        <p:blipFill>
          <a:blip r:embed="rId4"/>
          <a:stretch>
            <a:fillRect/>
          </a:stretch>
        </p:blipFill>
        <p:spPr>
          <a:xfrm>
            <a:off x="7543800" y="1143000"/>
            <a:ext cx="4343400" cy="2362200"/>
          </a:xfrm>
          <a:prstGeom prst="rect">
            <a:avLst/>
          </a:prstGeom>
          <a:ln w="9525">
            <a:solidFill>
              <a:srgbClr val="CBD5E1"/>
            </a:solidFill>
          </a:ln>
        </p:spPr>
      </p:pic>
      <p:sp>
        <p:nvSpPr>
          <p:cNvPr id="23" name="Rectangle: Rounded Corners 22">
            <a:extLst>
              <a:ext uri="{FF2B5EF4-FFF2-40B4-BE49-F238E27FC236}">
                <a16:creationId xmlns:a16="http://schemas.microsoft.com/office/drawing/2014/main" id="{4BA5FDA8-F61F-D362-964C-DEE7631884C1}"/>
              </a:ext>
            </a:extLst>
          </p:cNvPr>
          <p:cNvSpPr/>
          <p:nvPr/>
        </p:nvSpPr>
        <p:spPr>
          <a:xfrm>
            <a:off x="7543800" y="3581400"/>
            <a:ext cx="4343400" cy="508000"/>
          </a:xfrm>
          <a:prstGeom prst="roundRect">
            <a:avLst>
              <a:gd name="adj" fmla="val 8000"/>
            </a:avLst>
          </a:prstGeom>
          <a:solidFill>
            <a:srgbClr val="E6F4F1"/>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918F4FB7-3018-B378-96B5-34EB80437D01}"/>
              </a:ext>
            </a:extLst>
          </p:cNvPr>
          <p:cNvSpPr txBox="1"/>
          <p:nvPr/>
        </p:nvSpPr>
        <p:spPr>
          <a:xfrm>
            <a:off x="7594600" y="3581400"/>
            <a:ext cx="42418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20" b="1">
                <a:solidFill>
                  <a:srgbClr val="0F766E"/>
                </a:solidFill>
                <a:latin typeface="Arial" panose="020B0604020202020204" pitchFamily="34" charset="0"/>
              </a:rPr>
              <a:t>Who benefits: </a:t>
            </a:r>
            <a:r>
              <a:rPr lang="en-US" sz="820">
                <a:solidFill>
                  <a:srgbClr val="1F2937"/>
                </a:solidFill>
                <a:latin typeface="Arial" panose="020B0604020202020204" pitchFamily="34" charset="0"/>
              </a:rPr>
              <a:t>Village Water &amp; Sanitation Committees, Gram Panchayats, implementing agencies, State authorities and villagers</a:t>
            </a:r>
            <a:endParaRPr lang="en-IN" sz="820">
              <a:solidFill>
                <a:srgbClr val="1F2937"/>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C28DCA49-4432-69E3-6967-716D87316F9E}"/>
              </a:ext>
            </a:extLst>
          </p:cNvPr>
          <p:cNvSpPr/>
          <p:nvPr/>
        </p:nvSpPr>
        <p:spPr>
          <a:xfrm>
            <a:off x="304800" y="4191000"/>
            <a:ext cx="2819400" cy="12446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C1B4CFC2-A7FC-8DFA-1F62-BDC755E54117}"/>
              </a:ext>
            </a:extLst>
          </p:cNvPr>
          <p:cNvSpPr txBox="1"/>
          <p:nvPr/>
        </p:nvSpPr>
        <p:spPr>
          <a:xfrm>
            <a:off x="381000" y="4229100"/>
            <a:ext cx="26670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1000" b="1">
                <a:solidFill>
                  <a:srgbClr val="0F766E"/>
                </a:solidFill>
                <a:latin typeface="Arial" panose="020B0604020202020204" pitchFamily="34" charset="0"/>
              </a:rPr>
              <a:t>VWSC / Gram Panchayat</a:t>
            </a:r>
          </a:p>
        </p:txBody>
      </p:sp>
      <p:sp>
        <p:nvSpPr>
          <p:cNvPr id="27" name="TextBox 26">
            <a:extLst>
              <a:ext uri="{FF2B5EF4-FFF2-40B4-BE49-F238E27FC236}">
                <a16:creationId xmlns:a16="http://schemas.microsoft.com/office/drawing/2014/main" id="{FE1FC334-B323-AF1B-B2FC-D3E047F0BF82}"/>
              </a:ext>
            </a:extLst>
          </p:cNvPr>
          <p:cNvSpPr txBox="1"/>
          <p:nvPr/>
        </p:nvSpPr>
        <p:spPr>
          <a:xfrm>
            <a:off x="381000" y="4445000"/>
            <a:ext cx="266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920" b="1">
                <a:solidFill>
                  <a:srgbClr val="B91C1C"/>
                </a:solidFill>
                <a:latin typeface="Arial" panose="020B0604020202020204" pitchFamily="34" charset="0"/>
              </a:rPr>
              <a:t>Before: </a:t>
            </a:r>
            <a:r>
              <a:rPr lang="en-US" sz="920">
                <a:solidFill>
                  <a:srgbClr val="1F2937"/>
                </a:solidFill>
                <a:latin typeface="Arial" panose="020B0604020202020204" pitchFamily="34" charset="0"/>
              </a:rPr>
              <a:t>Learns of failures late; no priority order. Only 55.2% of villages had a VWSC [1]</a:t>
            </a:r>
          </a:p>
          <a:p>
            <a:pPr>
              <a:spcBef>
                <a:spcPts val="0"/>
              </a:spcBef>
              <a:spcAft>
                <a:spcPts val="300"/>
              </a:spcAft>
            </a:pPr>
            <a:r>
              <a:rPr lang="en-US" sz="920" b="1">
                <a:solidFill>
                  <a:srgbClr val="15803D"/>
                </a:solidFill>
                <a:latin typeface="Arial" panose="020B0604020202020204" pitchFamily="34" charset="0"/>
              </a:rPr>
              <a:t>After: </a:t>
            </a:r>
            <a:r>
              <a:rPr lang="en-US" sz="920">
                <a:solidFill>
                  <a:srgbClr val="1F2937"/>
                </a:solidFill>
                <a:latin typeface="Arial" panose="020B0604020202020204" pitchFamily="34" charset="0"/>
              </a:rPr>
              <a:t>Alert Center and a ranked inspection list; proof that a repair worked</a:t>
            </a:r>
            <a:endParaRPr lang="en-IN" sz="92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9ABD25B3-453E-BB0B-E2AA-F190C1438D1A}"/>
              </a:ext>
            </a:extLst>
          </p:cNvPr>
          <p:cNvSpPr/>
          <p:nvPr/>
        </p:nvSpPr>
        <p:spPr>
          <a:xfrm>
            <a:off x="3213100" y="4191000"/>
            <a:ext cx="2819400" cy="12446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201453D1-F5E9-71C7-1872-BA5A9503DB26}"/>
              </a:ext>
            </a:extLst>
          </p:cNvPr>
          <p:cNvSpPr txBox="1"/>
          <p:nvPr/>
        </p:nvSpPr>
        <p:spPr>
          <a:xfrm>
            <a:off x="3289300" y="4229100"/>
            <a:ext cx="26670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1000" b="1">
                <a:solidFill>
                  <a:srgbClr val="0F766E"/>
                </a:solidFill>
                <a:latin typeface="Arial" panose="020B0604020202020204" pitchFamily="34" charset="0"/>
              </a:rPr>
              <a:t>Implementing agencies</a:t>
            </a:r>
          </a:p>
        </p:txBody>
      </p:sp>
      <p:sp>
        <p:nvSpPr>
          <p:cNvPr id="30" name="TextBox 29">
            <a:extLst>
              <a:ext uri="{FF2B5EF4-FFF2-40B4-BE49-F238E27FC236}">
                <a16:creationId xmlns:a16="http://schemas.microsoft.com/office/drawing/2014/main" id="{9289AA80-A2E9-48B6-EE01-781C1F72C1B5}"/>
              </a:ext>
            </a:extLst>
          </p:cNvPr>
          <p:cNvSpPr txBox="1"/>
          <p:nvPr/>
        </p:nvSpPr>
        <p:spPr>
          <a:xfrm>
            <a:off x="3289300" y="4445000"/>
            <a:ext cx="266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920" b="1">
                <a:solidFill>
                  <a:srgbClr val="B91C1C"/>
                </a:solidFill>
                <a:latin typeface="Arial" panose="020B0604020202020204" pitchFamily="34" charset="0"/>
              </a:rPr>
              <a:t>Before: </a:t>
            </a:r>
            <a:r>
              <a:rPr lang="en-US" sz="920">
                <a:solidFill>
                  <a:srgbClr val="1F2937"/>
                </a:solidFill>
                <a:latin typeface="Arial" panose="020B0604020202020204" pitchFamily="34" charset="0"/>
              </a:rPr>
              <a:t>Periodic inspections and reactive repairs</a:t>
            </a:r>
          </a:p>
          <a:p>
            <a:pPr>
              <a:spcBef>
                <a:spcPts val="0"/>
              </a:spcBef>
              <a:spcAft>
                <a:spcPts val="300"/>
              </a:spcAft>
            </a:pPr>
            <a:r>
              <a:rPr lang="en-US" sz="920" b="1">
                <a:solidFill>
                  <a:srgbClr val="15803D"/>
                </a:solidFill>
                <a:latin typeface="Arial" panose="020B0604020202020204" pitchFamily="34" charset="0"/>
              </a:rPr>
              <a:t>After: </a:t>
            </a:r>
            <a:r>
              <a:rPr lang="en-US" sz="920">
                <a:solidFill>
                  <a:srgbClr val="1F2937"/>
                </a:solidFill>
                <a:latin typeface="Arial" panose="020B0604020202020204" pitchFamily="34" charset="0"/>
              </a:rPr>
              <a:t>Preventive maintenance plan with reasons; repeat-failure hotspots</a:t>
            </a:r>
            <a:endParaRPr lang="en-IN" sz="920">
              <a:solidFill>
                <a:srgbClr val="1F2937"/>
              </a:solidFill>
              <a:latin typeface="Arial" panose="020B0604020202020204" pitchFamily="34" charset="0"/>
            </a:endParaRPr>
          </a:p>
        </p:txBody>
      </p:sp>
      <p:sp>
        <p:nvSpPr>
          <p:cNvPr id="31" name="Rectangle: Rounded Corners 30">
            <a:extLst>
              <a:ext uri="{FF2B5EF4-FFF2-40B4-BE49-F238E27FC236}">
                <a16:creationId xmlns:a16="http://schemas.microsoft.com/office/drawing/2014/main" id="{9E6AF3AB-5430-A657-3FB0-4055D7B7E5A5}"/>
              </a:ext>
            </a:extLst>
          </p:cNvPr>
          <p:cNvSpPr/>
          <p:nvPr/>
        </p:nvSpPr>
        <p:spPr>
          <a:xfrm>
            <a:off x="6121400" y="4191000"/>
            <a:ext cx="2819400" cy="12446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TextBox 31">
            <a:extLst>
              <a:ext uri="{FF2B5EF4-FFF2-40B4-BE49-F238E27FC236}">
                <a16:creationId xmlns:a16="http://schemas.microsoft.com/office/drawing/2014/main" id="{AC5398AC-5F84-7335-F57F-BE48051F25C7}"/>
              </a:ext>
            </a:extLst>
          </p:cNvPr>
          <p:cNvSpPr txBox="1"/>
          <p:nvPr/>
        </p:nvSpPr>
        <p:spPr>
          <a:xfrm>
            <a:off x="6197600" y="4229100"/>
            <a:ext cx="26670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1000" b="1">
                <a:solidFill>
                  <a:srgbClr val="0F766E"/>
                </a:solidFill>
                <a:latin typeface="Arial" panose="020B0604020202020204" pitchFamily="34" charset="0"/>
              </a:rPr>
              <a:t>State authorities</a:t>
            </a:r>
          </a:p>
        </p:txBody>
      </p:sp>
      <p:sp>
        <p:nvSpPr>
          <p:cNvPr id="33" name="TextBox 32">
            <a:extLst>
              <a:ext uri="{FF2B5EF4-FFF2-40B4-BE49-F238E27FC236}">
                <a16:creationId xmlns:a16="http://schemas.microsoft.com/office/drawing/2014/main" id="{6D343E2A-07AE-F4F6-3C7E-7F7FCF9BD5A4}"/>
              </a:ext>
            </a:extLst>
          </p:cNvPr>
          <p:cNvSpPr txBox="1"/>
          <p:nvPr/>
        </p:nvSpPr>
        <p:spPr>
          <a:xfrm>
            <a:off x="6197600" y="4445000"/>
            <a:ext cx="266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920" b="1">
                <a:solidFill>
                  <a:srgbClr val="B91C1C"/>
                </a:solidFill>
                <a:latin typeface="Arial" panose="020B0604020202020204" pitchFamily="34" charset="0"/>
              </a:rPr>
              <a:t>Before: </a:t>
            </a:r>
            <a:r>
              <a:rPr lang="en-US" sz="920">
                <a:solidFill>
                  <a:srgbClr val="1F2937"/>
                </a:solidFill>
                <a:latin typeface="Arial" panose="020B0604020202020204" pitchFamily="34" charset="0"/>
              </a:rPr>
              <a:t>Coverage numbers, not service quality</a:t>
            </a:r>
          </a:p>
          <a:p>
            <a:pPr>
              <a:spcBef>
                <a:spcPts val="0"/>
              </a:spcBef>
              <a:spcAft>
                <a:spcPts val="300"/>
              </a:spcAft>
            </a:pPr>
            <a:r>
              <a:rPr lang="en-US" sz="920" b="1">
                <a:solidFill>
                  <a:srgbClr val="15803D"/>
                </a:solidFill>
                <a:latin typeface="Arial" panose="020B0604020202020204" pitchFamily="34" charset="0"/>
              </a:rPr>
              <a:t>After: </a:t>
            </a:r>
            <a:r>
              <a:rPr lang="en-US" sz="920">
                <a:solidFill>
                  <a:srgbClr val="1F2937"/>
                </a:solidFill>
                <a:latin typeface="Arial" panose="020B0604020202020204" pitchFamily="34" charset="0"/>
              </a:rPr>
              <a:t>Multi-level analytics and GIS maps; exports for evidence-based decisions</a:t>
            </a:r>
            <a:endParaRPr lang="en-IN" sz="920">
              <a:solidFill>
                <a:srgbClr val="1F2937"/>
              </a:solidFill>
              <a:latin typeface="Arial" panose="020B0604020202020204" pitchFamily="34" charset="0"/>
            </a:endParaRPr>
          </a:p>
        </p:txBody>
      </p:sp>
      <p:sp>
        <p:nvSpPr>
          <p:cNvPr id="34" name="Rectangle: Rounded Corners 33">
            <a:extLst>
              <a:ext uri="{FF2B5EF4-FFF2-40B4-BE49-F238E27FC236}">
                <a16:creationId xmlns:a16="http://schemas.microsoft.com/office/drawing/2014/main" id="{F099BAD2-B789-E724-4875-93EB6946F2C4}"/>
              </a:ext>
            </a:extLst>
          </p:cNvPr>
          <p:cNvSpPr/>
          <p:nvPr/>
        </p:nvSpPr>
        <p:spPr>
          <a:xfrm>
            <a:off x="9029700" y="4191000"/>
            <a:ext cx="2819400" cy="12446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382DF929-5C7B-99EB-A668-C4A325075A1A}"/>
              </a:ext>
            </a:extLst>
          </p:cNvPr>
          <p:cNvSpPr txBox="1"/>
          <p:nvPr/>
        </p:nvSpPr>
        <p:spPr>
          <a:xfrm>
            <a:off x="9105900" y="4229100"/>
            <a:ext cx="26670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1000" b="1">
                <a:solidFill>
                  <a:srgbClr val="0F766E"/>
                </a:solidFill>
                <a:latin typeface="Arial" panose="020B0604020202020204" pitchFamily="34" charset="0"/>
              </a:rPr>
              <a:t>Villagers</a:t>
            </a:r>
          </a:p>
        </p:txBody>
      </p:sp>
      <p:sp>
        <p:nvSpPr>
          <p:cNvPr id="36" name="TextBox 35">
            <a:extLst>
              <a:ext uri="{FF2B5EF4-FFF2-40B4-BE49-F238E27FC236}">
                <a16:creationId xmlns:a16="http://schemas.microsoft.com/office/drawing/2014/main" id="{F62E42E5-C781-39F3-0B40-7C7F4339B7E0}"/>
              </a:ext>
            </a:extLst>
          </p:cNvPr>
          <p:cNvSpPr txBox="1"/>
          <p:nvPr/>
        </p:nvSpPr>
        <p:spPr>
          <a:xfrm>
            <a:off x="9105900" y="4445000"/>
            <a:ext cx="266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920" b="1">
                <a:solidFill>
                  <a:srgbClr val="B91C1C"/>
                </a:solidFill>
                <a:latin typeface="Arial" panose="020B0604020202020204" pitchFamily="34" charset="0"/>
              </a:rPr>
              <a:t>Before: </a:t>
            </a:r>
            <a:r>
              <a:rPr lang="en-US" sz="920">
                <a:solidFill>
                  <a:srgbClr val="1F2937"/>
                </a:solidFill>
                <a:latin typeface="Arial" panose="020B0604020202020204" pitchFamily="34" charset="0"/>
              </a:rPr>
              <a:t>Complaint disappears; the tap may be dry for days</a:t>
            </a:r>
          </a:p>
          <a:p>
            <a:pPr>
              <a:spcBef>
                <a:spcPts val="0"/>
              </a:spcBef>
              <a:spcAft>
                <a:spcPts val="300"/>
              </a:spcAft>
            </a:pPr>
            <a:r>
              <a:rPr lang="en-US" sz="920" b="1">
                <a:solidFill>
                  <a:srgbClr val="15803D"/>
                </a:solidFill>
                <a:latin typeface="Arial" panose="020B0604020202020204" pitchFamily="34" charset="0"/>
              </a:rPr>
              <a:t>After: </a:t>
            </a:r>
            <a:r>
              <a:rPr lang="en-US" sz="920">
                <a:solidFill>
                  <a:srgbClr val="1F2937"/>
                </a:solidFill>
                <a:latin typeface="Arial" panose="020B0604020202020204" pitchFamily="34" charset="0"/>
              </a:rPr>
              <a:t>Report in own language; told when water is truly restored; quality advisories</a:t>
            </a:r>
            <a:endParaRPr lang="en-IN" sz="920">
              <a:solidFill>
                <a:srgbClr val="1F2937"/>
              </a:solidFill>
              <a:latin typeface="Arial" panose="020B0604020202020204" pitchFamily="34" charset="0"/>
            </a:endParaRPr>
          </a:p>
        </p:txBody>
      </p:sp>
      <p:sp>
        <p:nvSpPr>
          <p:cNvPr id="37" name="Rectangle: Rounded Corners 36">
            <a:extLst>
              <a:ext uri="{FF2B5EF4-FFF2-40B4-BE49-F238E27FC236}">
                <a16:creationId xmlns:a16="http://schemas.microsoft.com/office/drawing/2014/main" id="{57474B3F-F5C8-D67C-38AD-D43BB7DF12E8}"/>
              </a:ext>
            </a:extLst>
          </p:cNvPr>
          <p:cNvSpPr/>
          <p:nvPr/>
        </p:nvSpPr>
        <p:spPr>
          <a:xfrm>
            <a:off x="304800" y="5511800"/>
            <a:ext cx="115824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8" name="TextBox 37">
            <a:extLst>
              <a:ext uri="{FF2B5EF4-FFF2-40B4-BE49-F238E27FC236}">
                <a16:creationId xmlns:a16="http://schemas.microsoft.com/office/drawing/2014/main" id="{FF5F0205-CE67-8F6C-22A9-09D15E8B8436}"/>
              </a:ext>
            </a:extLst>
          </p:cNvPr>
          <p:cNvSpPr txBox="1"/>
          <p:nvPr/>
        </p:nvSpPr>
        <p:spPr>
          <a:xfrm>
            <a:off x="381000" y="5562600"/>
            <a:ext cx="114300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50" b="1">
                <a:solidFill>
                  <a:srgbClr val="0F766E"/>
                </a:solidFill>
                <a:latin typeface="Arial" panose="020B0604020202020204" pitchFamily="34" charset="0"/>
              </a:rPr>
              <a:t>Roadmap</a:t>
            </a:r>
          </a:p>
        </p:txBody>
      </p:sp>
      <p:sp>
        <p:nvSpPr>
          <p:cNvPr id="39" name="Rectangle: Rounded Corners 38">
            <a:extLst>
              <a:ext uri="{FF2B5EF4-FFF2-40B4-BE49-F238E27FC236}">
                <a16:creationId xmlns:a16="http://schemas.microsoft.com/office/drawing/2014/main" id="{DA40167F-D397-3B38-6637-43C57A1D53BE}"/>
              </a:ext>
            </a:extLst>
          </p:cNvPr>
          <p:cNvSpPr/>
          <p:nvPr/>
        </p:nvSpPr>
        <p:spPr>
          <a:xfrm>
            <a:off x="381000" y="5816600"/>
            <a:ext cx="1219200" cy="4318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00" b="1">
                <a:solidFill>
                  <a:srgbClr val="FFFFFF"/>
                </a:solidFill>
                <a:latin typeface="Arial" panose="020B0604020202020204" pitchFamily="34" charset="0"/>
              </a:rPr>
              <a:t>Idea submission</a:t>
            </a:r>
          </a:p>
        </p:txBody>
      </p:sp>
      <p:cxnSp>
        <p:nvCxnSpPr>
          <p:cNvPr id="40" name="Straight Connector 39">
            <a:extLst>
              <a:ext uri="{FF2B5EF4-FFF2-40B4-BE49-F238E27FC236}">
                <a16:creationId xmlns:a16="http://schemas.microsoft.com/office/drawing/2014/main" id="{EA31349F-08AE-0DB1-9AFA-8D564EA35C2A}"/>
              </a:ext>
            </a:extLst>
          </p:cNvPr>
          <p:cNvCxnSpPr/>
          <p:nvPr/>
        </p:nvCxnSpPr>
        <p:spPr>
          <a:xfrm>
            <a:off x="1600200" y="6032500"/>
            <a:ext cx="1016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41" name="Rectangle: Rounded Corners 40">
            <a:extLst>
              <a:ext uri="{FF2B5EF4-FFF2-40B4-BE49-F238E27FC236}">
                <a16:creationId xmlns:a16="http://schemas.microsoft.com/office/drawing/2014/main" id="{70B123BC-F41F-4BBB-16DA-8BBF42B8D938}"/>
              </a:ext>
            </a:extLst>
          </p:cNvPr>
          <p:cNvSpPr/>
          <p:nvPr/>
        </p:nvSpPr>
        <p:spPr>
          <a:xfrm>
            <a:off x="1701800" y="5816600"/>
            <a:ext cx="1219200" cy="4318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00" b="1">
                <a:solidFill>
                  <a:srgbClr val="FFFFFF"/>
                </a:solidFill>
                <a:latin typeface="Arial" panose="020B0604020202020204" pitchFamily="34" charset="0"/>
              </a:rPr>
              <a:t>Working software platform</a:t>
            </a:r>
          </a:p>
        </p:txBody>
      </p:sp>
      <p:cxnSp>
        <p:nvCxnSpPr>
          <p:cNvPr id="42" name="Straight Connector 41">
            <a:extLst>
              <a:ext uri="{FF2B5EF4-FFF2-40B4-BE49-F238E27FC236}">
                <a16:creationId xmlns:a16="http://schemas.microsoft.com/office/drawing/2014/main" id="{42CE3289-7D5E-AF2A-13F4-E3EE90F3BED2}"/>
              </a:ext>
            </a:extLst>
          </p:cNvPr>
          <p:cNvCxnSpPr/>
          <p:nvPr/>
        </p:nvCxnSpPr>
        <p:spPr>
          <a:xfrm>
            <a:off x="2921000" y="6032500"/>
            <a:ext cx="1016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43" name="Rectangle: Rounded Corners 42">
            <a:extLst>
              <a:ext uri="{FF2B5EF4-FFF2-40B4-BE49-F238E27FC236}">
                <a16:creationId xmlns:a16="http://schemas.microsoft.com/office/drawing/2014/main" id="{DB8B98E3-F6A1-CB64-788B-EA865DEA42C4}"/>
              </a:ext>
            </a:extLst>
          </p:cNvPr>
          <p:cNvSpPr/>
          <p:nvPr/>
        </p:nvSpPr>
        <p:spPr>
          <a:xfrm>
            <a:off x="3022600" y="5816600"/>
            <a:ext cx="1219200" cy="4318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US" sz="800" b="1">
                <a:solidFill>
                  <a:srgbClr val="FFFFFF"/>
                </a:solidFill>
                <a:latin typeface="Arial" panose="020B0604020202020204" pitchFamily="34" charset="0"/>
              </a:rPr>
              <a:t>Bench rig with real nodes</a:t>
            </a:r>
            <a:endParaRPr lang="en-IN" sz="800" b="1">
              <a:solidFill>
                <a:srgbClr val="FFFFFF"/>
              </a:solidFill>
              <a:latin typeface="Arial" panose="020B0604020202020204" pitchFamily="34" charset="0"/>
            </a:endParaRPr>
          </a:p>
        </p:txBody>
      </p:sp>
      <p:cxnSp>
        <p:nvCxnSpPr>
          <p:cNvPr id="44" name="Straight Connector 43">
            <a:extLst>
              <a:ext uri="{FF2B5EF4-FFF2-40B4-BE49-F238E27FC236}">
                <a16:creationId xmlns:a16="http://schemas.microsoft.com/office/drawing/2014/main" id="{F752EF4E-E961-A52A-4A28-9842B7541274}"/>
              </a:ext>
            </a:extLst>
          </p:cNvPr>
          <p:cNvCxnSpPr/>
          <p:nvPr/>
        </p:nvCxnSpPr>
        <p:spPr>
          <a:xfrm>
            <a:off x="4241800" y="6032500"/>
            <a:ext cx="1016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7F75C440-00AC-D412-A4CF-1969F8C21479}"/>
              </a:ext>
            </a:extLst>
          </p:cNvPr>
          <p:cNvSpPr/>
          <p:nvPr/>
        </p:nvSpPr>
        <p:spPr>
          <a:xfrm>
            <a:off x="4343400" y="5816600"/>
            <a:ext cx="1219200" cy="4318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00" b="1">
                <a:solidFill>
                  <a:srgbClr val="FFFFFF"/>
                </a:solidFill>
                <a:latin typeface="Arial" panose="020B0604020202020204" pitchFamily="34" charset="0"/>
              </a:rPr>
              <a:t>Finale demo</a:t>
            </a:r>
          </a:p>
        </p:txBody>
      </p:sp>
      <p:cxnSp>
        <p:nvCxnSpPr>
          <p:cNvPr id="46" name="Straight Connector 45">
            <a:extLst>
              <a:ext uri="{FF2B5EF4-FFF2-40B4-BE49-F238E27FC236}">
                <a16:creationId xmlns:a16="http://schemas.microsoft.com/office/drawing/2014/main" id="{14734E2A-9F66-4973-9337-F25D8A5D2576}"/>
              </a:ext>
            </a:extLst>
          </p:cNvPr>
          <p:cNvCxnSpPr/>
          <p:nvPr/>
        </p:nvCxnSpPr>
        <p:spPr>
          <a:xfrm>
            <a:off x="5562600" y="6032500"/>
            <a:ext cx="1016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47" name="Rectangle: Rounded Corners 46">
            <a:extLst>
              <a:ext uri="{FF2B5EF4-FFF2-40B4-BE49-F238E27FC236}">
                <a16:creationId xmlns:a16="http://schemas.microsoft.com/office/drawing/2014/main" id="{26B5410F-4CE4-2D3D-6F36-3F27298211FD}"/>
              </a:ext>
            </a:extLst>
          </p:cNvPr>
          <p:cNvSpPr/>
          <p:nvPr/>
        </p:nvSpPr>
        <p:spPr>
          <a:xfrm>
            <a:off x="5664200" y="5816600"/>
            <a:ext cx="1219200" cy="431800"/>
          </a:xfrm>
          <a:prstGeom prst="roundRect">
            <a:avLst>
              <a:gd name="adj" fmla="val 8000"/>
            </a:avLst>
          </a:prstGeom>
          <a:solidFill>
            <a:srgbClr val="47556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00" b="1">
                <a:solidFill>
                  <a:srgbClr val="FFFFFF"/>
                </a:solidFill>
                <a:latin typeface="Arial" panose="020B0604020202020204" pitchFamily="34" charset="0"/>
              </a:rPr>
              <a:t>Field pilot</a:t>
            </a:r>
          </a:p>
        </p:txBody>
      </p:sp>
      <p:sp>
        <p:nvSpPr>
          <p:cNvPr id="48" name="TextBox 47">
            <a:extLst>
              <a:ext uri="{FF2B5EF4-FFF2-40B4-BE49-F238E27FC236}">
                <a16:creationId xmlns:a16="http://schemas.microsoft.com/office/drawing/2014/main" id="{24F98775-2549-C93C-63E3-B946F364FED8}"/>
              </a:ext>
            </a:extLst>
          </p:cNvPr>
          <p:cNvSpPr txBox="1"/>
          <p:nvPr/>
        </p:nvSpPr>
        <p:spPr>
          <a:xfrm>
            <a:off x="7061200" y="5791200"/>
            <a:ext cx="4775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30" b="1">
                <a:solidFill>
                  <a:srgbClr val="0F766E"/>
                </a:solidFill>
                <a:latin typeface="Arial" panose="020B0604020202020204" pitchFamily="34" charset="0"/>
              </a:rPr>
              <a:t>Pilot will measure: </a:t>
            </a:r>
            <a:r>
              <a:rPr lang="en-US" sz="830">
                <a:solidFill>
                  <a:srgbClr val="1F2937"/>
                </a:solidFill>
                <a:latin typeface="Arial" panose="020B0604020202020204" pitchFamily="34" charset="0"/>
              </a:rPr>
              <a:t>time to detect, time to repair, share of taps working, complaints closed with verified restoration.</a:t>
            </a:r>
            <a:endParaRPr lang="en-IN" sz="830">
              <a:solidFill>
                <a:srgbClr val="1F2937"/>
              </a:solidFill>
              <a:latin typeface="Arial" panose="020B0604020202020204" pitchFamily="34" charset="0"/>
            </a:endParaRP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6C8D2AA3-0D11-0647-DE91-0EDF104DF343}"/>
              </a:ext>
            </a:extLst>
          </p:cNvPr>
          <p:cNvSpPr txBox="1"/>
          <p:nvPr/>
        </p:nvSpPr>
        <p:spPr>
          <a:xfrm>
            <a:off x="304800" y="1117600"/>
            <a:ext cx="520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00" b="1">
                <a:solidFill>
                  <a:srgbClr val="0F766E"/>
                </a:solidFill>
                <a:latin typeface="Arial" panose="020B0604020202020204" pitchFamily="34" charset="0"/>
              </a:rPr>
              <a:t>Details / links of the reference and research work</a:t>
            </a:r>
            <a:endParaRPr lang="en-IN" sz="1100" b="1">
              <a:solidFill>
                <a:srgbClr val="0F766E"/>
              </a:solidFill>
              <a:latin typeface="Arial" panose="020B0604020202020204" pitchFamily="34" charset="0"/>
            </a:endParaRPr>
          </a:p>
        </p:txBody>
      </p:sp>
      <p:sp>
        <p:nvSpPr>
          <p:cNvPr id="3" name="TextBox 2">
            <a:extLst>
              <a:ext uri="{FF2B5EF4-FFF2-40B4-BE49-F238E27FC236}">
                <a16:creationId xmlns:a16="http://schemas.microsoft.com/office/drawing/2014/main" id="{3DB5FFCB-21DB-C484-61F5-36C56E3863F5}"/>
              </a:ext>
            </a:extLst>
          </p:cNvPr>
          <p:cNvSpPr txBox="1"/>
          <p:nvPr/>
        </p:nvSpPr>
        <p:spPr>
          <a:xfrm>
            <a:off x="304800" y="1371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 </a:t>
            </a:r>
            <a:r>
              <a:rPr lang="en-IN" sz="860">
                <a:solidFill>
                  <a:srgbClr val="1F2937"/>
                </a:solidFill>
                <a:latin typeface="Arial" panose="020B0604020202020204" pitchFamily="34" charset="0"/>
              </a:rPr>
              <a:t>DDWS, Functionality Assessment of Household Tap Connection, National Report 2024</a:t>
            </a:r>
          </a:p>
          <a:p>
            <a:pPr>
              <a:spcBef>
                <a:spcPts val="0"/>
              </a:spcBef>
              <a:spcAft>
                <a:spcPts val="300"/>
              </a:spcAft>
            </a:pPr>
            <a:r>
              <a:rPr lang="en-IN" sz="700">
                <a:solidFill>
                  <a:srgbClr val="0070C0"/>
                </a:solidFill>
                <a:latin typeface="Arial" panose="020B0604020202020204" pitchFamily="34" charset="0"/>
                <a:hlinkClick r:id="rId4"/>
              </a:rPr>
              <a:t>jaljeevanmission.gov.in/sites/default/files/2025-12/FHTC_Na...</a:t>
            </a:r>
            <a:endParaRPr lang="en-IN" sz="700">
              <a:solidFill>
                <a:srgbClr val="0070C0"/>
              </a:solidFill>
              <a:latin typeface="Arial" panose="020B0604020202020204" pitchFamily="34" charset="0"/>
            </a:endParaRPr>
          </a:p>
        </p:txBody>
      </p:sp>
      <p:sp>
        <p:nvSpPr>
          <p:cNvPr id="4" name="TextBox 3">
            <a:extLst>
              <a:ext uri="{FF2B5EF4-FFF2-40B4-BE49-F238E27FC236}">
                <a16:creationId xmlns:a16="http://schemas.microsoft.com/office/drawing/2014/main" id="{96C573D1-FF02-5ACE-CD16-7B4A1FA57A4C}"/>
              </a:ext>
            </a:extLst>
          </p:cNvPr>
          <p:cNvSpPr txBox="1"/>
          <p:nvPr/>
        </p:nvSpPr>
        <p:spPr>
          <a:xfrm>
            <a:off x="304800" y="1816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[2] </a:t>
            </a:r>
            <a:r>
              <a:rPr lang="en-IN" sz="860">
                <a:solidFill>
                  <a:srgbClr val="1F2937"/>
                </a:solidFill>
                <a:latin typeface="Arial" panose="020B0604020202020204" pitchFamily="34" charset="0"/>
              </a:rPr>
              <a:t>PIB, 13 Aug 2026: 75% of rural habitations covered with Sujal Gaon IDs</a:t>
            </a:r>
          </a:p>
          <a:p>
            <a:pPr>
              <a:spcBef>
                <a:spcPts val="0"/>
              </a:spcBef>
              <a:spcAft>
                <a:spcPts val="300"/>
              </a:spcAft>
            </a:pPr>
            <a:r>
              <a:rPr lang="en-IN" sz="700">
                <a:solidFill>
                  <a:srgbClr val="0070C0"/>
                </a:solidFill>
                <a:latin typeface="Arial" panose="020B0604020202020204" pitchFamily="34" charset="0"/>
                <a:hlinkClick r:id="rId5"/>
              </a:rPr>
              <a:t>pib.gov.in/PressReleasePage.aspx?PRID=2298959</a:t>
            </a:r>
            <a:endParaRPr lang="en-IN" sz="700">
              <a:solidFill>
                <a:srgbClr val="0070C0"/>
              </a:solidFill>
              <a:latin typeface="Arial" panose="020B0604020202020204" pitchFamily="34" charset="0"/>
            </a:endParaRPr>
          </a:p>
        </p:txBody>
      </p:sp>
      <p:sp>
        <p:nvSpPr>
          <p:cNvPr id="5" name="TextBox 4">
            <a:extLst>
              <a:ext uri="{FF2B5EF4-FFF2-40B4-BE49-F238E27FC236}">
                <a16:creationId xmlns:a16="http://schemas.microsoft.com/office/drawing/2014/main" id="{8322A3DE-5E46-CB89-DAC0-780DACC6409B}"/>
              </a:ext>
            </a:extLst>
          </p:cNvPr>
          <p:cNvSpPr txBox="1"/>
          <p:nvPr/>
        </p:nvSpPr>
        <p:spPr>
          <a:xfrm>
            <a:off x="304800" y="2260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[3] </a:t>
            </a:r>
            <a:r>
              <a:rPr lang="en-IN" sz="860">
                <a:solidFill>
                  <a:srgbClr val="1F2937"/>
                </a:solidFill>
                <a:latin typeface="Arial" panose="020B0604020202020204" pitchFamily="34" charset="0"/>
              </a:rPr>
              <a:t>PIB, 30 Dec 2025: Jal Seva Aankalan launched</a:t>
            </a:r>
          </a:p>
          <a:p>
            <a:pPr>
              <a:spcBef>
                <a:spcPts val="0"/>
              </a:spcBef>
              <a:spcAft>
                <a:spcPts val="300"/>
              </a:spcAft>
            </a:pPr>
            <a:r>
              <a:rPr lang="en-IN" sz="700">
                <a:solidFill>
                  <a:srgbClr val="0070C0"/>
                </a:solidFill>
                <a:latin typeface="Arial" panose="020B0604020202020204" pitchFamily="34" charset="0"/>
                <a:hlinkClick r:id="rId6"/>
              </a:rPr>
              <a:t>pib.gov.in/PressReleasePage.aspx?PRID=2209798</a:t>
            </a:r>
            <a:endParaRPr lang="en-IN" sz="700">
              <a:solidFill>
                <a:srgbClr val="0070C0"/>
              </a:solidFill>
              <a:latin typeface="Arial" panose="020B0604020202020204" pitchFamily="34" charset="0"/>
            </a:endParaRPr>
          </a:p>
        </p:txBody>
      </p:sp>
      <p:sp>
        <p:nvSpPr>
          <p:cNvPr id="8" name="TextBox 7">
            <a:extLst>
              <a:ext uri="{FF2B5EF4-FFF2-40B4-BE49-F238E27FC236}">
                <a16:creationId xmlns:a16="http://schemas.microsoft.com/office/drawing/2014/main" id="{7ADFBC3C-004B-6082-850C-ADE40D76520D}"/>
              </a:ext>
            </a:extLst>
          </p:cNvPr>
          <p:cNvSpPr txBox="1"/>
          <p:nvPr/>
        </p:nvSpPr>
        <p:spPr>
          <a:xfrm>
            <a:off x="304800" y="2705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[4] </a:t>
            </a:r>
            <a:r>
              <a:rPr lang="en-IN" sz="860">
                <a:solidFill>
                  <a:srgbClr val="1F2937"/>
                </a:solidFill>
                <a:latin typeface="Arial" panose="020B0604020202020204" pitchFamily="34" charset="0"/>
              </a:rPr>
              <a:t>Cabinet, Mar 2026: JJM extended to Dec 2028, service-delivery focus</a:t>
            </a:r>
          </a:p>
          <a:p>
            <a:pPr>
              <a:spcBef>
                <a:spcPts val="0"/>
              </a:spcBef>
              <a:spcAft>
                <a:spcPts val="300"/>
              </a:spcAft>
            </a:pPr>
            <a:r>
              <a:rPr lang="en-IN" sz="700">
                <a:solidFill>
                  <a:srgbClr val="0070C0"/>
                </a:solidFill>
                <a:latin typeface="Arial" panose="020B0604020202020204" pitchFamily="34" charset="0"/>
                <a:hlinkClick r:id="rId7"/>
              </a:rPr>
              <a:t>pmindia.gov.in/en/news_updates/</a:t>
            </a:r>
            <a:endParaRPr lang="en-IN" sz="700">
              <a:solidFill>
                <a:srgbClr val="0070C0"/>
              </a:solidFill>
              <a:latin typeface="Arial" panose="020B0604020202020204" pitchFamily="34" charset="0"/>
            </a:endParaRPr>
          </a:p>
        </p:txBody>
      </p:sp>
      <p:sp>
        <p:nvSpPr>
          <p:cNvPr id="11" name="TextBox 10">
            <a:extLst>
              <a:ext uri="{FF2B5EF4-FFF2-40B4-BE49-F238E27FC236}">
                <a16:creationId xmlns:a16="http://schemas.microsoft.com/office/drawing/2014/main" id="{1AED122A-5E80-82BD-173E-5B961D61F93B}"/>
              </a:ext>
            </a:extLst>
          </p:cNvPr>
          <p:cNvSpPr txBox="1"/>
          <p:nvPr/>
        </p:nvSpPr>
        <p:spPr>
          <a:xfrm>
            <a:off x="304800" y="3149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[5] </a:t>
            </a:r>
            <a:r>
              <a:rPr lang="en-IN" sz="860">
                <a:solidFill>
                  <a:srgbClr val="1F2937"/>
                </a:solidFill>
                <a:latin typeface="Arial" panose="020B0604020202020204" pitchFamily="34" charset="0"/>
              </a:rPr>
              <a:t>JJM Dashboard (coverage, GIS, IoT pilot view)</a:t>
            </a:r>
          </a:p>
          <a:p>
            <a:pPr>
              <a:spcBef>
                <a:spcPts val="0"/>
              </a:spcBef>
              <a:spcAft>
                <a:spcPts val="300"/>
              </a:spcAft>
            </a:pPr>
            <a:r>
              <a:rPr lang="en-IN" sz="700">
                <a:solidFill>
                  <a:srgbClr val="0070C0"/>
                </a:solidFill>
                <a:latin typeface="Arial" panose="020B0604020202020204" pitchFamily="34" charset="0"/>
                <a:hlinkClick r:id="rId8"/>
              </a:rPr>
              <a:t>ejalshakti.gov.in/JJMReport/JJMIndia.aspx</a:t>
            </a:r>
            <a:endParaRPr lang="en-IN" sz="700">
              <a:solidFill>
                <a:srgbClr val="0070C0"/>
              </a:solidFill>
              <a:latin typeface="Arial" panose="020B0604020202020204" pitchFamily="34" charset="0"/>
            </a:endParaRPr>
          </a:p>
        </p:txBody>
      </p:sp>
      <p:sp>
        <p:nvSpPr>
          <p:cNvPr id="13" name="TextBox 12">
            <a:extLst>
              <a:ext uri="{FF2B5EF4-FFF2-40B4-BE49-F238E27FC236}">
                <a16:creationId xmlns:a16="http://schemas.microsoft.com/office/drawing/2014/main" id="{41233135-41DB-20A3-F830-4328AE450317}"/>
              </a:ext>
            </a:extLst>
          </p:cNvPr>
          <p:cNvSpPr txBox="1"/>
          <p:nvPr/>
        </p:nvSpPr>
        <p:spPr>
          <a:xfrm>
            <a:off x="304800" y="3594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[6] </a:t>
            </a:r>
            <a:r>
              <a:rPr lang="en-IN" sz="860">
                <a:solidFill>
                  <a:srgbClr val="1F2937"/>
                </a:solidFill>
                <a:latin typeface="Arial" panose="020B0604020202020204" pitchFamily="34" charset="0"/>
              </a:rPr>
              <a:t>JJM-WQMIS (laboratory and FTK water-quality testing)</a:t>
            </a:r>
          </a:p>
          <a:p>
            <a:pPr>
              <a:spcBef>
                <a:spcPts val="0"/>
              </a:spcBef>
              <a:spcAft>
                <a:spcPts val="300"/>
              </a:spcAft>
            </a:pPr>
            <a:r>
              <a:rPr lang="en-IN" sz="700">
                <a:solidFill>
                  <a:srgbClr val="0070C0"/>
                </a:solidFill>
                <a:latin typeface="Arial" panose="020B0604020202020204" pitchFamily="34" charset="0"/>
                <a:hlinkClick r:id="rId9"/>
              </a:rPr>
              <a:t>ejalshakti.gov.in/WQMIS/</a:t>
            </a:r>
            <a:endParaRPr lang="en-IN" sz="700">
              <a:solidFill>
                <a:srgbClr val="0070C0"/>
              </a:solidFill>
              <a:latin typeface="Arial" panose="020B0604020202020204" pitchFamily="34" charset="0"/>
            </a:endParaRPr>
          </a:p>
        </p:txBody>
      </p:sp>
      <p:sp>
        <p:nvSpPr>
          <p:cNvPr id="14" name="TextBox 13">
            <a:extLst>
              <a:ext uri="{FF2B5EF4-FFF2-40B4-BE49-F238E27FC236}">
                <a16:creationId xmlns:a16="http://schemas.microsoft.com/office/drawing/2014/main" id="{B8DC177B-EBAC-92DF-BCE2-5C68A178BDA8}"/>
              </a:ext>
            </a:extLst>
          </p:cNvPr>
          <p:cNvSpPr txBox="1"/>
          <p:nvPr/>
        </p:nvSpPr>
        <p:spPr>
          <a:xfrm>
            <a:off x="304800" y="4038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[7] </a:t>
            </a:r>
            <a:r>
              <a:rPr lang="en-IN" sz="860">
                <a:solidFill>
                  <a:srgbClr val="1F2937"/>
                </a:solidFill>
                <a:latin typeface="Arial" panose="020B0604020202020204" pitchFamily="34" charset="0"/>
              </a:rPr>
              <a:t>PIB, 31 Mar 2021: JJM deploys sensor-based IoT devices (off-grid pilot)</a:t>
            </a:r>
          </a:p>
          <a:p>
            <a:pPr>
              <a:spcBef>
                <a:spcPts val="0"/>
              </a:spcBef>
              <a:spcAft>
                <a:spcPts val="300"/>
              </a:spcAft>
            </a:pPr>
            <a:r>
              <a:rPr lang="en-IN" sz="700">
                <a:solidFill>
                  <a:srgbClr val="0070C0"/>
                </a:solidFill>
                <a:latin typeface="Arial" panose="020B0604020202020204" pitchFamily="34" charset="0"/>
                <a:hlinkClick r:id="rId10"/>
              </a:rPr>
              <a:t>pib.gov.in/PressReleaseIframePage.aspx?PRID=1708701</a:t>
            </a:r>
            <a:endParaRPr lang="en-IN" sz="700">
              <a:solidFill>
                <a:srgbClr val="0070C0"/>
              </a:solidFill>
              <a:latin typeface="Arial" panose="020B0604020202020204" pitchFamily="34" charset="0"/>
            </a:endParaRPr>
          </a:p>
        </p:txBody>
      </p:sp>
      <p:sp>
        <p:nvSpPr>
          <p:cNvPr id="15" name="TextBox 14">
            <a:extLst>
              <a:ext uri="{FF2B5EF4-FFF2-40B4-BE49-F238E27FC236}">
                <a16:creationId xmlns:a16="http://schemas.microsoft.com/office/drawing/2014/main" id="{2A9DB2AC-2291-867E-F75A-064750545976}"/>
              </a:ext>
            </a:extLst>
          </p:cNvPr>
          <p:cNvSpPr txBox="1"/>
          <p:nvPr/>
        </p:nvSpPr>
        <p:spPr>
          <a:xfrm>
            <a:off x="304800" y="4483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[8] </a:t>
            </a:r>
            <a:r>
              <a:rPr lang="en-IN" sz="860">
                <a:solidFill>
                  <a:srgbClr val="1F2937"/>
                </a:solidFill>
                <a:latin typeface="Arial" panose="020B0604020202020204" pitchFamily="34" charset="0"/>
              </a:rPr>
              <a:t>Jal Jeevan Samvad, Oct 2023: IoT water-quality monitoring with complaint tracking</a:t>
            </a:r>
          </a:p>
          <a:p>
            <a:pPr>
              <a:spcBef>
                <a:spcPts val="0"/>
              </a:spcBef>
              <a:spcAft>
                <a:spcPts val="300"/>
              </a:spcAft>
            </a:pPr>
            <a:r>
              <a:rPr lang="en-IN" sz="700">
                <a:solidFill>
                  <a:srgbClr val="0070C0"/>
                </a:solidFill>
                <a:latin typeface="Arial" panose="020B0604020202020204" pitchFamily="34" charset="0"/>
                <a:hlinkClick r:id="rId11"/>
              </a:rPr>
              <a:t>jaljeevanmission.gov.in/sites/default/files/2025-05/JalJeev...</a:t>
            </a:r>
            <a:endParaRPr lang="en-IN" sz="700">
              <a:solidFill>
                <a:srgbClr val="0070C0"/>
              </a:solidFill>
              <a:latin typeface="Arial" panose="020B0604020202020204" pitchFamily="34" charset="0"/>
            </a:endParaRPr>
          </a:p>
        </p:txBody>
      </p:sp>
      <p:sp>
        <p:nvSpPr>
          <p:cNvPr id="16" name="TextBox 15">
            <a:extLst>
              <a:ext uri="{FF2B5EF4-FFF2-40B4-BE49-F238E27FC236}">
                <a16:creationId xmlns:a16="http://schemas.microsoft.com/office/drawing/2014/main" id="{67C8F473-0E1E-EDFD-3466-E8D853374DC1}"/>
              </a:ext>
            </a:extLst>
          </p:cNvPr>
          <p:cNvSpPr txBox="1"/>
          <p:nvPr/>
        </p:nvSpPr>
        <p:spPr>
          <a:xfrm>
            <a:off x="304800" y="4927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b="1">
                <a:solidFill>
                  <a:srgbClr val="0F766E"/>
                </a:solidFill>
                <a:latin typeface="Arial" panose="020B0604020202020204" pitchFamily="34" charset="0"/>
              </a:rPr>
              <a:t>[9] </a:t>
            </a:r>
            <a:r>
              <a:rPr lang="en-US" sz="860">
                <a:solidFill>
                  <a:srgbClr val="1F2937"/>
                </a:solidFill>
                <a:latin typeface="Arial" panose="020B0604020202020204" pitchFamily="34" charset="0"/>
              </a:rPr>
              <a:t>Systematic review: ML for anomaly detection in smart water metering networks (2024)</a:t>
            </a:r>
          </a:p>
          <a:p>
            <a:pPr>
              <a:spcBef>
                <a:spcPts val="0"/>
              </a:spcBef>
              <a:spcAft>
                <a:spcPts val="300"/>
              </a:spcAft>
            </a:pPr>
            <a:r>
              <a:rPr lang="en-US" sz="700">
                <a:solidFill>
                  <a:srgbClr val="0070C0"/>
                </a:solidFill>
                <a:latin typeface="Arial" panose="020B0604020202020204" pitchFamily="34" charset="0"/>
                <a:hlinkClick r:id="rId12"/>
              </a:rPr>
              <a:t>sciencedirect.com/science/article/pii/S1474706524000160</a:t>
            </a:r>
            <a:endParaRPr lang="en-IN" sz="700">
              <a:solidFill>
                <a:srgbClr val="0070C0"/>
              </a:solidFill>
              <a:latin typeface="Arial" panose="020B0604020202020204" pitchFamily="34" charset="0"/>
            </a:endParaRPr>
          </a:p>
        </p:txBody>
      </p:sp>
      <p:sp>
        <p:nvSpPr>
          <p:cNvPr id="17" name="TextBox 16">
            <a:extLst>
              <a:ext uri="{FF2B5EF4-FFF2-40B4-BE49-F238E27FC236}">
                <a16:creationId xmlns:a16="http://schemas.microsoft.com/office/drawing/2014/main" id="{7C14DD7F-438E-1324-DD60-7179ACC1496B}"/>
              </a:ext>
            </a:extLst>
          </p:cNvPr>
          <p:cNvSpPr txBox="1"/>
          <p:nvPr/>
        </p:nvSpPr>
        <p:spPr>
          <a:xfrm>
            <a:off x="304800" y="5372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[10] </a:t>
            </a:r>
            <a:r>
              <a:rPr lang="en-IN" sz="860">
                <a:solidFill>
                  <a:srgbClr val="1F2937"/>
                </a:solidFill>
                <a:latin typeface="Arial" panose="020B0604020202020204" pitchFamily="34" charset="0"/>
              </a:rPr>
              <a:t>SIH 2026 problem statement SIH26255, Ministry of Jal Shakti</a:t>
            </a:r>
          </a:p>
          <a:p>
            <a:pPr>
              <a:spcBef>
                <a:spcPts val="0"/>
              </a:spcBef>
              <a:spcAft>
                <a:spcPts val="300"/>
              </a:spcAft>
            </a:pPr>
            <a:r>
              <a:rPr lang="en-IN" sz="700">
                <a:solidFill>
                  <a:srgbClr val="0070C0"/>
                </a:solidFill>
                <a:latin typeface="Arial" panose="020B0604020202020204" pitchFamily="34" charset="0"/>
                <a:hlinkClick r:id="rId13"/>
              </a:rPr>
              <a:t>sih.gov.in/sih2026PS</a:t>
            </a:r>
            <a:endParaRPr lang="en-IN" sz="700">
              <a:solidFill>
                <a:srgbClr val="0070C0"/>
              </a:solidFill>
              <a:latin typeface="Arial" panose="020B0604020202020204" pitchFamily="34" charset="0"/>
            </a:endParaRPr>
          </a:p>
        </p:txBody>
      </p:sp>
      <p:sp>
        <p:nvSpPr>
          <p:cNvPr id="18" name="TextBox 17">
            <a:extLst>
              <a:ext uri="{FF2B5EF4-FFF2-40B4-BE49-F238E27FC236}">
                <a16:creationId xmlns:a16="http://schemas.microsoft.com/office/drawing/2014/main" id="{08D925E6-6521-6EFA-1F33-72D31D37955F}"/>
              </a:ext>
            </a:extLst>
          </p:cNvPr>
          <p:cNvSpPr txBox="1"/>
          <p:nvPr/>
        </p:nvSpPr>
        <p:spPr>
          <a:xfrm>
            <a:off x="5664200" y="1117600"/>
            <a:ext cx="62230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00" b="1">
                <a:solidFill>
                  <a:srgbClr val="0F766E"/>
                </a:solidFill>
                <a:latin typeface="Arial" panose="020B0604020202020204" pitchFamily="34" charset="0"/>
              </a:rPr>
              <a:t>Working platform screens</a:t>
            </a:r>
          </a:p>
        </p:txBody>
      </p:sp>
      <p:pic>
        <p:nvPicPr>
          <p:cNvPr id="20" name="Picture 19">
            <a:extLst>
              <a:ext uri="{FF2B5EF4-FFF2-40B4-BE49-F238E27FC236}">
                <a16:creationId xmlns:a16="http://schemas.microsoft.com/office/drawing/2014/main" id="{08F6BB02-8EFE-F115-AFA7-10C52A591695}"/>
              </a:ext>
            </a:extLst>
          </p:cNvPr>
          <p:cNvPicPr>
            <a:picLocks/>
          </p:cNvPicPr>
          <p:nvPr/>
        </p:nvPicPr>
        <p:blipFill>
          <a:blip r:embed="rId14"/>
          <a:stretch>
            <a:fillRect/>
          </a:stretch>
        </p:blipFill>
        <p:spPr>
          <a:xfrm>
            <a:off x="5664200" y="1371600"/>
            <a:ext cx="1270000" cy="2641600"/>
          </a:xfrm>
          <a:prstGeom prst="rect">
            <a:avLst/>
          </a:prstGeom>
        </p:spPr>
      </p:pic>
      <p:pic>
        <p:nvPicPr>
          <p:cNvPr id="22" name="Picture 21">
            <a:extLst>
              <a:ext uri="{FF2B5EF4-FFF2-40B4-BE49-F238E27FC236}">
                <a16:creationId xmlns:a16="http://schemas.microsoft.com/office/drawing/2014/main" id="{588778B1-B265-E7C6-BB58-FC9AAC6B5532}"/>
              </a:ext>
            </a:extLst>
          </p:cNvPr>
          <p:cNvPicPr>
            <a:picLocks/>
          </p:cNvPicPr>
          <p:nvPr/>
        </p:nvPicPr>
        <p:blipFill>
          <a:blip r:embed="rId15"/>
          <a:stretch>
            <a:fillRect/>
          </a:stretch>
        </p:blipFill>
        <p:spPr>
          <a:xfrm>
            <a:off x="7010400" y="1371600"/>
            <a:ext cx="1270000" cy="2641600"/>
          </a:xfrm>
          <a:prstGeom prst="rect">
            <a:avLst/>
          </a:prstGeom>
        </p:spPr>
      </p:pic>
      <p:pic>
        <p:nvPicPr>
          <p:cNvPr id="24" name="Picture 23">
            <a:extLst>
              <a:ext uri="{FF2B5EF4-FFF2-40B4-BE49-F238E27FC236}">
                <a16:creationId xmlns:a16="http://schemas.microsoft.com/office/drawing/2014/main" id="{2B8B08EA-87AF-3D69-821C-D9C1907B81AC}"/>
              </a:ext>
            </a:extLst>
          </p:cNvPr>
          <p:cNvPicPr>
            <a:picLocks/>
          </p:cNvPicPr>
          <p:nvPr/>
        </p:nvPicPr>
        <p:blipFill>
          <a:blip r:embed="rId16"/>
          <a:stretch>
            <a:fillRect/>
          </a:stretch>
        </p:blipFill>
        <p:spPr>
          <a:xfrm>
            <a:off x="8407400" y="1371600"/>
            <a:ext cx="3479800" cy="2159000"/>
          </a:xfrm>
          <a:prstGeom prst="rect">
            <a:avLst/>
          </a:prstGeom>
          <a:ln w="9525">
            <a:solidFill>
              <a:srgbClr val="CBD5E1"/>
            </a:solidFill>
          </a:ln>
        </p:spPr>
      </p:pic>
      <p:pic>
        <p:nvPicPr>
          <p:cNvPr id="26" name="Picture 25">
            <a:extLst>
              <a:ext uri="{FF2B5EF4-FFF2-40B4-BE49-F238E27FC236}">
                <a16:creationId xmlns:a16="http://schemas.microsoft.com/office/drawing/2014/main" id="{6BC6504E-86BE-D6D6-9EE2-3252330F5460}"/>
              </a:ext>
            </a:extLst>
          </p:cNvPr>
          <p:cNvPicPr>
            <a:picLocks/>
          </p:cNvPicPr>
          <p:nvPr/>
        </p:nvPicPr>
        <p:blipFill>
          <a:blip r:embed="rId17"/>
          <a:stretch>
            <a:fillRect/>
          </a:stretch>
        </p:blipFill>
        <p:spPr>
          <a:xfrm>
            <a:off x="8407400" y="3581400"/>
            <a:ext cx="3479800" cy="2159000"/>
          </a:xfrm>
          <a:prstGeom prst="rect">
            <a:avLst/>
          </a:prstGeom>
          <a:ln w="9525">
            <a:solidFill>
              <a:srgbClr val="CBD5E1"/>
            </a:solidFill>
          </a:ln>
        </p:spPr>
      </p:pic>
      <p:sp>
        <p:nvSpPr>
          <p:cNvPr id="27" name="TextBox 26">
            <a:extLst>
              <a:ext uri="{FF2B5EF4-FFF2-40B4-BE49-F238E27FC236}">
                <a16:creationId xmlns:a16="http://schemas.microsoft.com/office/drawing/2014/main" id="{DCDCF97E-020C-9653-530E-ECB4A1FD9577}"/>
              </a:ext>
            </a:extLst>
          </p:cNvPr>
          <p:cNvSpPr txBox="1"/>
          <p:nvPr/>
        </p:nvSpPr>
        <p:spPr>
          <a:xfrm>
            <a:off x="5664200" y="40640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Villager app: tap status and water quality (left); report a problem with photo and opt-in location (right)</a:t>
            </a:r>
            <a:endParaRPr lang="en-IN" sz="800" i="1">
              <a:solidFill>
                <a:srgbClr val="475569"/>
              </a:solidFill>
              <a:latin typeface="Arial" panose="020B0604020202020204" pitchFamily="34" charset="0"/>
            </a:endParaRPr>
          </a:p>
        </p:txBody>
      </p:sp>
      <p:sp>
        <p:nvSpPr>
          <p:cNvPr id="28" name="TextBox 27">
            <a:extLst>
              <a:ext uri="{FF2B5EF4-FFF2-40B4-BE49-F238E27FC236}">
                <a16:creationId xmlns:a16="http://schemas.microsoft.com/office/drawing/2014/main" id="{4AC7FD05-E847-35AD-7D92-5FBB9668AE67}"/>
              </a:ext>
            </a:extLst>
          </p:cNvPr>
          <p:cNvSpPr txBox="1"/>
          <p:nvPr/>
        </p:nvSpPr>
        <p:spPr>
          <a:xfrm>
            <a:off x="5664200" y="46482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b="1">
                <a:solidFill>
                  <a:srgbClr val="0F766E"/>
                </a:solidFill>
                <a:latin typeface="Arial" panose="020B0604020202020204" pitchFamily="34" charset="0"/>
              </a:rPr>
              <a:t>Gram Panchayat: </a:t>
            </a:r>
            <a:r>
              <a:rPr lang="en-US" sz="800">
                <a:solidFill>
                  <a:srgbClr val="1F2937"/>
                </a:solidFill>
                <a:latin typeface="Arial" panose="020B0604020202020204" pitchFamily="34" charset="0"/>
              </a:rPr>
              <a:t>AI Early Warning with measured chlorine (top right) and Water Status with acoustic leak alerts (bottom right).</a:t>
            </a:r>
          </a:p>
          <a:p>
            <a:pPr>
              <a:spcBef>
                <a:spcPts val="0"/>
              </a:spcBef>
              <a:spcAft>
                <a:spcPts val="300"/>
              </a:spcAft>
            </a:pPr>
            <a:r>
              <a:rPr lang="en-US" sz="850" b="1">
                <a:solidFill>
                  <a:srgbClr val="1F2937"/>
                </a:solidFill>
                <a:latin typeface="Arial" panose="020B0604020202020204" pitchFamily="34" charset="0"/>
              </a:rPr>
              <a:t>Demo video: </a:t>
            </a:r>
            <a:r>
              <a:rPr lang="en-US" sz="850">
                <a:solidFill>
                  <a:srgbClr val="1F2937"/>
                </a:solidFill>
                <a:latin typeface="Arial" panose="020B0604020202020204" pitchFamily="34" charset="0"/>
              </a:rPr>
              <a:t>[add YouTube link]</a:t>
            </a:r>
          </a:p>
          <a:p>
            <a:pPr>
              <a:spcBef>
                <a:spcPts val="0"/>
              </a:spcBef>
              <a:spcAft>
                <a:spcPts val="300"/>
              </a:spcAft>
            </a:pPr>
            <a:r>
              <a:rPr lang="en-US" sz="820" b="1">
                <a:solidFill>
                  <a:srgbClr val="1F2937"/>
                </a:solidFill>
                <a:latin typeface="Arial" panose="020B0604020202020204" pitchFamily="34" charset="0"/>
              </a:rPr>
              <a:t>Source code: </a:t>
            </a:r>
            <a:r>
              <a:rPr lang="en-US" sz="820">
                <a:solidFill>
                  <a:srgbClr val="1F2937"/>
                </a:solidFill>
                <a:latin typeface="Arial" panose="020B0604020202020204" pitchFamily="34" charset="0"/>
              </a:rPr>
              <a:t>private repository, access on request (includes node firmware, gateway and an ESP32 simulation project)</a:t>
            </a:r>
            <a:endParaRPr lang="en-IN" sz="820">
              <a:solidFill>
                <a:srgbClr val="1F2937"/>
              </a:solidFill>
              <a:latin typeface="Arial" panose="020B0604020202020204" pitchFamily="34" charset="0"/>
            </a:endParaRPr>
          </a:p>
        </p:txBody>
      </p:sp>
      <p:sp>
        <p:nvSpPr>
          <p:cNvPr id="29" name="TextBox 28">
            <a:extLst>
              <a:ext uri="{FF2B5EF4-FFF2-40B4-BE49-F238E27FC236}">
                <a16:creationId xmlns:a16="http://schemas.microsoft.com/office/drawing/2014/main" id="{162275DF-F407-C3CA-268D-5CCCC87AF3C1}"/>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pH, TDS and turbidity readings are screening indicators that trigger confirmatory laboratory or field-kit testing; they are not a safety certification.</a:t>
            </a:r>
            <a:endParaRPr lang="en-IN" sz="800" i="1">
              <a:solidFill>
                <a:srgbClr val="475569"/>
              </a:solidFill>
              <a:latin typeface="Arial" panose="020B0604020202020204" pitchFamily="34" charset="0"/>
            </a:endParaRP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1639</Words>
  <Application>Microsoft Office PowerPoint</Application>
  <PresentationFormat>Widescreen</PresentationFormat>
  <Paragraphs>205</Paragraphs>
  <Slides>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ＭＳ Ｐゴシック</vt:lpstr>
      <vt:lpstr>Arial</vt:lpstr>
      <vt:lpstr>Calibri</vt:lpstr>
      <vt:lpstr>Garamond</vt:lpstr>
      <vt:lpstr>Times New Roman</vt:lpstr>
      <vt:lpstr>TradeGothic</vt:lpstr>
      <vt:lpstr>Office Theme</vt:lpstr>
      <vt:lpstr>SMART INDIA HACKATHON 2026</vt:lpstr>
      <vt:lpstr>THE PROBLEM &amp; OUR SOLUTION</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Holkundi Ganesh</cp:lastModifiedBy>
  <cp:revision>149</cp:revision>
  <dcterms:created xsi:type="dcterms:W3CDTF">2013-12-12T18:46:50Z</dcterms:created>
  <dcterms:modified xsi:type="dcterms:W3CDTF">2026-10-19T12:57:28Z</dcterms:modified>
  <cp:category/>
</cp:coreProperties>
</file>