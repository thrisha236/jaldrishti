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hyperlink" Target="https://youtu.be/LYlQtrBbp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jaljeevanmission.gov.in/sites/default/files/2025-12/FHTC_National%20Report%202024.pdf" TargetMode="External"/><Relationship Id="rId5" Type="http://schemas.openxmlformats.org/officeDocument/2006/relationships/hyperlink" Target="https://www.pib.gov.in/PressReleasePage.aspx?PRID=2298959" TargetMode="External"/><Relationship Id="rId6" Type="http://schemas.openxmlformats.org/officeDocument/2006/relationships/hyperlink" Target="https://www.pib.gov.in/PressReleasePage.aspx?PRID=2209798" TargetMode="External"/><Relationship Id="rId7" Type="http://schemas.openxmlformats.org/officeDocument/2006/relationships/hyperlink" Target="https://www.pmindia.gov.in/en/news_updates/cabinet-approves-extension-of-jal-jeevan-mission-jjm-period-up-to-december-2028-with-enhanced-outlay-and-restructured-implementation-focusing-on-structural-reforms-in-rural-drinking-water-supply-sec/" TargetMode="External"/><Relationship Id="rId8" Type="http://schemas.openxmlformats.org/officeDocument/2006/relationships/hyperlink" Target="https://www.ejalshakti.gov.in/JJMReport/JJMIndia.aspx" TargetMode="External"/><Relationship Id="rId9" Type="http://schemas.openxmlformats.org/officeDocument/2006/relationships/hyperlink" Target="https://www.ejalshakti.gov.in/WQMIS/" TargetMode="External"/><Relationship Id="rId10" Type="http://schemas.openxmlformats.org/officeDocument/2006/relationships/hyperlink" Target="https://www.pib.gov.in/PressReleaseIframePage.aspx?PRID=1708701" TargetMode="External"/><Relationship Id="rId11" Type="http://schemas.openxmlformats.org/officeDocument/2006/relationships/hyperlink" Target="https://jaljeevanmission.gov.in/sites/default/files/2025-05/JalJeevanSamvad-October-2023-en.pdf" TargetMode="External"/><Relationship Id="rId12" Type="http://schemas.openxmlformats.org/officeDocument/2006/relationships/hyperlink" Target="https://www.sciencedirect.com/science/article/pii/S1474706524000160" TargetMode="External"/><Relationship Id="rId13" Type="http://schemas.openxmlformats.org/officeDocument/2006/relationships/hyperlink" Target="https://www.sih.gov.in/sih2026PS" TargetMode="External"/><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hyperlink" Target="https://youtu.be/LYlQtrBbpes" TargetMode="External"/><Relationship Id="rId19" Type="http://schemas.openxmlformats.org/officeDocument/2006/relationships/hyperlink" Target="https://github.com/Thrisha236/JalDrishti" TargetMode="External"/><Relationship Id="rId20" Type="http://schemas.openxmlformats.org/officeDocument/2006/relationships/image" Target="../media/image10.png"/><Relationship Id="rId21" Type="http://schemas.openxmlformats.org/officeDocument/2006/relationships/image" Target="../media/image11.png"/><Relationship Id="rId22" Type="http://schemas.openxmlformats.org/officeDocument/2006/relationships/image" Target="../media/image12.png"/><Relationship Id="rId23" Type="http://schemas.openxmlformats.org/officeDocument/2006/relationships/image" Target="../media/image13.png"/><Relationship Id="rId24" Type="http://schemas.openxmlformats.org/officeDocument/2006/relationships/image" Target="../media/image14.png"/><Relationship Id="rId25" Type="http://schemas.openxmlformats.org/officeDocument/2006/relationships/image" Target="../media/image15.png"/><Relationship Id="rId26" Type="http://schemas.openxmlformats.org/officeDocument/2006/relationships/image" Target="../media/image16.png"/><Relationship Id="rId27" Type="http://schemas.openxmlformats.org/officeDocument/2006/relationships/image" Target="../media/image17.png"/><Relationship Id="rId28" Type="http://schemas.openxmlformats.org/officeDocument/2006/relationships/image" Target="../media/image18.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png"/><Relationship Id="rId36"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158724</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never seen together</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sensor nodes on the pipeline + a daily villager tap check give household-level status, analysed with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Ready to sync</a:t>
            </a:r>
          </a:p>
          <a:p>
            <a:pPr>
              <a:spcBef>
                <a:spcPts val="0"/>
              </a:spcBef>
              <a:spcAft>
                <a:spcPts val="300"/>
              </a:spcAft>
            </a:pPr>
            <a:r>
              <a:rPr lang="en-US" sz="740">
                <a:solidFill>
                  <a:srgbClr val="475569"/>
                </a:solidFill>
                <a:latin typeface="Arial" panose="020B0604020202020204" pitchFamily="34" charset="0"/>
              </a:rPr>
              <a:t>records keyed to Sujal Gaon IDs; IMIS / JJM adapters built, official API access needed</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What is new</a:t>
            </a:r>
          </a:p>
          <a:p>
            <a:pPr>
              <a:spcBef>
                <a:spcPts val="0"/>
              </a:spcBef>
              <a:spcAft>
                <a:spcPts val="300"/>
              </a:spcAft>
            </a:pPr>
            <a:r>
              <a:rPr lang="en-US" sz="740">
                <a:solidFill>
                  <a:srgbClr val="475569"/>
                </a:solidFill>
                <a:latin typeface="Arial" panose="020B0604020202020204" pitchFamily="34" charset="0"/>
              </a:rPr>
              <a:t>HIGH alerts need sensor + villager evidence; a repair closes only when readings recover and villagers confirm</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Proposed hardware and how it connects (firmware tested in simulation; bench build next; circuit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at critical points; leak-noise indicator, confirmed by flow and pressure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a gap above its normal baseline flags a possible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Ready to sync with IMIS, JJM Dashboard, WQMIS (adapters built)</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Rate limits, audit log, GPS removed from photos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parts: ESP32, ADS1115,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Platform runs on demo data; firmware tested in simulation (278 tests)</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AI/ML runs on demo data now; to be validated on pilot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and failure windows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flows to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advisories reach homes when a test fails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Leaks near monitored points are flagged earlier</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79B728B5-2DBE-72E5-BE2F-640D0AE5BC3D}"/>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6132C09F-8CBE-8F69-23DC-803F28C6FF2C}"/>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2AD8758-D34E-7EC6-5720-7D67687C1A55}"/>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0F1B3C72-D697-8450-BAA1-7072E3CF5645}"/>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59C8DFA9-1227-1ADE-45DA-6641F543CDAF}"/>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108F6185-CEB5-DA80-4A81-56EEBD0CEEF5}"/>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forecast, chlorine outlook and each pipeline's failure window, with reasons</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11658F2F-E469-4CE1-6F98-D9A1ABF41A1D}"/>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5F4950F-D527-12D3-8179-0E8600A6A1C9}"/>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WHAT A PILOT WILL MEASURE</a:t>
            </a:r>
          </a:p>
        </p:txBody>
      </p:sp>
      <p:sp>
        <p:nvSpPr>
          <p:cNvPr id="52" name="Oval 51">
            <a:extLst>
              <a:ext uri="{FF2B5EF4-FFF2-40B4-BE49-F238E27FC236}">
                <a16:creationId xmlns:a16="http://schemas.microsoft.com/office/drawing/2014/main" id="{FBEB071F-1236-AE2D-FD98-677FC35BC905}"/>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fault to alert, vs complaint-led detection</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alert to verified restoration</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Share of days each household reports water</a:t>
            </a:r>
          </a:p>
        </p:txBody>
      </p:sp>
      <p:sp>
        <p:nvSpPr>
          <p:cNvPr id="58" name="Oval 57">
            <a:extLst>
              <a:ext uri="{FF2B5EF4-FFF2-40B4-BE49-F238E27FC236}">
                <a16:creationId xmlns:a16="http://schemas.microsoft.com/office/drawing/2014/main" id="{D96358D0-AA6B-06A8-2E2E-F3B187023C0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False-alarm rate under the two-evidence rule</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Low-chlorine events caught before a kit test</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Repairs planned from the ranked risk list</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7145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0574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4003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10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pmindia.gov.in/en/news_updates/cabinet-approves-extension-of-jal-jeevan-mission...</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27432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08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34290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37719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1148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44577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github.com/Thrisha236/JalDrishti</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come from field-test-kit entries: screening indicators that trigger confirmatory laboratory testing, not a safety certification.</a:t>
            </a:r>
            <a:endParaRPr lang="en-IN" sz="800" i="1">
              <a:solidFill>
                <a:srgbClr val="475569"/>
              </a:solidFill>
              <a:latin typeface="Arial" panose="020B0604020202020204" pitchFamily="34" charset="0"/>
            </a:endParaRPr>
          </a:p>
        </p:txBody>
      </p:sp>
      <p:sp>
        <p:nvSpPr>
          <p:cNvPr id="2" name="TextBox 1">
            <a:extLst>
              <a:ext uri="{FF2B5EF4-FFF2-40B4-BE49-F238E27FC236}">
                <a16:creationId xmlns:a16="http://schemas.microsoft.com/office/drawing/2014/main" id="{E98EACDB-45CB-6042-483B-470671A2C8F4}"/>
              </a:ext>
            </a:extLst>
          </p:cNvPr>
          <p:cNvSpPr txBox="1"/>
          <p:nvPr/>
        </p:nvSpPr>
        <p:spPr>
          <a:xfrm>
            <a:off x="304800" y="4828032"/>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Proposed sensor-node hardware (not yet assembled)</a:t>
            </a:r>
            <a:endParaRPr lang="en-IN" sz="1100" b="1">
              <a:solidFill>
                <a:srgbClr val="0F766E"/>
              </a:solidFill>
              <a:latin typeface="Arial" panose="020B0604020202020204" pitchFamily="34" charset="0"/>
            </a:endParaRPr>
          </a:p>
        </p:txBody>
      </p:sp>
      <p:sp>
        <p:nvSpPr>
          <p:cNvPr id="17411" name="TextBox 17410"/>
          <p:cNvSpPr txBox="1"/>
          <p:nvPr/>
        </p:nvSpPr>
        <p:spPr>
          <a:xfrm>
            <a:off x="310896" y="5431536"/>
            <a:ext cx="603504" cy="164592"/>
          </a:xfrm>
          <a:prstGeom prst="rect">
            <a:avLst/>
          </a:prstGeom>
          <a:noFill/>
        </p:spPr>
        <p:txBody>
          <a:bodyPr wrap="none" lIns="0" rIns="0" tIns="0" bIns="0">
            <a:spAutoFit/>
          </a:bodyPr>
          <a:lstStyle/>
          <a:p>
            <a:pPr algn="ctr"/>
            <a:r>
              <a:rPr sz="700" b="1">
                <a:latin typeface="Arial"/>
              </a:rPr>
              <a:t>ESP32</a:t>
            </a:r>
          </a:p>
        </p:txBody>
      </p:sp>
      <p:sp>
        <p:nvSpPr>
          <p:cNvPr id="17413" name="TextBox 17412"/>
          <p:cNvSpPr txBox="1"/>
          <p:nvPr/>
        </p:nvSpPr>
        <p:spPr>
          <a:xfrm>
            <a:off x="886968" y="5431536"/>
            <a:ext cx="603504" cy="164592"/>
          </a:xfrm>
          <a:prstGeom prst="rect">
            <a:avLst/>
          </a:prstGeom>
          <a:noFill/>
        </p:spPr>
        <p:txBody>
          <a:bodyPr wrap="none" lIns="0" rIns="0" tIns="0" bIns="0">
            <a:spAutoFit/>
          </a:bodyPr>
          <a:lstStyle/>
          <a:p>
            <a:pPr algn="ctr"/>
            <a:r>
              <a:rPr sz="700" b="1">
                <a:latin typeface="Arial"/>
              </a:rPr>
              <a:t>LoRa</a:t>
            </a:r>
          </a:p>
        </p:txBody>
      </p:sp>
      <p:sp>
        <p:nvSpPr>
          <p:cNvPr id="17415" name="TextBox 17414"/>
          <p:cNvSpPr txBox="1"/>
          <p:nvPr/>
        </p:nvSpPr>
        <p:spPr>
          <a:xfrm>
            <a:off x="1463039" y="5431536"/>
            <a:ext cx="603504" cy="164592"/>
          </a:xfrm>
          <a:prstGeom prst="rect">
            <a:avLst/>
          </a:prstGeom>
          <a:noFill/>
        </p:spPr>
        <p:txBody>
          <a:bodyPr wrap="none" lIns="0" rIns="0" tIns="0" bIns="0">
            <a:spAutoFit/>
          </a:bodyPr>
          <a:lstStyle/>
          <a:p>
            <a:pPr algn="ctr"/>
            <a:r>
              <a:rPr sz="700" b="1">
                <a:latin typeface="Arial"/>
              </a:rPr>
              <a:t>Pi gateway</a:t>
            </a:r>
          </a:p>
        </p:txBody>
      </p:sp>
      <p:sp>
        <p:nvSpPr>
          <p:cNvPr id="17417" name="TextBox 17416"/>
          <p:cNvSpPr txBox="1"/>
          <p:nvPr/>
        </p:nvSpPr>
        <p:spPr>
          <a:xfrm>
            <a:off x="2039112" y="5431536"/>
            <a:ext cx="603504" cy="164592"/>
          </a:xfrm>
          <a:prstGeom prst="rect">
            <a:avLst/>
          </a:prstGeom>
          <a:noFill/>
        </p:spPr>
        <p:txBody>
          <a:bodyPr wrap="none" lIns="0" rIns="0" tIns="0" bIns="0">
            <a:spAutoFit/>
          </a:bodyPr>
          <a:lstStyle/>
          <a:p>
            <a:pPr algn="ctr"/>
            <a:r>
              <a:rPr sz="700" b="1">
                <a:latin typeface="Arial"/>
              </a:rPr>
              <a:t>Acoustic</a:t>
            </a:r>
          </a:p>
        </p:txBody>
      </p:sp>
      <p:pic>
        <p:nvPicPr>
          <p:cNvPr id="17418" name="Picture 17417" descr="image.png"/>
          <p:cNvPicPr>
            <a:picLocks noChangeAspect="1"/>
          </p:cNvPicPr>
          <p:nvPr/>
        </p:nvPicPr>
        <p:blipFill>
          <a:blip r:embed="rId24"/>
          <a:stretch>
            <a:fillRect/>
          </a:stretch>
        </p:blipFill>
        <p:spPr>
          <a:xfrm>
            <a:off x="2688336" y="5120640"/>
            <a:ext cx="457200" cy="320040"/>
          </a:xfrm>
          <a:prstGeom prst="rect">
            <a:avLst/>
          </a:prstGeom>
        </p:spPr>
      </p:pic>
      <p:sp>
        <p:nvSpPr>
          <p:cNvPr id="17419" name="TextBox 17418"/>
          <p:cNvSpPr txBox="1"/>
          <p:nvPr/>
        </p:nvSpPr>
        <p:spPr>
          <a:xfrm>
            <a:off x="2615184" y="5431536"/>
            <a:ext cx="603504" cy="164592"/>
          </a:xfrm>
          <a:prstGeom prst="rect">
            <a:avLst/>
          </a:prstGeom>
          <a:noFill/>
        </p:spPr>
        <p:txBody>
          <a:bodyPr wrap="none" lIns="0" rIns="0" tIns="0" bIns="0">
            <a:spAutoFit/>
          </a:bodyPr>
          <a:lstStyle/>
          <a:p>
            <a:pPr algn="ctr"/>
            <a:r>
              <a:rPr sz="700" b="1">
                <a:latin typeface="Arial"/>
              </a:rPr>
              <a:t>Chlorine</a:t>
            </a:r>
          </a:p>
        </p:txBody>
      </p:sp>
      <p:sp>
        <p:nvSpPr>
          <p:cNvPr id="17421" name="TextBox 17420"/>
          <p:cNvSpPr txBox="1"/>
          <p:nvPr/>
        </p:nvSpPr>
        <p:spPr>
          <a:xfrm>
            <a:off x="3191256" y="5431536"/>
            <a:ext cx="603504" cy="164592"/>
          </a:xfrm>
          <a:prstGeom prst="rect">
            <a:avLst/>
          </a:prstGeom>
          <a:noFill/>
        </p:spPr>
        <p:txBody>
          <a:bodyPr wrap="none" lIns="0" rIns="0" tIns="0" bIns="0">
            <a:spAutoFit/>
          </a:bodyPr>
          <a:lstStyle/>
          <a:p>
            <a:pPr algn="ctr"/>
            <a:r>
              <a:rPr sz="700" b="1">
                <a:latin typeface="Arial"/>
              </a:rPr>
              <a:t>Pressure</a:t>
            </a:r>
          </a:p>
        </p:txBody>
      </p:sp>
      <p:sp>
        <p:nvSpPr>
          <p:cNvPr id="17423" name="TextBox 17422"/>
          <p:cNvSpPr txBox="1"/>
          <p:nvPr/>
        </p:nvSpPr>
        <p:spPr>
          <a:xfrm>
            <a:off x="3767328" y="5431536"/>
            <a:ext cx="603504" cy="164592"/>
          </a:xfrm>
          <a:prstGeom prst="rect">
            <a:avLst/>
          </a:prstGeom>
          <a:noFill/>
        </p:spPr>
        <p:txBody>
          <a:bodyPr wrap="none" lIns="0" rIns="0" tIns="0" bIns="0">
            <a:spAutoFit/>
          </a:bodyPr>
          <a:lstStyle/>
          <a:p>
            <a:pPr algn="ctr"/>
            <a:r>
              <a:rPr sz="700" b="1">
                <a:latin typeface="Arial"/>
              </a:rPr>
              <a:t>Flow</a:t>
            </a:r>
          </a:p>
        </p:txBody>
      </p:sp>
      <p:sp>
        <p:nvSpPr>
          <p:cNvPr id="17425" name="TextBox 17424"/>
          <p:cNvSpPr txBox="1"/>
          <p:nvPr/>
        </p:nvSpPr>
        <p:spPr>
          <a:xfrm>
            <a:off x="4343400" y="5431536"/>
            <a:ext cx="603504" cy="164592"/>
          </a:xfrm>
          <a:prstGeom prst="rect">
            <a:avLst/>
          </a:prstGeom>
          <a:noFill/>
        </p:spPr>
        <p:txBody>
          <a:bodyPr wrap="none" lIns="0" rIns="0" tIns="0" bIns="0">
            <a:spAutoFit/>
          </a:bodyPr>
          <a:lstStyle/>
          <a:p>
            <a:pPr algn="ctr"/>
            <a:r>
              <a:rPr sz="700" b="1">
                <a:latin typeface="Arial"/>
              </a:rPr>
              <a:t>Tank level</a:t>
            </a:r>
          </a:p>
        </p:txBody>
      </p:sp>
      <p:sp>
        <p:nvSpPr>
          <p:cNvPr id="17427" name="TextBox 17426"/>
          <p:cNvSpPr txBox="1"/>
          <p:nvPr/>
        </p:nvSpPr>
        <p:spPr>
          <a:xfrm>
            <a:off x="4919472" y="5431536"/>
            <a:ext cx="603504" cy="164592"/>
          </a:xfrm>
          <a:prstGeom prst="rect">
            <a:avLst/>
          </a:prstGeom>
          <a:noFill/>
        </p:spPr>
        <p:txBody>
          <a:bodyPr wrap="none" lIns="0" rIns="0" tIns="0" bIns="0">
            <a:spAutoFit/>
          </a:bodyPr>
          <a:lstStyle/>
          <a:p>
            <a:pPr algn="ctr"/>
            <a:r>
              <a:rPr sz="700" b="1">
                <a:latin typeface="Arial"/>
              </a:rPr>
              <a:t>Solar</a:t>
            </a:r>
          </a:p>
        </p:txBody>
      </p:sp>
      <p:sp>
        <p:nvSpPr>
          <p:cNvPr id="17428" name="TextBox 17427"/>
          <p:cNvSpPr txBox="1"/>
          <p:nvPr/>
        </p:nvSpPr>
        <p:spPr>
          <a:xfrm>
            <a:off x="301752" y="5596128"/>
            <a:ext cx="5257800" cy="274320"/>
          </a:xfrm>
          <a:prstGeom prst="rect">
            <a:avLst/>
          </a:prstGeom>
          <a:noFill/>
        </p:spPr>
        <p:txBody>
          <a:bodyPr wrap="square" lIns="0" rIns="0" tIns="0" bIns="0">
            <a:spAutoFit/>
          </a:bodyPr>
          <a:lstStyle/>
          <a:p>
            <a:r>
              <a:rPr sz="700" i="1">
                <a:latin typeface="Arial"/>
              </a:rPr>
              <a:t>ESP32-DevKitC + ADS1115, RFM95W LoRa, 4-20 mA pressure and chlorine probes, pulse water meter, piezo clamp, JSN-SR04T. Vendor photos of single parts, not a built prototype; bench build next.</a:t>
            </a:r>
          </a:p>
        </p:txBody>
      </p:sp>
      <p:pic>
        <p:nvPicPr>
          <p:cNvPr id="17429" name="Picture 17428" descr="image.png"/>
          <p:cNvPicPr>
            <a:picLocks noChangeAspect="1"/>
          </p:cNvPicPr>
          <p:nvPr/>
        </p:nvPicPr>
        <p:blipFill>
          <a:blip r:embed="rId29"/>
          <a:stretch>
            <a:fillRect/>
          </a:stretch>
        </p:blipFill>
        <p:spPr>
          <a:xfrm>
            <a:off x="932688" y="5084064"/>
            <a:ext cx="512064" cy="374904"/>
          </a:xfrm>
          <a:prstGeom prst="rect">
            <a:avLst/>
          </a:prstGeom>
        </p:spPr>
      </p:pic>
      <p:pic>
        <p:nvPicPr>
          <p:cNvPr id="17430" name="Picture 17429" descr="image.png"/>
          <p:cNvPicPr>
            <a:picLocks noChangeAspect="1"/>
          </p:cNvPicPr>
          <p:nvPr/>
        </p:nvPicPr>
        <p:blipFill>
          <a:blip r:embed="rId30"/>
          <a:stretch>
            <a:fillRect/>
          </a:stretch>
        </p:blipFill>
        <p:spPr>
          <a:xfrm>
            <a:off x="1508760" y="5084064"/>
            <a:ext cx="512064" cy="374904"/>
          </a:xfrm>
          <a:prstGeom prst="rect">
            <a:avLst/>
          </a:prstGeom>
        </p:spPr>
      </p:pic>
      <p:pic>
        <p:nvPicPr>
          <p:cNvPr id="17431" name="Picture 17430" descr="image.png"/>
          <p:cNvPicPr>
            <a:picLocks noChangeAspect="1"/>
          </p:cNvPicPr>
          <p:nvPr/>
        </p:nvPicPr>
        <p:blipFill>
          <a:blip r:embed="rId31"/>
          <a:stretch>
            <a:fillRect/>
          </a:stretch>
        </p:blipFill>
        <p:spPr>
          <a:xfrm>
            <a:off x="2084832" y="5084064"/>
            <a:ext cx="512064" cy="374904"/>
          </a:xfrm>
          <a:prstGeom prst="rect">
            <a:avLst/>
          </a:prstGeom>
        </p:spPr>
      </p:pic>
      <p:pic>
        <p:nvPicPr>
          <p:cNvPr id="17432" name="Picture 17431" descr="image.png"/>
          <p:cNvPicPr>
            <a:picLocks noChangeAspect="1"/>
          </p:cNvPicPr>
          <p:nvPr/>
        </p:nvPicPr>
        <p:blipFill>
          <a:blip r:embed="rId32"/>
          <a:stretch>
            <a:fillRect/>
          </a:stretch>
        </p:blipFill>
        <p:spPr>
          <a:xfrm>
            <a:off x="3236976" y="5084064"/>
            <a:ext cx="512064" cy="374904"/>
          </a:xfrm>
          <a:prstGeom prst="rect">
            <a:avLst/>
          </a:prstGeom>
        </p:spPr>
      </p:pic>
      <p:pic>
        <p:nvPicPr>
          <p:cNvPr id="17433" name="Picture 17432" descr="image.png"/>
          <p:cNvPicPr>
            <a:picLocks noChangeAspect="1"/>
          </p:cNvPicPr>
          <p:nvPr/>
        </p:nvPicPr>
        <p:blipFill>
          <a:blip r:embed="rId33"/>
          <a:stretch>
            <a:fillRect/>
          </a:stretch>
        </p:blipFill>
        <p:spPr>
          <a:xfrm>
            <a:off x="3813048" y="5084064"/>
            <a:ext cx="512064" cy="374904"/>
          </a:xfrm>
          <a:prstGeom prst="rect">
            <a:avLst/>
          </a:prstGeom>
        </p:spPr>
      </p:pic>
      <p:pic>
        <p:nvPicPr>
          <p:cNvPr id="17434" name="Picture 17433" descr="image.png"/>
          <p:cNvPicPr>
            <a:picLocks noChangeAspect="1"/>
          </p:cNvPicPr>
          <p:nvPr/>
        </p:nvPicPr>
        <p:blipFill>
          <a:blip r:embed="rId34"/>
          <a:stretch>
            <a:fillRect/>
          </a:stretch>
        </p:blipFill>
        <p:spPr>
          <a:xfrm>
            <a:off x="4389120" y="5084064"/>
            <a:ext cx="512064" cy="374904"/>
          </a:xfrm>
          <a:prstGeom prst="rect">
            <a:avLst/>
          </a:prstGeom>
        </p:spPr>
      </p:pic>
      <p:pic>
        <p:nvPicPr>
          <p:cNvPr id="17435" name="Picture 17434" descr="image.png"/>
          <p:cNvPicPr>
            <a:picLocks noChangeAspect="1"/>
          </p:cNvPicPr>
          <p:nvPr/>
        </p:nvPicPr>
        <p:blipFill>
          <a:blip r:embed="rId35"/>
          <a:stretch>
            <a:fillRect/>
          </a:stretch>
        </p:blipFill>
        <p:spPr>
          <a:xfrm>
            <a:off x="4965192" y="5084064"/>
            <a:ext cx="512064" cy="374904"/>
          </a:xfrm>
          <a:prstGeom prst="rect">
            <a:avLst/>
          </a:prstGeom>
        </p:spPr>
      </p:pic>
      <p:pic>
        <p:nvPicPr>
          <p:cNvPr id="17436" name="Picture 17435" descr="image.png"/>
          <p:cNvPicPr>
            <a:picLocks noChangeAspect="1"/>
          </p:cNvPicPr>
          <p:nvPr/>
        </p:nvPicPr>
        <p:blipFill>
          <a:blip r:embed="rId36"/>
          <a:stretch>
            <a:fillRect/>
          </a:stretch>
        </p:blipFill>
        <p:spPr>
          <a:xfrm>
            <a:off x="356616" y="5084064"/>
            <a:ext cx="512064" cy="374904"/>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1653</Words>
  <Application>Microsoft Office PowerPoint</Application>
  <PresentationFormat>Widescreen</PresentationFormat>
  <Paragraphs>216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2026-10-19T18:00:56Z</dcterms:modified>
  <cp:category/>
</cp:coreProperties>
</file>