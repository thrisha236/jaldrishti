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10/20/2026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10/20/2026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10/20/2026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10/20/2026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10/20/2026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10/20/2026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hyperlink" Target="https://youtu.be/LYlQtrBbpes" TargetMode="External"/><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hyperlink" Target="https://www.ejalshakti.gov.in/JJMReport/JJMIndia.aspx" TargetMode="External"/><Relationship Id="rId13" Type="http://schemas.openxmlformats.org/officeDocument/2006/relationships/hyperlink" Target="https://www.sih.gov.in/sih2026PS" TargetMode="External"/><Relationship Id="rId18" Type="http://schemas.openxmlformats.org/officeDocument/2006/relationships/hyperlink" Target="https://youtu.be/LYlQtrBbpes" TargetMode="External"/><Relationship Id="rId26" Type="http://schemas.openxmlformats.org/officeDocument/2006/relationships/image" Target="../media/image33.png"/><Relationship Id="rId3" Type="http://schemas.openxmlformats.org/officeDocument/2006/relationships/image" Target="../media/image2.png"/><Relationship Id="rId21" Type="http://schemas.openxmlformats.org/officeDocument/2006/relationships/image" Target="../media/image28.png"/><Relationship Id="rId7" Type="http://schemas.openxmlformats.org/officeDocument/2006/relationships/hyperlink" Target="https://www.pmindia.gov.in/en/news_updates/cabinet-approves-extension-of-jal-jeevan-mission-jjm-period-up-to-december-2028-with-enhanced-outlay-and-restructured-implementation-focusing-on-structural-reforms-in-rural-drinking-water-supply-sec/" TargetMode="External"/><Relationship Id="rId12" Type="http://schemas.openxmlformats.org/officeDocument/2006/relationships/hyperlink" Target="https://www.sciencedirect.com/science/article/pii/S1474706524000160" TargetMode="External"/><Relationship Id="rId17" Type="http://schemas.openxmlformats.org/officeDocument/2006/relationships/image" Target="../media/image27.png"/><Relationship Id="rId25" Type="http://schemas.openxmlformats.org/officeDocument/2006/relationships/image" Target="../media/image32.png"/><Relationship Id="rId2" Type="http://schemas.openxmlformats.org/officeDocument/2006/relationships/notesSlide" Target="../notesSlides/notesSlide5.xml"/><Relationship Id="rId16" Type="http://schemas.openxmlformats.org/officeDocument/2006/relationships/image" Target="../media/image26.png"/><Relationship Id="rId20"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s://www.pib.gov.in/PressReleasePage.aspx?PRID=2209798" TargetMode="External"/><Relationship Id="rId11" Type="http://schemas.openxmlformats.org/officeDocument/2006/relationships/hyperlink" Target="https://jaljeevanmission.gov.in/sites/default/files/2025-05/JalJeevanSamvad-October-2023-en.pdf" TargetMode="External"/><Relationship Id="rId24" Type="http://schemas.openxmlformats.org/officeDocument/2006/relationships/image" Target="../media/image31.png"/><Relationship Id="rId5" Type="http://schemas.openxmlformats.org/officeDocument/2006/relationships/hyperlink" Target="https://www.pib.gov.in/PressReleasePage.aspx?PRID=2298959" TargetMode="External"/><Relationship Id="rId15" Type="http://schemas.openxmlformats.org/officeDocument/2006/relationships/image" Target="../media/image25.png"/><Relationship Id="rId23" Type="http://schemas.openxmlformats.org/officeDocument/2006/relationships/image" Target="../media/image30.png"/><Relationship Id="rId28" Type="http://schemas.openxmlformats.org/officeDocument/2006/relationships/image" Target="../media/image35.png"/><Relationship Id="rId10" Type="http://schemas.openxmlformats.org/officeDocument/2006/relationships/hyperlink" Target="https://www.pib.gov.in/PressReleaseIframePage.aspx?PRID=1708701" TargetMode="External"/><Relationship Id="rId19" Type="http://schemas.openxmlformats.org/officeDocument/2006/relationships/hyperlink" Target="https://github.com/Thrisha236/JalRakshak" TargetMode="External"/><Relationship Id="rId4" Type="http://schemas.openxmlformats.org/officeDocument/2006/relationships/hyperlink" Target="https://jaljeevanmission.gov.in/sites/default/files/2025-12/FHTC_National%20Report%202024.pdf" TargetMode="External"/><Relationship Id="rId9" Type="http://schemas.openxmlformats.org/officeDocument/2006/relationships/hyperlink" Target="https://www.ejalshakti.gov.in/WQMIS/" TargetMode="External"/><Relationship Id="rId14" Type="http://schemas.openxmlformats.org/officeDocument/2006/relationships/image" Target="../media/image24.png"/><Relationship Id="rId22" Type="http://schemas.openxmlformats.org/officeDocument/2006/relationships/image" Target="../media/image29.png"/><Relationship Id="rId27"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158724</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F2DD4626-7B69-B44E-19E1-256FF0AE70E5}"/>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1D8D7631-3565-AD6B-4366-6A368F771303}"/>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AB86C95-0A4D-BBDC-77EF-51536873A164}"/>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360A9A9A-B130-3DC5-9B4C-4D4578DE1B8B}"/>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B676E538-3BA4-9B0E-6748-CE4BF511A671}"/>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Found out too late</a:t>
            </a:r>
          </a:p>
          <a:p>
            <a:pPr>
              <a:spcBef>
                <a:spcPts val="0"/>
              </a:spcBef>
              <a:spcAft>
                <a:spcPts val="300"/>
              </a:spcAft>
            </a:pPr>
            <a:r>
              <a:rPr lang="en-US" sz="770">
                <a:solidFill>
                  <a:srgbClr val="475569"/>
                </a:solidFill>
                <a:latin typeface="Arial" panose="020B0604020202020204" pitchFamily="34" charset="0"/>
              </a:rPr>
              <a:t>Problems surface through periodic reports and field inspections, by which time a tap may be dry for days</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03C874ED-6519-F3D8-D599-96CFBFA30C58}"/>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719586AB-C328-13E1-AC15-B2330F8D1447}"/>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nobody sees</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low pressure and failing pipes show up only when someone complains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AD97F5D7-1C6C-B86D-2AF9-F60AADE98AD6}"/>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DC0388C5-DC38-0C46-70EB-728BAE50FEB1}"/>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Villagers have no easy voice</a:t>
            </a:r>
          </a:p>
          <a:p>
            <a:pPr>
              <a:spcBef>
                <a:spcPts val="0"/>
              </a:spcBef>
              <a:spcAft>
                <a:spcPts val="300"/>
              </a:spcAft>
            </a:pPr>
            <a:r>
              <a:rPr lang="en-US" sz="770">
                <a:solidFill>
                  <a:srgbClr val="475569"/>
                </a:solidFill>
                <a:latin typeface="Arial" panose="020B0604020202020204" pitchFamily="34" charset="0"/>
              </a:rPr>
              <a:t>No quick way to report a dry tap, share a photo, or confirm that the water really came back</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0A5B3F85-B826-7F3B-A935-60ED14F1A8E6}"/>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0F51B1A9-8154-83B0-59DD-EB537BFA626F}"/>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Data sits in separate places</a:t>
            </a:r>
          </a:p>
          <a:p>
            <a:pPr>
              <a:spcBef>
                <a:spcPts val="0"/>
              </a:spcBef>
              <a:spcAft>
                <a:spcPts val="300"/>
              </a:spcAft>
            </a:pPr>
            <a:r>
              <a:rPr lang="en-US" sz="770">
                <a:solidFill>
                  <a:srgbClr val="475569"/>
                </a:solidFill>
                <a:latin typeface="Arial" panose="020B0604020202020204" pitchFamily="34" charset="0"/>
              </a:rPr>
              <a:t>Sensors, mobile apps, water-quality results and citizen feedback are rarely seen together in one village view</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351076F3-2EEE-4EE7-566B-A5012C69C69B}"/>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BEDA1FE0-0470-280D-38DC-D255DFD9D0A6}"/>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A tap is not a service</a:t>
            </a:r>
          </a:p>
          <a:p>
            <a:pPr>
              <a:spcBef>
                <a:spcPts val="0"/>
              </a:spcBef>
              <a:spcAft>
                <a:spcPts val="300"/>
              </a:spcAft>
            </a:pPr>
            <a:r>
              <a:rPr lang="en-US" sz="770">
                <a:solidFill>
                  <a:srgbClr val="475569"/>
                </a:solidFill>
                <a:latin typeface="Arial" panose="020B0604020202020204" pitchFamily="34" charset="0"/>
              </a:rPr>
              <a:t>98.1% of surveyed homes had a tap, yet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96239B8A-816F-1B32-CBC9-8E8ED257F76C}"/>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AF067D67-F196-8DD0-2472-77B80969E7BE}"/>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AFDB70C2-2822-82AD-F0BE-4416B04B79DC}"/>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2A9679F5-7614-3CBF-82B2-58D79F6030B1}"/>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836BB4AB-28B9-17A3-D4BF-FF74A0F529D9}"/>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sensor nodes on the pipeline + a daily villager tap check give household-level status, analysed with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B8B1008D-EC33-1579-2153-D8309F77961F}"/>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C00EB056-13AC-5FB6-92E0-C7B3E0F2BFF9}"/>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for supply disruption, water quality deterioration, low pressure, leakages and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0C01DE1F-6ABA-3DC7-BD31-ACD31D243791}"/>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A1CCE26B-08A6-B4E6-FD4A-1BE34930FCF3}"/>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Villagers speak up</a:t>
            </a:r>
          </a:p>
          <a:p>
            <a:pPr>
              <a:spcBef>
                <a:spcPts val="0"/>
              </a:spcBef>
              <a:spcAft>
                <a:spcPts val="300"/>
              </a:spcAft>
            </a:pPr>
            <a:r>
              <a:rPr lang="en-US" sz="740">
                <a:solidFill>
                  <a:srgbClr val="475569"/>
                </a:solidFill>
                <a:latin typeface="Arial" panose="020B0604020202020204" pitchFamily="34" charset="0"/>
              </a:rPr>
              <a:t>feedback, complaints, photographs and geo-tagged observations from a phone,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1F3CFDA1-1BE6-18E2-16E7-2A4DCC24F466}"/>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EFFACB81-2928-2F2E-CB71-50BE453AA4A2}"/>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Early detection and prediction</a:t>
            </a:r>
          </a:p>
          <a:p>
            <a:pPr>
              <a:spcBef>
                <a:spcPts val="0"/>
              </a:spcBef>
              <a:spcAft>
                <a:spcPts val="300"/>
              </a:spcAft>
            </a:pPr>
            <a:r>
              <a:rPr lang="en-US" sz="740">
                <a:solidFill>
                  <a:srgbClr val="475569"/>
                </a:solidFill>
                <a:latin typeface="Arial" panose="020B0604020202020204" pitchFamily="34" charset="0"/>
              </a:rPr>
              <a:t>AI/ML spots abnormal service patterns early, predicts failures and ranks maintenance</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58FDCE4B-ECD0-A95E-8EDF-764B08EAE5D8}"/>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5B747987-4DF1-0F7F-73BE-EDCE6B9F0D5F}"/>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Ready to sync</a:t>
            </a:r>
          </a:p>
          <a:p>
            <a:pPr>
              <a:spcBef>
                <a:spcPts val="0"/>
              </a:spcBef>
              <a:spcAft>
                <a:spcPts val="300"/>
              </a:spcAft>
            </a:pPr>
            <a:r>
              <a:rPr lang="en-US" sz="740">
                <a:solidFill>
                  <a:srgbClr val="475569"/>
                </a:solidFill>
                <a:latin typeface="Arial" panose="020B0604020202020204" pitchFamily="34" charset="0"/>
              </a:rPr>
              <a:t>records keyed to Sujal Gaon IDs; IMIS / JJM adapters built, official API access needed</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63E26E38-7801-2261-DD43-A3EBBDB42DAE}"/>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3D14F8D6-5F81-84BE-B7E8-9E835AF1BCDB}"/>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Dashboards for every level</a:t>
            </a:r>
          </a:p>
          <a:p>
            <a:pPr>
              <a:spcBef>
                <a:spcPts val="0"/>
              </a:spcBef>
              <a:spcAft>
                <a:spcPts val="300"/>
              </a:spcAft>
            </a:pPr>
            <a:r>
              <a:rPr lang="en-US" sz="740">
                <a:solidFill>
                  <a:srgbClr val="475569"/>
                </a:solidFill>
                <a:latin typeface="Arial" panose="020B0604020202020204" pitchFamily="34" charset="0"/>
              </a:rPr>
              <a:t>GIS maps, service status indicators and analytics from VWSC to State</a:t>
            </a:r>
            <a:endParaRPr lang="en-IN" sz="740">
              <a:solidFill>
                <a:srgbClr val="475569"/>
              </a:solidFill>
              <a:latin typeface="Arial" panose="020B0604020202020204" pitchFamily="34" charset="0"/>
            </a:endParaRPr>
          </a:p>
        </p:txBody>
      </p:sp>
      <p:sp>
        <p:nvSpPr>
          <p:cNvPr id="40" name="Oval 39">
            <a:extLst>
              <a:ext uri="{FF2B5EF4-FFF2-40B4-BE49-F238E27FC236}">
                <a16:creationId xmlns:a16="http://schemas.microsoft.com/office/drawing/2014/main" id="{A6EF66C5-994E-C348-7F4F-6F251CBA0BE2}"/>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7D59985B-26CB-D848-CC69-4854D35B8EF3}"/>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What is new</a:t>
            </a:r>
          </a:p>
          <a:p>
            <a:pPr>
              <a:spcBef>
                <a:spcPts val="0"/>
              </a:spcBef>
              <a:spcAft>
                <a:spcPts val="300"/>
              </a:spcAft>
            </a:pPr>
            <a:r>
              <a:rPr lang="en-US" sz="740">
                <a:solidFill>
                  <a:srgbClr val="475569"/>
                </a:solidFill>
                <a:latin typeface="Arial" panose="020B0604020202020204" pitchFamily="34" charset="0"/>
              </a:rPr>
              <a:t>Beyond sensor-only IoT pilots: HIGH alerts need sensor + villager evidence; repairs close only when readings recover and villagers confirm</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E27E1B96-8E3D-B32B-4405-A0AEB87A9CC4}"/>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439E2315-C3BB-4492-C6F7-B528BEF2ED99}"/>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F8723974-1F8A-4B54-4CC7-E39F50DBD76D}"/>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B82B4A0C-5B41-5EDD-4677-1160801922A3}"/>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12E147C6-B007-D4DD-FACB-D547EE785DEB}"/>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9575663A-B7A2-4DF4-9E53-010D8EEE0FD9}"/>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DE9F5F18-E430-D281-9D1B-B94C58A968AA}"/>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00" b="1">
                <a:solidFill>
                  <a:srgbClr val="0070C0"/>
                </a:solidFill>
                <a:latin typeface="Arial" panose="020B0604020202020204" pitchFamily="34" charset="0"/>
              </a:rPr>
              <a:t>DEMO VIDEO (YouTube)</a:t>
            </a:r>
          </a:p>
          <a:p>
            <a:pPr algn="ctr">
              <a:spcBef>
                <a:spcPts val="0"/>
              </a:spcBef>
              <a:spcAft>
                <a:spcPts val="300"/>
              </a:spcAft>
            </a:pPr>
            <a:r>
              <a:rPr lang="en-IN" sz="850">
                <a:solidFill>
                  <a:srgbClr val="0070C0"/>
                </a:solidFill>
                <a:latin typeface="Arial" panose="020B0604020202020204" pitchFamily="34" charset="0"/>
                <a:hlinkClick r:id="rId10"/>
              </a:rPr>
              <a:t>youtu.be/LYlQtrBbpes</a:t>
            </a:r>
            <a:endParaRPr lang="en-IN" sz="850">
              <a:solidFill>
                <a:srgbClr val="0070C0"/>
              </a:solidFill>
              <a:latin typeface="Arial" panose="020B0604020202020204" pitchFamily="34" charset="0"/>
            </a:endParaRPr>
          </a:p>
        </p:txBody>
      </p:sp>
      <p:sp>
        <p:nvSpPr>
          <p:cNvPr id="49" name="TextBox 48">
            <a:extLst>
              <a:ext uri="{FF2B5EF4-FFF2-40B4-BE49-F238E27FC236}">
                <a16:creationId xmlns:a16="http://schemas.microsoft.com/office/drawing/2014/main" id="{14AF3C94-D96B-23D0-42F5-45AA87DFBCEB}"/>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F6795E78-6E7F-D163-D64D-81BC418E6362}"/>
              </a:ext>
            </a:extLst>
          </p:cNvPr>
          <p:cNvPicPr>
            <a:picLocks/>
          </p:cNvPicPr>
          <p:nvPr/>
        </p:nvPicPr>
        <p:blipFill>
          <a:blip r:embed="rId4"/>
          <a:stretch>
            <a:fillRect/>
          </a:stretch>
        </p:blipFill>
        <p:spPr>
          <a:xfrm>
            <a:off x="304800" y="1143000"/>
            <a:ext cx="11582400" cy="32766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2A93B718-3268-D914-E488-EA825FC2C0DB}"/>
              </a:ext>
            </a:extLst>
          </p:cNvPr>
          <p:cNvSpPr/>
          <p:nvPr/>
        </p:nvSpPr>
        <p:spPr>
          <a:xfrm>
            <a:off x="304800" y="4495800"/>
            <a:ext cx="11582400" cy="1854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7072C13-C0C5-1650-CF96-671AAD87683D}"/>
              </a:ext>
            </a:extLst>
          </p:cNvPr>
          <p:cNvSpPr txBox="1"/>
          <p:nvPr/>
        </p:nvSpPr>
        <p:spPr>
          <a:xfrm>
            <a:off x="381000" y="4546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Proposed hardware and how it connects (firmware tested in simulation; bench build next; circuit on the next slide)</a:t>
            </a:r>
            <a:endParaRPr lang="en-IN" sz="1150" b="1">
              <a:solidFill>
                <a:srgbClr val="0F766E"/>
              </a:solidFill>
              <a:latin typeface="Arial" panose="020B0604020202020204" pitchFamily="34" charset="0"/>
            </a:endParaRPr>
          </a:p>
        </p:txBody>
      </p:sp>
      <p:pic>
        <p:nvPicPr>
          <p:cNvPr id="9" name="Picture 8">
            <a:extLst>
              <a:ext uri="{FF2B5EF4-FFF2-40B4-BE49-F238E27FC236}">
                <a16:creationId xmlns:a16="http://schemas.microsoft.com/office/drawing/2014/main" id="{369A7FF8-5758-4640-A757-716EF572D6A9}"/>
              </a:ext>
            </a:extLst>
          </p:cNvPr>
          <p:cNvPicPr>
            <a:picLocks/>
          </p:cNvPicPr>
          <p:nvPr/>
        </p:nvPicPr>
        <p:blipFill>
          <a:blip r:embed="rId5"/>
          <a:stretch>
            <a:fillRect/>
          </a:stretch>
        </p:blipFill>
        <p:spPr>
          <a:xfrm>
            <a:off x="558800" y="4800600"/>
            <a:ext cx="838200" cy="584200"/>
          </a:xfrm>
          <a:prstGeom prst="rect">
            <a:avLst/>
          </a:prstGeom>
        </p:spPr>
      </p:pic>
      <p:sp>
        <p:nvSpPr>
          <p:cNvPr id="13" name="TextBox 12">
            <a:extLst>
              <a:ext uri="{FF2B5EF4-FFF2-40B4-BE49-F238E27FC236}">
                <a16:creationId xmlns:a16="http://schemas.microsoft.com/office/drawing/2014/main" id="{A264365D-628A-D9F4-8B31-5B2AF1426C71}"/>
              </a:ext>
            </a:extLst>
          </p:cNvPr>
          <p:cNvSpPr txBox="1"/>
          <p:nvPr/>
        </p:nvSpPr>
        <p:spPr>
          <a:xfrm>
            <a:off x="3429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4" name="TextBox 13">
            <a:extLst>
              <a:ext uri="{FF2B5EF4-FFF2-40B4-BE49-F238E27FC236}">
                <a16:creationId xmlns:a16="http://schemas.microsoft.com/office/drawing/2014/main" id="{5239E02C-3C78-D539-6DAF-FC50EEA176B1}"/>
              </a:ext>
            </a:extLst>
          </p:cNvPr>
          <p:cNvSpPr txBox="1"/>
          <p:nvPr/>
        </p:nvSpPr>
        <p:spPr>
          <a:xfrm>
            <a:off x="3556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Reads sensors through ADC, I2C and GPIO; sleeps between samples</a:t>
            </a:r>
            <a:endParaRPr lang="en-IN" sz="75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3ABB6EC5-AC7D-60BD-D735-3A3147F4A033}"/>
              </a:ext>
            </a:extLst>
          </p:cNvPr>
          <p:cNvPicPr>
            <a:picLocks/>
          </p:cNvPicPr>
          <p:nvPr/>
        </p:nvPicPr>
        <p:blipFill>
          <a:blip r:embed="rId6"/>
          <a:stretch>
            <a:fillRect/>
          </a:stretch>
        </p:blipFill>
        <p:spPr>
          <a:xfrm>
            <a:off x="1835150" y="4800600"/>
            <a:ext cx="838200" cy="584200"/>
          </a:xfrm>
          <a:prstGeom prst="rect">
            <a:avLst/>
          </a:prstGeom>
        </p:spPr>
      </p:pic>
      <p:sp>
        <p:nvSpPr>
          <p:cNvPr id="17" name="TextBox 16">
            <a:extLst>
              <a:ext uri="{FF2B5EF4-FFF2-40B4-BE49-F238E27FC236}">
                <a16:creationId xmlns:a16="http://schemas.microsoft.com/office/drawing/2014/main" id="{C8AB669B-A135-A2C8-9181-603FEC69B8D8}"/>
              </a:ext>
            </a:extLst>
          </p:cNvPr>
          <p:cNvSpPr txBox="1"/>
          <p:nvPr/>
        </p:nvSpPr>
        <p:spPr>
          <a:xfrm>
            <a:off x="16192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18" name="TextBox 17">
            <a:extLst>
              <a:ext uri="{FF2B5EF4-FFF2-40B4-BE49-F238E27FC236}">
                <a16:creationId xmlns:a16="http://schemas.microsoft.com/office/drawing/2014/main" id="{6E9B9AF4-FE20-E58C-14D9-0E448D7B7905}"/>
              </a:ext>
            </a:extLst>
          </p:cNvPr>
          <p:cNvSpPr txBox="1"/>
          <p:nvPr/>
        </p:nvSpPr>
        <p:spPr>
          <a:xfrm>
            <a:off x="16319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750">
                <a:solidFill>
                  <a:srgbClr val="475569"/>
                </a:solidFill>
                <a:latin typeface="Arial" panose="020B0604020202020204" pitchFamily="34" charset="0"/>
              </a:rPr>
              <a:t>SPI radio, 865-867 MHz, node to village gateway</a:t>
            </a:r>
          </a:p>
        </p:txBody>
      </p:sp>
      <p:pic>
        <p:nvPicPr>
          <p:cNvPr id="20" name="Picture 19">
            <a:extLst>
              <a:ext uri="{FF2B5EF4-FFF2-40B4-BE49-F238E27FC236}">
                <a16:creationId xmlns:a16="http://schemas.microsoft.com/office/drawing/2014/main" id="{3519345A-3154-4750-E6A8-DE17B9B0BE45}"/>
              </a:ext>
            </a:extLst>
          </p:cNvPr>
          <p:cNvPicPr>
            <a:picLocks/>
          </p:cNvPicPr>
          <p:nvPr/>
        </p:nvPicPr>
        <p:blipFill>
          <a:blip r:embed="rId7"/>
          <a:stretch>
            <a:fillRect/>
          </a:stretch>
        </p:blipFill>
        <p:spPr>
          <a:xfrm>
            <a:off x="3111500" y="4800600"/>
            <a:ext cx="838200" cy="584200"/>
          </a:xfrm>
          <a:prstGeom prst="rect">
            <a:avLst/>
          </a:prstGeom>
        </p:spPr>
      </p:pic>
      <p:sp>
        <p:nvSpPr>
          <p:cNvPr id="21" name="TextBox 20">
            <a:extLst>
              <a:ext uri="{FF2B5EF4-FFF2-40B4-BE49-F238E27FC236}">
                <a16:creationId xmlns:a16="http://schemas.microsoft.com/office/drawing/2014/main" id="{CCB51032-7D77-743F-7586-8538BEE0E93A}"/>
              </a:ext>
            </a:extLst>
          </p:cNvPr>
          <p:cNvSpPr txBox="1"/>
          <p:nvPr/>
        </p:nvSpPr>
        <p:spPr>
          <a:xfrm>
            <a:off x="28956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2" name="TextBox 21">
            <a:extLst>
              <a:ext uri="{FF2B5EF4-FFF2-40B4-BE49-F238E27FC236}">
                <a16:creationId xmlns:a16="http://schemas.microsoft.com/office/drawing/2014/main" id="{0162408C-C6CD-F8CC-EE7A-68708BF0A8FA}"/>
              </a:ext>
            </a:extLst>
          </p:cNvPr>
          <p:cNvSpPr txBox="1"/>
          <p:nvPr/>
        </p:nvSpPr>
        <p:spPr>
          <a:xfrm>
            <a:off x="29083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Buffers readings, sends over 4G MQTT to the ingestion API</a:t>
            </a:r>
            <a:endParaRPr lang="en-IN" sz="750">
              <a:solidFill>
                <a:srgbClr val="475569"/>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CE1D1438-F50A-AB85-C875-958C38268003}"/>
              </a:ext>
            </a:extLst>
          </p:cNvPr>
          <p:cNvSpPr/>
          <p:nvPr/>
        </p:nvSpPr>
        <p:spPr>
          <a:xfrm>
            <a:off x="417195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CEB8728A-CB10-DB49-1318-55CF54192AB5}"/>
              </a:ext>
            </a:extLst>
          </p:cNvPr>
          <p:cNvPicPr>
            <a:picLocks/>
          </p:cNvPicPr>
          <p:nvPr/>
        </p:nvPicPr>
        <p:blipFill>
          <a:blip r:embed="rId8"/>
          <a:stretch>
            <a:fillRect/>
          </a:stretch>
        </p:blipFill>
        <p:spPr>
          <a:xfrm>
            <a:off x="4387850" y="4800600"/>
            <a:ext cx="838200" cy="584200"/>
          </a:xfrm>
          <a:prstGeom prst="rect">
            <a:avLst/>
          </a:prstGeom>
        </p:spPr>
      </p:pic>
      <p:sp>
        <p:nvSpPr>
          <p:cNvPr id="26" name="TextBox 25">
            <a:extLst>
              <a:ext uri="{FF2B5EF4-FFF2-40B4-BE49-F238E27FC236}">
                <a16:creationId xmlns:a16="http://schemas.microsoft.com/office/drawing/2014/main" id="{5039E75B-7F68-8AEB-052D-F609CA306BB4}"/>
              </a:ext>
            </a:extLst>
          </p:cNvPr>
          <p:cNvSpPr txBox="1"/>
          <p:nvPr/>
        </p:nvSpPr>
        <p:spPr>
          <a:xfrm>
            <a:off x="41719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27" name="TextBox 26">
            <a:extLst>
              <a:ext uri="{FF2B5EF4-FFF2-40B4-BE49-F238E27FC236}">
                <a16:creationId xmlns:a16="http://schemas.microsoft.com/office/drawing/2014/main" id="{393843AB-1586-2E2F-F550-9825023B6EE1}"/>
              </a:ext>
            </a:extLst>
          </p:cNvPr>
          <p:cNvSpPr txBox="1"/>
          <p:nvPr/>
        </p:nvSpPr>
        <p:spPr>
          <a:xfrm>
            <a:off x="41846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Piezo clamp at critical points; leak-noise indicator, confirmed by flow and pressure</a:t>
            </a:r>
            <a:endParaRPr lang="en-IN" sz="750">
              <a:solidFill>
                <a:srgbClr val="475569"/>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29F77EBE-4D18-07EC-57BD-811188B48414}"/>
              </a:ext>
            </a:extLst>
          </p:cNvPr>
          <p:cNvSpPr/>
          <p:nvPr/>
        </p:nvSpPr>
        <p:spPr>
          <a:xfrm>
            <a:off x="544830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EFE91741-6272-9024-29F7-44ABF1FEE852}"/>
              </a:ext>
            </a:extLst>
          </p:cNvPr>
          <p:cNvPicPr>
            <a:picLocks/>
          </p:cNvPicPr>
          <p:nvPr/>
        </p:nvPicPr>
        <p:blipFill>
          <a:blip r:embed="rId9"/>
          <a:stretch>
            <a:fillRect/>
          </a:stretch>
        </p:blipFill>
        <p:spPr>
          <a:xfrm>
            <a:off x="5664200" y="4800600"/>
            <a:ext cx="838200" cy="584200"/>
          </a:xfrm>
          <a:prstGeom prst="rect">
            <a:avLst/>
          </a:prstGeom>
        </p:spPr>
      </p:pic>
      <p:sp>
        <p:nvSpPr>
          <p:cNvPr id="31" name="TextBox 30">
            <a:extLst>
              <a:ext uri="{FF2B5EF4-FFF2-40B4-BE49-F238E27FC236}">
                <a16:creationId xmlns:a16="http://schemas.microsoft.com/office/drawing/2014/main" id="{837A2A9A-0B8F-AF47-1500-8BF2C18F5706}"/>
              </a:ext>
            </a:extLst>
          </p:cNvPr>
          <p:cNvSpPr txBox="1"/>
          <p:nvPr/>
        </p:nvSpPr>
        <p:spPr>
          <a:xfrm>
            <a:off x="54483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2" name="TextBox 31">
            <a:extLst>
              <a:ext uri="{FF2B5EF4-FFF2-40B4-BE49-F238E27FC236}">
                <a16:creationId xmlns:a16="http://schemas.microsoft.com/office/drawing/2014/main" id="{BE82E53D-06C1-2E6C-EB3A-7C226CB16C53}"/>
              </a:ext>
            </a:extLst>
          </p:cNvPr>
          <p:cNvSpPr txBox="1"/>
          <p:nvPr/>
        </p:nvSpPr>
        <p:spPr>
          <a:xfrm>
            <a:off x="54610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probe in a flow cell at the tail end; measured mg/L, low-chlorine alert</a:t>
            </a:r>
            <a:endParaRPr lang="en-IN" sz="750">
              <a:solidFill>
                <a:srgbClr val="475569"/>
              </a:solidFill>
              <a:latin typeface="Arial" panose="020B0604020202020204" pitchFamily="34" charset="0"/>
            </a:endParaRPr>
          </a:p>
        </p:txBody>
      </p:sp>
      <p:pic>
        <p:nvPicPr>
          <p:cNvPr id="34" name="Picture 33">
            <a:extLst>
              <a:ext uri="{FF2B5EF4-FFF2-40B4-BE49-F238E27FC236}">
                <a16:creationId xmlns:a16="http://schemas.microsoft.com/office/drawing/2014/main" id="{03A5DAF4-F136-A930-4A36-E8EDDE5226DD}"/>
              </a:ext>
            </a:extLst>
          </p:cNvPr>
          <p:cNvPicPr>
            <a:picLocks/>
          </p:cNvPicPr>
          <p:nvPr/>
        </p:nvPicPr>
        <p:blipFill>
          <a:blip r:embed="rId10"/>
          <a:stretch>
            <a:fillRect/>
          </a:stretch>
        </p:blipFill>
        <p:spPr>
          <a:xfrm>
            <a:off x="6940550" y="4800600"/>
            <a:ext cx="838200" cy="584200"/>
          </a:xfrm>
          <a:prstGeom prst="rect">
            <a:avLst/>
          </a:prstGeom>
        </p:spPr>
      </p:pic>
      <p:sp>
        <p:nvSpPr>
          <p:cNvPr id="35" name="TextBox 34">
            <a:extLst>
              <a:ext uri="{FF2B5EF4-FFF2-40B4-BE49-F238E27FC236}">
                <a16:creationId xmlns:a16="http://schemas.microsoft.com/office/drawing/2014/main" id="{3DDAB5FF-6433-4D45-BAC2-0F573A4B4BD5}"/>
              </a:ext>
            </a:extLst>
          </p:cNvPr>
          <p:cNvSpPr txBox="1"/>
          <p:nvPr/>
        </p:nvSpPr>
        <p:spPr>
          <a:xfrm>
            <a:off x="67246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6" name="TextBox 35">
            <a:extLst>
              <a:ext uri="{FF2B5EF4-FFF2-40B4-BE49-F238E27FC236}">
                <a16:creationId xmlns:a16="http://schemas.microsoft.com/office/drawing/2014/main" id="{C5219C4B-01CF-7CC7-B2E7-C7EBF9DA0344}"/>
              </a:ext>
            </a:extLst>
          </p:cNvPr>
          <p:cNvSpPr txBox="1"/>
          <p:nvPr/>
        </p:nvSpPr>
        <p:spPr>
          <a:xfrm>
            <a:off x="67373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transmitters, head and tail; low-pressure alert</a:t>
            </a:r>
            <a:endParaRPr lang="en-IN" sz="750">
              <a:solidFill>
                <a:srgbClr val="475569"/>
              </a:solidFill>
              <a:latin typeface="Arial" panose="020B0604020202020204" pitchFamily="34" charset="0"/>
            </a:endParaRPr>
          </a:p>
        </p:txBody>
      </p:sp>
      <p:pic>
        <p:nvPicPr>
          <p:cNvPr id="38" name="Picture 37">
            <a:extLst>
              <a:ext uri="{FF2B5EF4-FFF2-40B4-BE49-F238E27FC236}">
                <a16:creationId xmlns:a16="http://schemas.microsoft.com/office/drawing/2014/main" id="{44BC2F47-CD6B-EB78-1C9C-ED381F971D50}"/>
              </a:ext>
            </a:extLst>
          </p:cNvPr>
          <p:cNvPicPr>
            <a:picLocks/>
          </p:cNvPicPr>
          <p:nvPr/>
        </p:nvPicPr>
        <p:blipFill>
          <a:blip r:embed="rId11"/>
          <a:stretch>
            <a:fillRect/>
          </a:stretch>
        </p:blipFill>
        <p:spPr>
          <a:xfrm>
            <a:off x="8216900" y="4800600"/>
            <a:ext cx="838200" cy="584200"/>
          </a:xfrm>
          <a:prstGeom prst="rect">
            <a:avLst/>
          </a:prstGeom>
        </p:spPr>
      </p:pic>
      <p:sp>
        <p:nvSpPr>
          <p:cNvPr id="39" name="TextBox 38">
            <a:extLst>
              <a:ext uri="{FF2B5EF4-FFF2-40B4-BE49-F238E27FC236}">
                <a16:creationId xmlns:a16="http://schemas.microsoft.com/office/drawing/2014/main" id="{AABF4DF0-2C1F-9BE1-312C-773D680362EF}"/>
              </a:ext>
            </a:extLst>
          </p:cNvPr>
          <p:cNvSpPr txBox="1"/>
          <p:nvPr/>
        </p:nvSpPr>
        <p:spPr>
          <a:xfrm>
            <a:off x="80010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0" name="TextBox 39">
            <a:extLst>
              <a:ext uri="{FF2B5EF4-FFF2-40B4-BE49-F238E27FC236}">
                <a16:creationId xmlns:a16="http://schemas.microsoft.com/office/drawing/2014/main" id="{E06482A3-6E51-2D37-FABD-371791CD56B0}"/>
              </a:ext>
            </a:extLst>
          </p:cNvPr>
          <p:cNvSpPr txBox="1"/>
          <p:nvPr/>
        </p:nvSpPr>
        <p:spPr>
          <a:xfrm>
            <a:off x="80137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Pulse output, head and tail; a gap above its normal baseline flags a possible leak</a:t>
            </a:r>
            <a:endParaRPr lang="en-IN" sz="750">
              <a:solidFill>
                <a:srgbClr val="475569"/>
              </a:solidFill>
              <a:latin typeface="Arial" panose="020B0604020202020204" pitchFamily="34" charset="0"/>
            </a:endParaRPr>
          </a:p>
        </p:txBody>
      </p:sp>
      <p:pic>
        <p:nvPicPr>
          <p:cNvPr id="42" name="Picture 41">
            <a:extLst>
              <a:ext uri="{FF2B5EF4-FFF2-40B4-BE49-F238E27FC236}">
                <a16:creationId xmlns:a16="http://schemas.microsoft.com/office/drawing/2014/main" id="{4741BE1E-F18F-16BE-5FC4-98CEB4B00912}"/>
              </a:ext>
            </a:extLst>
          </p:cNvPr>
          <p:cNvPicPr>
            <a:picLocks/>
          </p:cNvPicPr>
          <p:nvPr/>
        </p:nvPicPr>
        <p:blipFill>
          <a:blip r:embed="rId12"/>
          <a:stretch>
            <a:fillRect/>
          </a:stretch>
        </p:blipFill>
        <p:spPr>
          <a:xfrm>
            <a:off x="9493250" y="4800600"/>
            <a:ext cx="838200" cy="584200"/>
          </a:xfrm>
          <a:prstGeom prst="rect">
            <a:avLst/>
          </a:prstGeom>
        </p:spPr>
      </p:pic>
      <p:sp>
        <p:nvSpPr>
          <p:cNvPr id="43" name="TextBox 42">
            <a:extLst>
              <a:ext uri="{FF2B5EF4-FFF2-40B4-BE49-F238E27FC236}">
                <a16:creationId xmlns:a16="http://schemas.microsoft.com/office/drawing/2014/main" id="{DC808FE0-3639-021E-E938-70DC1DB46B33}"/>
              </a:ext>
            </a:extLst>
          </p:cNvPr>
          <p:cNvSpPr txBox="1"/>
          <p:nvPr/>
        </p:nvSpPr>
        <p:spPr>
          <a:xfrm>
            <a:off x="92773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4" name="TextBox 43">
            <a:extLst>
              <a:ext uri="{FF2B5EF4-FFF2-40B4-BE49-F238E27FC236}">
                <a16:creationId xmlns:a16="http://schemas.microsoft.com/office/drawing/2014/main" id="{6588E6B3-5B38-DEBF-BC91-9AF00D3A8E0A}"/>
              </a:ext>
            </a:extLst>
          </p:cNvPr>
          <p:cNvSpPr txBox="1"/>
          <p:nvPr/>
        </p:nvSpPr>
        <p:spPr>
          <a:xfrm>
            <a:off x="92900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JSN-SR04T on the tank; supply and tank health</a:t>
            </a:r>
            <a:endParaRPr lang="en-IN" sz="750">
              <a:solidFill>
                <a:srgbClr val="475569"/>
              </a:solidFill>
              <a:latin typeface="Arial" panose="020B0604020202020204" pitchFamily="34" charset="0"/>
            </a:endParaRPr>
          </a:p>
        </p:txBody>
      </p:sp>
      <p:pic>
        <p:nvPicPr>
          <p:cNvPr id="46" name="Picture 45">
            <a:extLst>
              <a:ext uri="{FF2B5EF4-FFF2-40B4-BE49-F238E27FC236}">
                <a16:creationId xmlns:a16="http://schemas.microsoft.com/office/drawing/2014/main" id="{C6BFE568-6E38-8D82-609D-3DF882814400}"/>
              </a:ext>
            </a:extLst>
          </p:cNvPr>
          <p:cNvPicPr>
            <a:picLocks/>
          </p:cNvPicPr>
          <p:nvPr/>
        </p:nvPicPr>
        <p:blipFill>
          <a:blip r:embed="rId13"/>
          <a:stretch>
            <a:fillRect/>
          </a:stretch>
        </p:blipFill>
        <p:spPr>
          <a:xfrm>
            <a:off x="10769600" y="4800600"/>
            <a:ext cx="838200" cy="584200"/>
          </a:xfrm>
          <a:prstGeom prst="rect">
            <a:avLst/>
          </a:prstGeom>
        </p:spPr>
      </p:pic>
      <p:sp>
        <p:nvSpPr>
          <p:cNvPr id="47" name="TextBox 46">
            <a:extLst>
              <a:ext uri="{FF2B5EF4-FFF2-40B4-BE49-F238E27FC236}">
                <a16:creationId xmlns:a16="http://schemas.microsoft.com/office/drawing/2014/main" id="{3373A758-3565-BC33-052B-72DDADCF7DB3}"/>
              </a:ext>
            </a:extLst>
          </p:cNvPr>
          <p:cNvSpPr txBox="1"/>
          <p:nvPr/>
        </p:nvSpPr>
        <p:spPr>
          <a:xfrm>
            <a:off x="105537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48" name="TextBox 47">
            <a:extLst>
              <a:ext uri="{FF2B5EF4-FFF2-40B4-BE49-F238E27FC236}">
                <a16:creationId xmlns:a16="http://schemas.microsoft.com/office/drawing/2014/main" id="{5323471E-E2DF-B475-C486-B281108E2252}"/>
              </a:ext>
            </a:extLst>
          </p:cNvPr>
          <p:cNvSpPr txBox="1"/>
          <p:nvPr/>
        </p:nvSpPr>
        <p:spPr>
          <a:xfrm>
            <a:off x="105664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12 V 10 W panel, 7 Ah battery, IP65 box; buck and boost rails</a:t>
            </a:r>
            <a:endParaRPr lang="en-IN" sz="75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2BA88644-0775-978C-8BBD-EFFFA763D6AA}"/>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A1200057-AA7B-1AE8-684F-B7C9D0E928E0}"/>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5620E7D0-7BD5-78A3-D73A-C5A817F51F6B}"/>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2F76FAE-1228-BA32-17A4-F731CEBFAE40}"/>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FDDFF5EB-BDB0-7A92-24F5-3B79401C6BF1}"/>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DD22B895-3525-21A6-A65B-417351C8F3B3}"/>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CE950E7-FADC-E6CC-185B-A2E6F1526E8C}"/>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DF61F35B-3F6A-8C5E-BF44-BE845C2E71C8}"/>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Sync adapters built and mock-tested; live IMIS / JJM / WQMIS sync needs official API access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FD56B553-0FF1-7E05-BA23-0D5B84F81A78}"/>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D1CDFD57-DE3C-3BB3-0048-8FEA43988EA3}"/>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EC056D10-DAB0-B6FB-AC7C-2A587EDEBAA8}"/>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Photo location data stripped; location shared separately by opt-in</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F7BD7EE1-6566-B029-0208-C1545CC2D90B}"/>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5E6FAAE4-CFD6-0998-D06D-F02D7FB4B471}"/>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987FFAE6-C754-B9CD-8751-92A323C612FE}"/>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658EF07F-2081-0882-EEC4-D2BBFBEF6504}"/>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5FCCB815-DA5C-06DF-1642-B3A5E1F308AD}"/>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68A8B5AF-E810-4D4B-05CF-82EB68AC84E3}"/>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DFD14DD0-6120-5C2E-DA16-04BEB261F42D}"/>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8638D1C8-AB2D-3B6B-40E7-7E08A21DF5FA}"/>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parts: ESP32, ADS1115,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Platform on demo data; 278 tests incl. firmware on a simulated board</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AI/ML runs on demo data now; to be validated on pilot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42802713-A0F4-5EF9-DE19-269265B817A5}"/>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88941959-25E1-503A-3239-44C7C19136FA}"/>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4F23AAD2-39CD-B64D-7F86-2482CCEE8A3D}"/>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CD08E65D-B3E9-0E10-CBB7-5B0607C900EF}"/>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140DC7A0-6A32-CFF4-EE9A-3F15865E836A}"/>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B6A266E7-3216-C81C-4CC3-C2E56F6F1EBA}"/>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1F9D678D-20A9-6B3F-BB21-DF1CD8894F19}"/>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85D7F1FF-14BC-6486-320B-536005C7C3BD}"/>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D3F94E3E-9564-FCA5-9438-B1162EED193B}"/>
              </a:ext>
            </a:extLst>
          </p:cNvPr>
          <p:cNvSpPr/>
          <p:nvPr/>
        </p:nvSpPr>
        <p:spPr>
          <a:xfrm>
            <a:off x="304800" y="1117600"/>
            <a:ext cx="11582400" cy="2286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USERS INVOLVED</a:t>
            </a:r>
          </a:p>
        </p:txBody>
      </p:sp>
      <p:sp>
        <p:nvSpPr>
          <p:cNvPr id="3" name="Rectangle: Rounded Corners 2">
            <a:extLst>
              <a:ext uri="{FF2B5EF4-FFF2-40B4-BE49-F238E27FC236}">
                <a16:creationId xmlns:a16="http://schemas.microsoft.com/office/drawing/2014/main" id="{08EE8A5B-FDBE-E419-2CE6-69B059DCA483}"/>
              </a:ext>
            </a:extLst>
          </p:cNvPr>
          <p:cNvSpPr/>
          <p:nvPr/>
        </p:nvSpPr>
        <p:spPr>
          <a:xfrm>
            <a:off x="3048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A05A3624-1F8D-044D-3826-D2622290A6D6}"/>
              </a:ext>
            </a:extLst>
          </p:cNvPr>
          <p:cNvPicPr>
            <a:picLocks/>
          </p:cNvPicPr>
          <p:nvPr/>
        </p:nvPicPr>
        <p:blipFill>
          <a:blip r:embed="rId4"/>
          <a:stretch>
            <a:fillRect/>
          </a:stretch>
        </p:blipFill>
        <p:spPr>
          <a:xfrm>
            <a:off x="355600" y="1447800"/>
            <a:ext cx="304800" cy="304800"/>
          </a:xfrm>
          <a:prstGeom prst="rect">
            <a:avLst/>
          </a:prstGeom>
        </p:spPr>
      </p:pic>
      <p:sp>
        <p:nvSpPr>
          <p:cNvPr id="8" name="TextBox 7">
            <a:extLst>
              <a:ext uri="{FF2B5EF4-FFF2-40B4-BE49-F238E27FC236}">
                <a16:creationId xmlns:a16="http://schemas.microsoft.com/office/drawing/2014/main" id="{F5096DB1-EB16-1721-FA98-FE13B8614827}"/>
              </a:ext>
            </a:extLst>
          </p:cNvPr>
          <p:cNvSpPr txBox="1"/>
          <p:nvPr/>
        </p:nvSpPr>
        <p:spPr>
          <a:xfrm>
            <a:off x="7112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Villagers</a:t>
            </a:r>
          </a:p>
        </p:txBody>
      </p:sp>
      <p:sp>
        <p:nvSpPr>
          <p:cNvPr id="9" name="TextBox 8">
            <a:extLst>
              <a:ext uri="{FF2B5EF4-FFF2-40B4-BE49-F238E27FC236}">
                <a16:creationId xmlns:a16="http://schemas.microsoft.com/office/drawing/2014/main" id="{1D81ADD4-CDC7-4E69-2F13-4074FD5E6CDA}"/>
              </a:ext>
            </a:extLst>
          </p:cNvPr>
          <p:cNvSpPr txBox="1"/>
          <p:nvPr/>
        </p:nvSpPr>
        <p:spPr>
          <a:xfrm>
            <a:off x="3683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Report problems with a photo, check their tap daily, and get alerts and advisories in their own language</a:t>
            </a:r>
            <a:endParaRPr lang="en-IN" sz="85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75A753E3-CF94-05D7-286D-F9733EBAFF4B}"/>
              </a:ext>
            </a:extLst>
          </p:cNvPr>
          <p:cNvSpPr/>
          <p:nvPr/>
        </p:nvSpPr>
        <p:spPr>
          <a:xfrm>
            <a:off x="26289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510A87AB-E7F5-47EE-1D2B-F707DA7C522F}"/>
              </a:ext>
            </a:extLst>
          </p:cNvPr>
          <p:cNvPicPr>
            <a:picLocks/>
          </p:cNvPicPr>
          <p:nvPr/>
        </p:nvPicPr>
        <p:blipFill>
          <a:blip r:embed="rId5"/>
          <a:stretch>
            <a:fillRect/>
          </a:stretch>
        </p:blipFill>
        <p:spPr>
          <a:xfrm>
            <a:off x="2679700" y="1447800"/>
            <a:ext cx="304800" cy="304800"/>
          </a:xfrm>
          <a:prstGeom prst="rect">
            <a:avLst/>
          </a:prstGeom>
        </p:spPr>
      </p:pic>
      <p:sp>
        <p:nvSpPr>
          <p:cNvPr id="16" name="TextBox 15">
            <a:extLst>
              <a:ext uri="{FF2B5EF4-FFF2-40B4-BE49-F238E27FC236}">
                <a16:creationId xmlns:a16="http://schemas.microsoft.com/office/drawing/2014/main" id="{20327744-6D73-CAA9-522A-B0D790A216E6}"/>
              </a:ext>
            </a:extLst>
          </p:cNvPr>
          <p:cNvSpPr txBox="1"/>
          <p:nvPr/>
        </p:nvSpPr>
        <p:spPr>
          <a:xfrm>
            <a:off x="30353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VWSC and Gram Panchayat</a:t>
            </a:r>
          </a:p>
        </p:txBody>
      </p:sp>
      <p:sp>
        <p:nvSpPr>
          <p:cNvPr id="17" name="TextBox 16">
            <a:extLst>
              <a:ext uri="{FF2B5EF4-FFF2-40B4-BE49-F238E27FC236}">
                <a16:creationId xmlns:a16="http://schemas.microsoft.com/office/drawing/2014/main" id="{DB1A2012-A4F6-6B41-7F9F-0C2E6689F832}"/>
              </a:ext>
            </a:extLst>
          </p:cNvPr>
          <p:cNvSpPr txBox="1"/>
          <p:nvPr/>
        </p:nvSpPr>
        <p:spPr>
          <a:xfrm>
            <a:off x="26924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See alerts, household tap status and a ranked repair list; confirm that water is really restored</a:t>
            </a:r>
            <a:endParaRPr lang="en-IN" sz="850">
              <a:solidFill>
                <a:srgbClr val="1F2937"/>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3899F9F8-F129-7EBC-18AC-D78242F6C414}"/>
              </a:ext>
            </a:extLst>
          </p:cNvPr>
          <p:cNvSpPr/>
          <p:nvPr/>
        </p:nvSpPr>
        <p:spPr>
          <a:xfrm>
            <a:off x="49530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4EAA4413-0472-F070-CF16-85B1A3C14B3F}"/>
              </a:ext>
            </a:extLst>
          </p:cNvPr>
          <p:cNvPicPr>
            <a:picLocks/>
          </p:cNvPicPr>
          <p:nvPr/>
        </p:nvPicPr>
        <p:blipFill>
          <a:blip r:embed="rId6"/>
          <a:stretch>
            <a:fillRect/>
          </a:stretch>
        </p:blipFill>
        <p:spPr>
          <a:xfrm>
            <a:off x="5003800" y="1447800"/>
            <a:ext cx="304800" cy="304800"/>
          </a:xfrm>
          <a:prstGeom prst="rect">
            <a:avLst/>
          </a:prstGeom>
        </p:spPr>
      </p:pic>
      <p:sp>
        <p:nvSpPr>
          <p:cNvPr id="21" name="TextBox 20">
            <a:extLst>
              <a:ext uri="{FF2B5EF4-FFF2-40B4-BE49-F238E27FC236}">
                <a16:creationId xmlns:a16="http://schemas.microsoft.com/office/drawing/2014/main" id="{EF53D1F2-7D5D-1EA1-7D16-4D4F3FDF2673}"/>
              </a:ext>
            </a:extLst>
          </p:cNvPr>
          <p:cNvSpPr txBox="1"/>
          <p:nvPr/>
        </p:nvSpPr>
        <p:spPr>
          <a:xfrm>
            <a:off x="53594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Technicians and operators</a:t>
            </a:r>
          </a:p>
        </p:txBody>
      </p:sp>
      <p:sp>
        <p:nvSpPr>
          <p:cNvPr id="22" name="TextBox 21">
            <a:extLst>
              <a:ext uri="{FF2B5EF4-FFF2-40B4-BE49-F238E27FC236}">
                <a16:creationId xmlns:a16="http://schemas.microsoft.com/office/drawing/2014/main" id="{E0A3F3EC-CDDF-4665-6547-1A20CD29D613}"/>
              </a:ext>
            </a:extLst>
          </p:cNvPr>
          <p:cNvSpPr txBox="1"/>
          <p:nvPr/>
        </p:nvSpPr>
        <p:spPr>
          <a:xfrm>
            <a:off x="50165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Receive tasks with the pipeline, evidence and location; close them when readings recover</a:t>
            </a:r>
            <a:endParaRPr lang="en-IN" sz="850">
              <a:solidFill>
                <a:srgbClr val="1F2937"/>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B2E8B219-F467-F272-3A58-527CC422AED3}"/>
              </a:ext>
            </a:extLst>
          </p:cNvPr>
          <p:cNvSpPr/>
          <p:nvPr/>
        </p:nvSpPr>
        <p:spPr>
          <a:xfrm>
            <a:off x="72771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547DC4A1-58E3-CFA3-F580-4DEFE1182739}"/>
              </a:ext>
            </a:extLst>
          </p:cNvPr>
          <p:cNvPicPr>
            <a:picLocks/>
          </p:cNvPicPr>
          <p:nvPr/>
        </p:nvPicPr>
        <p:blipFill>
          <a:blip r:embed="rId7"/>
          <a:stretch>
            <a:fillRect/>
          </a:stretch>
        </p:blipFill>
        <p:spPr>
          <a:xfrm>
            <a:off x="7327900" y="1447800"/>
            <a:ext cx="304800" cy="304800"/>
          </a:xfrm>
          <a:prstGeom prst="rect">
            <a:avLst/>
          </a:prstGeom>
        </p:spPr>
      </p:pic>
      <p:sp>
        <p:nvSpPr>
          <p:cNvPr id="26" name="TextBox 25">
            <a:extLst>
              <a:ext uri="{FF2B5EF4-FFF2-40B4-BE49-F238E27FC236}">
                <a16:creationId xmlns:a16="http://schemas.microsoft.com/office/drawing/2014/main" id="{61486157-7661-CEAD-08EE-229D7481BAD8}"/>
              </a:ext>
            </a:extLst>
          </p:cNvPr>
          <p:cNvSpPr txBox="1"/>
          <p:nvPr/>
        </p:nvSpPr>
        <p:spPr>
          <a:xfrm>
            <a:off x="76835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Implementing agencies</a:t>
            </a:r>
          </a:p>
        </p:txBody>
      </p:sp>
      <p:sp>
        <p:nvSpPr>
          <p:cNvPr id="27" name="TextBox 26">
            <a:extLst>
              <a:ext uri="{FF2B5EF4-FFF2-40B4-BE49-F238E27FC236}">
                <a16:creationId xmlns:a16="http://schemas.microsoft.com/office/drawing/2014/main" id="{FA8EC400-0C02-D519-F7A5-DD358A184270}"/>
              </a:ext>
            </a:extLst>
          </p:cNvPr>
          <p:cNvSpPr txBox="1"/>
          <p:nvPr/>
        </p:nvSpPr>
        <p:spPr>
          <a:xfrm>
            <a:off x="73406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Plan preventive maintenance from risk scores and fault history instead of waiting for breakdowns</a:t>
            </a:r>
            <a:endParaRPr lang="en-IN" sz="85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0DF1FC6A-4AA3-5F94-34B6-3D436934FC25}"/>
              </a:ext>
            </a:extLst>
          </p:cNvPr>
          <p:cNvSpPr/>
          <p:nvPr/>
        </p:nvSpPr>
        <p:spPr>
          <a:xfrm>
            <a:off x="96012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F6D6ED16-AC2B-EBB0-7E20-D018BAAD96D7}"/>
              </a:ext>
            </a:extLst>
          </p:cNvPr>
          <p:cNvPicPr>
            <a:picLocks/>
          </p:cNvPicPr>
          <p:nvPr/>
        </p:nvPicPr>
        <p:blipFill>
          <a:blip r:embed="rId8"/>
          <a:stretch>
            <a:fillRect/>
          </a:stretch>
        </p:blipFill>
        <p:spPr>
          <a:xfrm>
            <a:off x="9652000" y="1447800"/>
            <a:ext cx="304800" cy="304800"/>
          </a:xfrm>
          <a:prstGeom prst="rect">
            <a:avLst/>
          </a:prstGeom>
        </p:spPr>
      </p:pic>
      <p:sp>
        <p:nvSpPr>
          <p:cNvPr id="31" name="TextBox 30">
            <a:extLst>
              <a:ext uri="{FF2B5EF4-FFF2-40B4-BE49-F238E27FC236}">
                <a16:creationId xmlns:a16="http://schemas.microsoft.com/office/drawing/2014/main" id="{C38D746A-D286-37CA-F427-32628BF282CC}"/>
              </a:ext>
            </a:extLst>
          </p:cNvPr>
          <p:cNvSpPr txBox="1"/>
          <p:nvPr/>
        </p:nvSpPr>
        <p:spPr>
          <a:xfrm>
            <a:off x="100076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District and State authorities</a:t>
            </a:r>
          </a:p>
        </p:txBody>
      </p:sp>
      <p:sp>
        <p:nvSpPr>
          <p:cNvPr id="32" name="TextBox 31">
            <a:extLst>
              <a:ext uri="{FF2B5EF4-FFF2-40B4-BE49-F238E27FC236}">
                <a16:creationId xmlns:a16="http://schemas.microsoft.com/office/drawing/2014/main" id="{B1B7D06A-D019-766F-FA66-0AB135E66D52}"/>
              </a:ext>
            </a:extLst>
          </p:cNvPr>
          <p:cNvSpPr txBox="1"/>
          <p:nvPr/>
        </p:nvSpPr>
        <p:spPr>
          <a:xfrm>
            <a:off x="96647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Multi-level analytics and GIS; data prepared for IMIS, Sujal Gaon IDs and the JJM platforms</a:t>
            </a:r>
            <a:endParaRPr lang="en-IN" sz="850">
              <a:solidFill>
                <a:srgbClr val="1F2937"/>
              </a:solidFill>
              <a:latin typeface="Arial" panose="020B0604020202020204" pitchFamily="34" charset="0"/>
            </a:endParaRPr>
          </a:p>
        </p:txBody>
      </p:sp>
      <p:sp>
        <p:nvSpPr>
          <p:cNvPr id="33" name="Rectangle: Rounded Corners 32">
            <a:extLst>
              <a:ext uri="{FF2B5EF4-FFF2-40B4-BE49-F238E27FC236}">
                <a16:creationId xmlns:a16="http://schemas.microsoft.com/office/drawing/2014/main" id="{8FB6ABEF-6254-DF7D-8832-6DAAEEB381D5}"/>
              </a:ext>
            </a:extLst>
          </p:cNvPr>
          <p:cNvSpPr/>
          <p:nvPr/>
        </p:nvSpPr>
        <p:spPr>
          <a:xfrm>
            <a:off x="304800" y="2540000"/>
            <a:ext cx="3759200" cy="1905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1B9436BD-4D3F-2542-C5EF-F24F95DB579F}"/>
              </a:ext>
            </a:extLst>
          </p:cNvPr>
          <p:cNvSpPr/>
          <p:nvPr/>
        </p:nvSpPr>
        <p:spPr>
          <a:xfrm>
            <a:off x="304800" y="2540000"/>
            <a:ext cx="3759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SOCIAL BENEFITS</a:t>
            </a:r>
          </a:p>
        </p:txBody>
      </p:sp>
      <p:sp>
        <p:nvSpPr>
          <p:cNvPr id="35" name="TextBox 34">
            <a:extLst>
              <a:ext uri="{FF2B5EF4-FFF2-40B4-BE49-F238E27FC236}">
                <a16:creationId xmlns:a16="http://schemas.microsoft.com/office/drawing/2014/main" id="{35818C24-7E8D-FA1D-589F-7CD9C1C24BC7}"/>
              </a:ext>
            </a:extLst>
          </p:cNvPr>
          <p:cNvSpPr txBox="1"/>
          <p:nvPr/>
        </p:nvSpPr>
        <p:spPr>
          <a:xfrm>
            <a:off x="3810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Dry taps get fixed sooner, and the villager is told when water is restored</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A voice for every household, in local languages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Boil-water advisory to homes when a field test fails, plus a confirmatory lab test request</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Tail-end homes stop being invisible</a:t>
            </a:r>
            <a:endParaRPr lang="en-IN" sz="1040">
              <a:solidFill>
                <a:srgbClr val="1F2937"/>
              </a:solidFill>
              <a:latin typeface="Arial" panose="020B0604020202020204" pitchFamily="34" charset="0"/>
            </a:endParaRPr>
          </a:p>
        </p:txBody>
      </p:sp>
      <p:sp>
        <p:nvSpPr>
          <p:cNvPr id="36" name="Rectangle: Rounded Corners 35">
            <a:extLst>
              <a:ext uri="{FF2B5EF4-FFF2-40B4-BE49-F238E27FC236}">
                <a16:creationId xmlns:a16="http://schemas.microsoft.com/office/drawing/2014/main" id="{B1A6AF5E-6E41-BC5A-331A-B3B7C7FE5FC8}"/>
              </a:ext>
            </a:extLst>
          </p:cNvPr>
          <p:cNvSpPr/>
          <p:nvPr/>
        </p:nvSpPr>
        <p:spPr>
          <a:xfrm>
            <a:off x="4216400" y="2540000"/>
            <a:ext cx="3759200" cy="1905000"/>
          </a:xfrm>
          <a:prstGeom prst="roundRect">
            <a:avLst>
              <a:gd name="adj" fmla="val 8000"/>
            </a:avLst>
          </a:prstGeom>
          <a:solidFill>
            <a:srgbClr val="E0F2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DBCE62E3-1861-4FF0-C2B2-BF8A845DB047}"/>
              </a:ext>
            </a:extLst>
          </p:cNvPr>
          <p:cNvSpPr/>
          <p:nvPr/>
        </p:nvSpPr>
        <p:spPr>
          <a:xfrm>
            <a:off x="4216400" y="2540000"/>
            <a:ext cx="3759200" cy="2540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ECONOMIC BENEFITS</a:t>
            </a:r>
          </a:p>
        </p:txBody>
      </p:sp>
      <p:sp>
        <p:nvSpPr>
          <p:cNvPr id="38" name="TextBox 37">
            <a:extLst>
              <a:ext uri="{FF2B5EF4-FFF2-40B4-BE49-F238E27FC236}">
                <a16:creationId xmlns:a16="http://schemas.microsoft.com/office/drawing/2014/main" id="{BC155ED6-D392-15D7-F73D-0DBD5B7FB757}"/>
              </a:ext>
            </a:extLst>
          </p:cNvPr>
          <p:cNvSpPr txBox="1"/>
          <p:nvPr/>
        </p:nvSpPr>
        <p:spPr>
          <a:xfrm>
            <a:off x="42926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Inspect the riskiest pipes first: fewer repeat repairs and wasted visits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Leaks near monitored points are flagged earlier</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Less treated water lost to unseen leaks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Evidence replaces guesswork in planning and budgets</a:t>
            </a:r>
            <a:endParaRPr lang="en-IN" sz="1040">
              <a:solidFill>
                <a:srgbClr val="1F2937"/>
              </a:solidFill>
              <a:latin typeface="Arial" panose="020B0604020202020204" pitchFamily="34" charset="0"/>
            </a:endParaRPr>
          </a:p>
        </p:txBody>
      </p:sp>
      <p:sp>
        <p:nvSpPr>
          <p:cNvPr id="39" name="Rectangle: Rounded Corners 38">
            <a:extLst>
              <a:ext uri="{FF2B5EF4-FFF2-40B4-BE49-F238E27FC236}">
                <a16:creationId xmlns:a16="http://schemas.microsoft.com/office/drawing/2014/main" id="{FCFA7740-B77E-CE9C-3308-D967284EA028}"/>
              </a:ext>
            </a:extLst>
          </p:cNvPr>
          <p:cNvSpPr/>
          <p:nvPr/>
        </p:nvSpPr>
        <p:spPr>
          <a:xfrm>
            <a:off x="8128000" y="2540000"/>
            <a:ext cx="3759200" cy="1905000"/>
          </a:xfrm>
          <a:prstGeom prst="roundRect">
            <a:avLst>
              <a:gd name="adj" fmla="val 8000"/>
            </a:avLst>
          </a:prstGeom>
          <a:solidFill>
            <a:srgbClr val="DCFCE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80772518-DF9A-C30F-CBF1-C9BF6A0E94E6}"/>
              </a:ext>
            </a:extLst>
          </p:cNvPr>
          <p:cNvSpPr/>
          <p:nvPr/>
        </p:nvSpPr>
        <p:spPr>
          <a:xfrm>
            <a:off x="8128000" y="2540000"/>
            <a:ext cx="3759200" cy="2540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ENVIRONMENTAL BENEFITS</a:t>
            </a:r>
          </a:p>
        </p:txBody>
      </p:sp>
      <p:sp>
        <p:nvSpPr>
          <p:cNvPr id="41" name="TextBox 40">
            <a:extLst>
              <a:ext uri="{FF2B5EF4-FFF2-40B4-BE49-F238E27FC236}">
                <a16:creationId xmlns:a16="http://schemas.microsoft.com/office/drawing/2014/main" id="{74F3B583-F93E-AB41-FE43-47434D56FD12}"/>
              </a:ext>
            </a:extLst>
          </p:cNvPr>
          <p:cNvSpPr txBox="1"/>
          <p:nvPr/>
        </p:nvSpPr>
        <p:spPr>
          <a:xfrm>
            <a:off x="82042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Early leak detection saves treated water and pumping energy</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Solar-powered nodes: no grid cabling</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Low-power LoRa links and sleep cycles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Measured chlorine helps avoid both under- and over-dosing</a:t>
            </a:r>
            <a:endParaRPr lang="en-IN" sz="1040">
              <a:solidFill>
                <a:srgbClr val="1F2937"/>
              </a:solidFill>
              <a:latin typeface="Arial" panose="020B0604020202020204" pitchFamily="34" charset="0"/>
            </a:endParaRPr>
          </a:p>
        </p:txBody>
      </p:sp>
      <p:sp>
        <p:nvSpPr>
          <p:cNvPr id="42" name="Rectangle: Rounded Corners 41">
            <a:extLst>
              <a:ext uri="{FF2B5EF4-FFF2-40B4-BE49-F238E27FC236}">
                <a16:creationId xmlns:a16="http://schemas.microsoft.com/office/drawing/2014/main" id="{79B728B5-2DBE-72E5-BE2F-640D0AE5BC3D}"/>
              </a:ext>
            </a:extLst>
          </p:cNvPr>
          <p:cNvSpPr/>
          <p:nvPr/>
        </p:nvSpPr>
        <p:spPr>
          <a:xfrm>
            <a:off x="304800" y="4521200"/>
            <a:ext cx="5969000" cy="1473200"/>
          </a:xfrm>
          <a:prstGeom prst="roundRect">
            <a:avLst>
              <a:gd name="adj" fmla="val 8000"/>
            </a:avLst>
          </a:prstGeom>
          <a:solidFill>
            <a:srgbClr val="F5F3FF"/>
          </a:solidFill>
          <a:ln w="9525">
            <a:solidFill>
              <a:srgbClr val="C4B5F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6132C09F-8CBE-8F69-23DC-803F28C6FF2C}"/>
              </a:ext>
            </a:extLst>
          </p:cNvPr>
          <p:cNvSpPr/>
          <p:nvPr/>
        </p:nvSpPr>
        <p:spPr>
          <a:xfrm>
            <a:off x="304800" y="4521200"/>
            <a:ext cx="5969000" cy="2540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1000" b="1">
                <a:solidFill>
                  <a:srgbClr val="FFFFFF"/>
                </a:solidFill>
                <a:latin typeface="Arial" panose="020B0604020202020204" pitchFamily="34" charset="0"/>
              </a:rPr>
              <a:t>EARLY DETECTION AND PREDICTION, THEN ACTION</a:t>
            </a:r>
            <a:endParaRPr lang="en-IN" sz="1000" b="1">
              <a:solidFill>
                <a:srgbClr val="FFFFFF"/>
              </a:solidFill>
              <a:latin typeface="Arial" panose="020B0604020202020204" pitchFamily="34" charset="0"/>
            </a:endParaRPr>
          </a:p>
        </p:txBody>
      </p:sp>
      <p:sp>
        <p:nvSpPr>
          <p:cNvPr id="44" name="Arrow: Pentagon 43">
            <a:extLst>
              <a:ext uri="{FF2B5EF4-FFF2-40B4-BE49-F238E27FC236}">
                <a16:creationId xmlns:a16="http://schemas.microsoft.com/office/drawing/2014/main" id="{32AD8758-D34E-7EC6-5720-7D67687C1A55}"/>
              </a:ext>
            </a:extLst>
          </p:cNvPr>
          <p:cNvSpPr/>
          <p:nvPr/>
        </p:nvSpPr>
        <p:spPr>
          <a:xfrm>
            <a:off x="381000" y="4826000"/>
            <a:ext cx="2032000" cy="279400"/>
          </a:xfrm>
          <a:prstGeom prst="homePlate">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DETECT EARLY</a:t>
            </a:r>
          </a:p>
        </p:txBody>
      </p:sp>
      <p:sp>
        <p:nvSpPr>
          <p:cNvPr id="45" name="TextBox 44">
            <a:extLst>
              <a:ext uri="{FF2B5EF4-FFF2-40B4-BE49-F238E27FC236}">
                <a16:creationId xmlns:a16="http://schemas.microsoft.com/office/drawing/2014/main" id="{0F1B3C72-D697-8450-BAA1-7072E3CF5645}"/>
              </a:ext>
            </a:extLst>
          </p:cNvPr>
          <p:cNvSpPr txBox="1"/>
          <p:nvPr/>
        </p:nvSpPr>
        <p:spPr>
          <a:xfrm>
            <a:off x="406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Acoustic leak noise, pressure trend, chlorine probe and sensor health, before villagers notice</a:t>
            </a:r>
            <a:endParaRPr lang="en-IN" sz="860">
              <a:solidFill>
                <a:srgbClr val="1F2937"/>
              </a:solidFill>
              <a:latin typeface="Arial" panose="020B0604020202020204" pitchFamily="34" charset="0"/>
            </a:endParaRPr>
          </a:p>
        </p:txBody>
      </p:sp>
      <p:sp>
        <p:nvSpPr>
          <p:cNvPr id="46" name="Arrow: Chevron 45">
            <a:extLst>
              <a:ext uri="{FF2B5EF4-FFF2-40B4-BE49-F238E27FC236}">
                <a16:creationId xmlns:a16="http://schemas.microsoft.com/office/drawing/2014/main" id="{59C8DFA9-1227-1ADE-45DA-6641F543CDAF}"/>
              </a:ext>
            </a:extLst>
          </p:cNvPr>
          <p:cNvSpPr/>
          <p:nvPr/>
        </p:nvSpPr>
        <p:spPr>
          <a:xfrm>
            <a:off x="2349500" y="4826000"/>
            <a:ext cx="2032000" cy="279400"/>
          </a:xfrm>
          <a:prstGeom prst="chevron">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PREDICT</a:t>
            </a:r>
          </a:p>
        </p:txBody>
      </p:sp>
      <p:sp>
        <p:nvSpPr>
          <p:cNvPr id="47" name="TextBox 46">
            <a:extLst>
              <a:ext uri="{FF2B5EF4-FFF2-40B4-BE49-F238E27FC236}">
                <a16:creationId xmlns:a16="http://schemas.microsoft.com/office/drawing/2014/main" id="{108F6185-CEB5-DA80-4A81-56EEBD0CEEF5}"/>
              </a:ext>
            </a:extLst>
          </p:cNvPr>
          <p:cNvSpPr txBox="1"/>
          <p:nvPr/>
        </p:nvSpPr>
        <p:spPr>
          <a:xfrm>
            <a:off x="23749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Pressure and chlorine trends; pipes ranked by fault evidence, with an evidence score and what is uncertain</a:t>
            </a:r>
            <a:endParaRPr lang="en-IN" sz="860">
              <a:solidFill>
                <a:srgbClr val="1F2937"/>
              </a:solidFill>
              <a:latin typeface="Arial" panose="020B0604020202020204" pitchFamily="34" charset="0"/>
            </a:endParaRPr>
          </a:p>
        </p:txBody>
      </p:sp>
      <p:sp>
        <p:nvSpPr>
          <p:cNvPr id="48" name="Arrow: Chevron 47">
            <a:extLst>
              <a:ext uri="{FF2B5EF4-FFF2-40B4-BE49-F238E27FC236}">
                <a16:creationId xmlns:a16="http://schemas.microsoft.com/office/drawing/2014/main" id="{11658F2F-E469-4CE1-6F98-D9A1ABF41A1D}"/>
              </a:ext>
            </a:extLst>
          </p:cNvPr>
          <p:cNvSpPr/>
          <p:nvPr/>
        </p:nvSpPr>
        <p:spPr>
          <a:xfrm>
            <a:off x="4318000" y="4826000"/>
            <a:ext cx="2032000" cy="2794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ACT BEFORE IT SPREADS</a:t>
            </a:r>
          </a:p>
        </p:txBody>
      </p:sp>
      <p:sp>
        <p:nvSpPr>
          <p:cNvPr id="49" name="TextBox 48">
            <a:extLst>
              <a:ext uri="{FF2B5EF4-FFF2-40B4-BE49-F238E27FC236}">
                <a16:creationId xmlns:a16="http://schemas.microsoft.com/office/drawing/2014/main" id="{75F4950F-D527-12D3-8179-0E8600A6A1C9}"/>
              </a:ext>
            </a:extLst>
          </p:cNvPr>
          <p:cNvSpPr txBox="1"/>
          <p:nvPr/>
        </p:nvSpPr>
        <p:spPr>
          <a:xfrm>
            <a:off x="4343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Alert, planned inspection, repair, and restoration verified from readings</a:t>
            </a:r>
            <a:endParaRPr lang="en-IN" sz="860">
              <a:solidFill>
                <a:srgbClr val="1F2937"/>
              </a:solidFill>
              <a:latin typeface="Arial" panose="020B0604020202020204" pitchFamily="34" charset="0"/>
            </a:endParaRPr>
          </a:p>
        </p:txBody>
      </p:sp>
      <p:sp>
        <p:nvSpPr>
          <p:cNvPr id="50" name="Rectangle: Rounded Corners 49">
            <a:extLst>
              <a:ext uri="{FF2B5EF4-FFF2-40B4-BE49-F238E27FC236}">
                <a16:creationId xmlns:a16="http://schemas.microsoft.com/office/drawing/2014/main" id="{0432DCE6-4423-6F69-8162-9DF334BB33C9}"/>
              </a:ext>
            </a:extLst>
          </p:cNvPr>
          <p:cNvSpPr/>
          <p:nvPr/>
        </p:nvSpPr>
        <p:spPr>
          <a:xfrm>
            <a:off x="6350000" y="4521200"/>
            <a:ext cx="5537200" cy="1473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F0535BE5-0CED-3695-2450-8658DF02B116}"/>
              </a:ext>
            </a:extLst>
          </p:cNvPr>
          <p:cNvSpPr/>
          <p:nvPr/>
        </p:nvSpPr>
        <p:spPr>
          <a:xfrm>
            <a:off x="6350000" y="4521200"/>
            <a:ext cx="5537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WHAT A PILOT WILL MEASURE</a:t>
            </a:r>
          </a:p>
        </p:txBody>
      </p:sp>
      <p:sp>
        <p:nvSpPr>
          <p:cNvPr id="52" name="Oval 51">
            <a:extLst>
              <a:ext uri="{FF2B5EF4-FFF2-40B4-BE49-F238E27FC236}">
                <a16:creationId xmlns:a16="http://schemas.microsoft.com/office/drawing/2014/main" id="{FBEB071F-1236-AE2D-FD98-677FC35BC905}"/>
              </a:ext>
            </a:extLst>
          </p:cNvPr>
          <p:cNvSpPr/>
          <p:nvPr/>
        </p:nvSpPr>
        <p:spPr>
          <a:xfrm>
            <a:off x="64262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3" name="TextBox 52">
            <a:extLst>
              <a:ext uri="{FF2B5EF4-FFF2-40B4-BE49-F238E27FC236}">
                <a16:creationId xmlns:a16="http://schemas.microsoft.com/office/drawing/2014/main" id="{73F6A6AC-D84D-5F93-6593-BED564EC6248}"/>
              </a:ext>
            </a:extLst>
          </p:cNvPr>
          <p:cNvSpPr txBox="1"/>
          <p:nvPr/>
        </p:nvSpPr>
        <p:spPr>
          <a:xfrm>
            <a:off x="66675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fault to alert, vs complaint-led detection</a:t>
            </a:r>
            <a:endParaRPr lang="en-IN" sz="810">
              <a:solidFill>
                <a:srgbClr val="1F2937"/>
              </a:solidFill>
              <a:latin typeface="Arial" panose="020B0604020202020204" pitchFamily="34" charset="0"/>
            </a:endParaRPr>
          </a:p>
        </p:txBody>
      </p:sp>
      <p:sp>
        <p:nvSpPr>
          <p:cNvPr id="54" name="Oval 53">
            <a:extLst>
              <a:ext uri="{FF2B5EF4-FFF2-40B4-BE49-F238E27FC236}">
                <a16:creationId xmlns:a16="http://schemas.microsoft.com/office/drawing/2014/main" id="{EB3C846E-CF44-5175-CA56-C54099CE4F8B}"/>
              </a:ext>
            </a:extLst>
          </p:cNvPr>
          <p:cNvSpPr/>
          <p:nvPr/>
        </p:nvSpPr>
        <p:spPr>
          <a:xfrm>
            <a:off x="91567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55" name="TextBox 54">
            <a:extLst>
              <a:ext uri="{FF2B5EF4-FFF2-40B4-BE49-F238E27FC236}">
                <a16:creationId xmlns:a16="http://schemas.microsoft.com/office/drawing/2014/main" id="{BC8FB986-241D-BA91-8549-D656CAE56251}"/>
              </a:ext>
            </a:extLst>
          </p:cNvPr>
          <p:cNvSpPr txBox="1"/>
          <p:nvPr/>
        </p:nvSpPr>
        <p:spPr>
          <a:xfrm>
            <a:off x="93980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alert to verified restoration</a:t>
            </a:r>
            <a:endParaRPr lang="en-IN" sz="810">
              <a:solidFill>
                <a:srgbClr val="1F2937"/>
              </a:solidFill>
              <a:latin typeface="Arial" panose="020B0604020202020204" pitchFamily="34" charset="0"/>
            </a:endParaRPr>
          </a:p>
        </p:txBody>
      </p:sp>
      <p:sp>
        <p:nvSpPr>
          <p:cNvPr id="56" name="Oval 55">
            <a:extLst>
              <a:ext uri="{FF2B5EF4-FFF2-40B4-BE49-F238E27FC236}">
                <a16:creationId xmlns:a16="http://schemas.microsoft.com/office/drawing/2014/main" id="{CF1FD130-A60E-0EB5-BAF6-45086967D7EE}"/>
              </a:ext>
            </a:extLst>
          </p:cNvPr>
          <p:cNvSpPr/>
          <p:nvPr/>
        </p:nvSpPr>
        <p:spPr>
          <a:xfrm>
            <a:off x="64262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57" name="TextBox 56">
            <a:extLst>
              <a:ext uri="{FF2B5EF4-FFF2-40B4-BE49-F238E27FC236}">
                <a16:creationId xmlns:a16="http://schemas.microsoft.com/office/drawing/2014/main" id="{0B59669A-5B09-37BF-1CA8-E13584320197}"/>
              </a:ext>
            </a:extLst>
          </p:cNvPr>
          <p:cNvSpPr txBox="1"/>
          <p:nvPr/>
        </p:nvSpPr>
        <p:spPr>
          <a:xfrm>
            <a:off x="66675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IN" sz="810">
                <a:solidFill>
                  <a:srgbClr val="1F2937"/>
                </a:solidFill>
                <a:latin typeface="Arial" panose="020B0604020202020204" pitchFamily="34" charset="0"/>
              </a:rPr>
              <a:t>Share of days each household reports water</a:t>
            </a:r>
          </a:p>
        </p:txBody>
      </p:sp>
      <p:sp>
        <p:nvSpPr>
          <p:cNvPr id="58" name="Oval 57">
            <a:extLst>
              <a:ext uri="{FF2B5EF4-FFF2-40B4-BE49-F238E27FC236}">
                <a16:creationId xmlns:a16="http://schemas.microsoft.com/office/drawing/2014/main" id="{D96358D0-AA6B-06A8-2E2E-F3B187023C0D}"/>
              </a:ext>
            </a:extLst>
          </p:cNvPr>
          <p:cNvSpPr/>
          <p:nvPr/>
        </p:nvSpPr>
        <p:spPr>
          <a:xfrm>
            <a:off x="91567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59" name="TextBox 58">
            <a:extLst>
              <a:ext uri="{FF2B5EF4-FFF2-40B4-BE49-F238E27FC236}">
                <a16:creationId xmlns:a16="http://schemas.microsoft.com/office/drawing/2014/main" id="{DB342030-719B-2925-6396-DA0DEC742F5C}"/>
              </a:ext>
            </a:extLst>
          </p:cNvPr>
          <p:cNvSpPr txBox="1"/>
          <p:nvPr/>
        </p:nvSpPr>
        <p:spPr>
          <a:xfrm>
            <a:off x="93980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False-alarm rate under the two-evidence rule</a:t>
            </a:r>
            <a:endParaRPr lang="en-IN" sz="810">
              <a:solidFill>
                <a:srgbClr val="1F2937"/>
              </a:solidFill>
              <a:latin typeface="Arial" panose="020B0604020202020204" pitchFamily="34" charset="0"/>
            </a:endParaRPr>
          </a:p>
        </p:txBody>
      </p:sp>
      <p:sp>
        <p:nvSpPr>
          <p:cNvPr id="60" name="Oval 59">
            <a:extLst>
              <a:ext uri="{FF2B5EF4-FFF2-40B4-BE49-F238E27FC236}">
                <a16:creationId xmlns:a16="http://schemas.microsoft.com/office/drawing/2014/main" id="{BF8CCCA4-E6E2-81F5-0D51-D935D6F2EB76}"/>
              </a:ext>
            </a:extLst>
          </p:cNvPr>
          <p:cNvSpPr/>
          <p:nvPr/>
        </p:nvSpPr>
        <p:spPr>
          <a:xfrm>
            <a:off x="64262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61" name="TextBox 60">
            <a:extLst>
              <a:ext uri="{FF2B5EF4-FFF2-40B4-BE49-F238E27FC236}">
                <a16:creationId xmlns:a16="http://schemas.microsoft.com/office/drawing/2014/main" id="{6727C98E-D77F-88A5-7B61-46D23189C103}"/>
              </a:ext>
            </a:extLst>
          </p:cNvPr>
          <p:cNvSpPr txBox="1"/>
          <p:nvPr/>
        </p:nvSpPr>
        <p:spPr>
          <a:xfrm>
            <a:off x="66675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Low-chlorine events caught before a kit test</a:t>
            </a:r>
            <a:endParaRPr lang="en-IN" sz="810">
              <a:solidFill>
                <a:srgbClr val="1F2937"/>
              </a:solidFill>
              <a:latin typeface="Arial" panose="020B0604020202020204" pitchFamily="34" charset="0"/>
            </a:endParaRPr>
          </a:p>
        </p:txBody>
      </p:sp>
      <p:sp>
        <p:nvSpPr>
          <p:cNvPr id="62" name="Oval 61">
            <a:extLst>
              <a:ext uri="{FF2B5EF4-FFF2-40B4-BE49-F238E27FC236}">
                <a16:creationId xmlns:a16="http://schemas.microsoft.com/office/drawing/2014/main" id="{69290932-A9E8-7FA2-1447-7D65DE35107D}"/>
              </a:ext>
            </a:extLst>
          </p:cNvPr>
          <p:cNvSpPr/>
          <p:nvPr/>
        </p:nvSpPr>
        <p:spPr>
          <a:xfrm>
            <a:off x="91567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63" name="TextBox 62">
            <a:extLst>
              <a:ext uri="{FF2B5EF4-FFF2-40B4-BE49-F238E27FC236}">
                <a16:creationId xmlns:a16="http://schemas.microsoft.com/office/drawing/2014/main" id="{4ECC83AA-8D62-D846-05E8-632BCD9ED0A8}"/>
              </a:ext>
            </a:extLst>
          </p:cNvPr>
          <p:cNvSpPr txBox="1"/>
          <p:nvPr/>
        </p:nvSpPr>
        <p:spPr>
          <a:xfrm>
            <a:off x="93980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Repairs planned from the ranked risk list</a:t>
            </a:r>
            <a:endParaRPr lang="en-IN" sz="810">
              <a:solidFill>
                <a:srgbClr val="1F2937"/>
              </a:solidFill>
              <a:latin typeface="Arial" panose="020B0604020202020204" pitchFamily="34" charset="0"/>
            </a:endParaRPr>
          </a:p>
        </p:txBody>
      </p:sp>
      <p:sp>
        <p:nvSpPr>
          <p:cNvPr id="17408" name="TextBox 17407">
            <a:extLst>
              <a:ext uri="{FF2B5EF4-FFF2-40B4-BE49-F238E27FC236}">
                <a16:creationId xmlns:a16="http://schemas.microsoft.com/office/drawing/2014/main" id="{59F76EEC-B097-0302-25F8-483894E571E8}"/>
              </a:ext>
            </a:extLst>
          </p:cNvPr>
          <p:cNvSpPr txBox="1"/>
          <p:nvPr/>
        </p:nvSpPr>
        <p:spPr>
          <a:xfrm>
            <a:off x="304800" y="6045200"/>
            <a:ext cx="1524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900" b="1">
                <a:solidFill>
                  <a:srgbClr val="0F766E"/>
                </a:solidFill>
                <a:latin typeface="Arial" panose="020B0604020202020204" pitchFamily="34" charset="0"/>
              </a:rPr>
              <a:t>ROADMAP</a:t>
            </a:r>
          </a:p>
        </p:txBody>
      </p:sp>
      <p:sp>
        <p:nvSpPr>
          <p:cNvPr id="17411" name="Rectangle: Rounded Corners 17410">
            <a:extLst>
              <a:ext uri="{FF2B5EF4-FFF2-40B4-BE49-F238E27FC236}">
                <a16:creationId xmlns:a16="http://schemas.microsoft.com/office/drawing/2014/main" id="{5A323852-A5A7-D88A-ECD7-75F98D32CE14}"/>
              </a:ext>
            </a:extLst>
          </p:cNvPr>
          <p:cNvSpPr/>
          <p:nvPr/>
        </p:nvSpPr>
        <p:spPr>
          <a:xfrm>
            <a:off x="11430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Idea submission</a:t>
            </a:r>
          </a:p>
        </p:txBody>
      </p:sp>
      <p:cxnSp>
        <p:nvCxnSpPr>
          <p:cNvPr id="17412" name="Straight Connector 17411">
            <a:extLst>
              <a:ext uri="{FF2B5EF4-FFF2-40B4-BE49-F238E27FC236}">
                <a16:creationId xmlns:a16="http://schemas.microsoft.com/office/drawing/2014/main" id="{40FB17E4-15FA-7B5C-028F-7D04C7A7E7EF}"/>
              </a:ext>
            </a:extLst>
          </p:cNvPr>
          <p:cNvCxnSpPr/>
          <p:nvPr/>
        </p:nvCxnSpPr>
        <p:spPr>
          <a:xfrm>
            <a:off x="31496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3" name="Rectangle: Rounded Corners 17412">
            <a:extLst>
              <a:ext uri="{FF2B5EF4-FFF2-40B4-BE49-F238E27FC236}">
                <a16:creationId xmlns:a16="http://schemas.microsoft.com/office/drawing/2014/main" id="{15172304-7530-D2DF-C30D-E8EC02CE9054}"/>
              </a:ext>
            </a:extLst>
          </p:cNvPr>
          <p:cNvSpPr/>
          <p:nvPr/>
        </p:nvSpPr>
        <p:spPr>
          <a:xfrm>
            <a:off x="3276600" y="6057900"/>
            <a:ext cx="20066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Working software platform</a:t>
            </a:r>
          </a:p>
        </p:txBody>
      </p:sp>
      <p:cxnSp>
        <p:nvCxnSpPr>
          <p:cNvPr id="17414" name="Straight Connector 17413">
            <a:extLst>
              <a:ext uri="{FF2B5EF4-FFF2-40B4-BE49-F238E27FC236}">
                <a16:creationId xmlns:a16="http://schemas.microsoft.com/office/drawing/2014/main" id="{6EE34DCF-2631-4A03-2AA2-645A2FAB1064}"/>
              </a:ext>
            </a:extLst>
          </p:cNvPr>
          <p:cNvCxnSpPr/>
          <p:nvPr/>
        </p:nvCxnSpPr>
        <p:spPr>
          <a:xfrm>
            <a:off x="52832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5" name="Rectangle: Rounded Corners 17414">
            <a:extLst>
              <a:ext uri="{FF2B5EF4-FFF2-40B4-BE49-F238E27FC236}">
                <a16:creationId xmlns:a16="http://schemas.microsoft.com/office/drawing/2014/main" id="{ADA451BF-544C-182C-1DE3-CE4EFB40D1D3}"/>
              </a:ext>
            </a:extLst>
          </p:cNvPr>
          <p:cNvSpPr/>
          <p:nvPr/>
        </p:nvSpPr>
        <p:spPr>
          <a:xfrm>
            <a:off x="54102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20" b="1">
                <a:solidFill>
                  <a:srgbClr val="FFFFFF"/>
                </a:solidFill>
                <a:latin typeface="Arial" panose="020B0604020202020204" pitchFamily="34" charset="0"/>
              </a:rPr>
              <a:t>Bench rig with real nodes</a:t>
            </a:r>
            <a:endParaRPr lang="en-IN" sz="820" b="1">
              <a:solidFill>
                <a:srgbClr val="FFFFFF"/>
              </a:solidFill>
              <a:latin typeface="Arial" panose="020B0604020202020204" pitchFamily="34" charset="0"/>
            </a:endParaRPr>
          </a:p>
        </p:txBody>
      </p:sp>
      <p:cxnSp>
        <p:nvCxnSpPr>
          <p:cNvPr id="17416" name="Straight Connector 17415">
            <a:extLst>
              <a:ext uri="{FF2B5EF4-FFF2-40B4-BE49-F238E27FC236}">
                <a16:creationId xmlns:a16="http://schemas.microsoft.com/office/drawing/2014/main" id="{CA434A35-7BD6-20ED-7879-C2DA9516E020}"/>
              </a:ext>
            </a:extLst>
          </p:cNvPr>
          <p:cNvCxnSpPr/>
          <p:nvPr/>
        </p:nvCxnSpPr>
        <p:spPr>
          <a:xfrm>
            <a:off x="74168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7" name="Rectangle: Rounded Corners 17416">
            <a:extLst>
              <a:ext uri="{FF2B5EF4-FFF2-40B4-BE49-F238E27FC236}">
                <a16:creationId xmlns:a16="http://schemas.microsoft.com/office/drawing/2014/main" id="{E6A3BC8A-4C12-0D00-CF6D-CD736763D57F}"/>
              </a:ext>
            </a:extLst>
          </p:cNvPr>
          <p:cNvSpPr/>
          <p:nvPr/>
        </p:nvSpPr>
        <p:spPr>
          <a:xfrm>
            <a:off x="75438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Finale demo</a:t>
            </a:r>
          </a:p>
        </p:txBody>
      </p:sp>
      <p:cxnSp>
        <p:nvCxnSpPr>
          <p:cNvPr id="17418" name="Straight Connector 17417">
            <a:extLst>
              <a:ext uri="{FF2B5EF4-FFF2-40B4-BE49-F238E27FC236}">
                <a16:creationId xmlns:a16="http://schemas.microsoft.com/office/drawing/2014/main" id="{AED19E66-BC8E-D803-B379-C1C8149B545F}"/>
              </a:ext>
            </a:extLst>
          </p:cNvPr>
          <p:cNvCxnSpPr/>
          <p:nvPr/>
        </p:nvCxnSpPr>
        <p:spPr>
          <a:xfrm>
            <a:off x="95504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9" name="Rectangle: Rounded Corners 17418">
            <a:extLst>
              <a:ext uri="{FF2B5EF4-FFF2-40B4-BE49-F238E27FC236}">
                <a16:creationId xmlns:a16="http://schemas.microsoft.com/office/drawing/2014/main" id="{81CEE2F3-0554-BFD6-7E48-4544C722523E}"/>
              </a:ext>
            </a:extLst>
          </p:cNvPr>
          <p:cNvSpPr/>
          <p:nvPr/>
        </p:nvSpPr>
        <p:spPr>
          <a:xfrm>
            <a:off x="9677400" y="6057900"/>
            <a:ext cx="2006600" cy="2540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Field pilot</a:t>
            </a:r>
          </a:p>
        </p:txBody>
      </p:sp>
      <p:sp>
        <p:nvSpPr>
          <p:cNvPr id="4" name="TextBox 3">
            <a:extLst>
              <a:ext uri="{FF2B5EF4-FFF2-40B4-BE49-F238E27FC236}">
                <a16:creationId xmlns:a16="http://schemas.microsoft.com/office/drawing/2014/main" id="{B526FB4D-4211-F81D-85D7-170633A5AB74}"/>
              </a:ext>
            </a:extLst>
          </p:cNvPr>
          <p:cNvSpPr txBox="1"/>
          <p:nvPr/>
        </p:nvSpPr>
        <p:spPr>
          <a:xfrm>
            <a:off x="431800" y="5702300"/>
            <a:ext cx="5740400" cy="247247"/>
          </a:xfrm>
          <a:prstGeom prst="rect">
            <a:avLst/>
          </a:prstGeom>
          <a:noFill/>
        </p:spPr>
        <p:txBody>
          <a:bodyPr vert="horz" wrap="square" lIns="25400" tIns="12700" rIns="25400" bIns="12700" rtlCol="0">
            <a:spAutoFit/>
          </a:bodyPr>
          <a:lstStyle/>
          <a:p>
            <a:r>
              <a:rPr lang="en-US" sz="720" b="1">
                <a:solidFill>
                  <a:srgbClr val="6D28D9"/>
                </a:solidFill>
                <a:latin typeface="Arial" panose="020B0604020202020204" pitchFamily="34" charset="0"/>
              </a:rPr>
              <a:t>Next steps: </a:t>
            </a:r>
            <a:r>
              <a:rPr lang="en-US" sz="720">
                <a:solidFill>
                  <a:srgbClr val="1F2A37"/>
                </a:solidFill>
                <a:latin typeface="Arial" panose="020B0604020202020204" pitchFamily="34" charset="0"/>
              </a:rPr>
              <a:t>public village water report card (working taps, repair time, last test; no personal data) and WhatsApp / SMS task alerts to linemen and pump operators</a:t>
            </a:r>
            <a:endParaRPr lang="en-IN" sz="720">
              <a:solidFill>
                <a:srgbClr val="1F2A37"/>
              </a:solidFill>
              <a:latin typeface="Arial" panose="020B0604020202020204" pitchFamily="34" charset="0"/>
            </a:endParaRP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E98EACDB-45CB-6042-483B-470671A2C8F4}"/>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358B6F66-8EE7-1FB4-65EE-9CDB78695CA4}"/>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E57BC858-360C-371A-2CF3-D51A1FDA3AAF}"/>
              </a:ext>
            </a:extLst>
          </p:cNvPr>
          <p:cNvSpPr txBox="1"/>
          <p:nvPr/>
        </p:nvSpPr>
        <p:spPr>
          <a:xfrm>
            <a:off x="304800" y="17145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EB03F12F-0F33-115A-D3B8-CAD9C7EDE073}"/>
              </a:ext>
            </a:extLst>
          </p:cNvPr>
          <p:cNvSpPr txBox="1"/>
          <p:nvPr/>
        </p:nvSpPr>
        <p:spPr>
          <a:xfrm>
            <a:off x="304800" y="20574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44B650C5-CC3F-B1DA-8B7B-B65D71198A49}"/>
              </a:ext>
            </a:extLst>
          </p:cNvPr>
          <p:cNvSpPr txBox="1"/>
          <p:nvPr/>
        </p:nvSpPr>
        <p:spPr>
          <a:xfrm>
            <a:off x="304800" y="24003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10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pmindia.gov.in/en/news_updates/cabinet-approves-extension-of-jal-jeevan-mission...</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7663026B-EA16-C26C-F7CC-14A443F3D4FC}"/>
              </a:ext>
            </a:extLst>
          </p:cNvPr>
          <p:cNvSpPr txBox="1"/>
          <p:nvPr/>
        </p:nvSpPr>
        <p:spPr>
          <a:xfrm>
            <a:off x="304800" y="27432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0C3E71B0-E157-4947-79D7-DA99583687EF}"/>
              </a:ext>
            </a:extLst>
          </p:cNvPr>
          <p:cNvSpPr txBox="1"/>
          <p:nvPr/>
        </p:nvSpPr>
        <p:spPr>
          <a:xfrm>
            <a:off x="304800" y="308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178A04C5-BCCB-2B40-2B83-3EC63BA32FD6}"/>
              </a:ext>
            </a:extLst>
          </p:cNvPr>
          <p:cNvSpPr txBox="1"/>
          <p:nvPr/>
        </p:nvSpPr>
        <p:spPr>
          <a:xfrm>
            <a:off x="304800" y="34290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0568D203-A920-488A-EC2A-DC0EA3911F48}"/>
              </a:ext>
            </a:extLst>
          </p:cNvPr>
          <p:cNvSpPr txBox="1"/>
          <p:nvPr/>
        </p:nvSpPr>
        <p:spPr>
          <a:xfrm>
            <a:off x="304800" y="37719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A02C17AF-4153-70D8-FDBA-2D5702C5194C}"/>
              </a:ext>
            </a:extLst>
          </p:cNvPr>
          <p:cNvSpPr txBox="1"/>
          <p:nvPr/>
        </p:nvSpPr>
        <p:spPr>
          <a:xfrm>
            <a:off x="304800" y="41148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B4FD2D09-B493-FD4B-E1AF-627858E2CAC7}"/>
              </a:ext>
            </a:extLst>
          </p:cNvPr>
          <p:cNvSpPr txBox="1"/>
          <p:nvPr/>
        </p:nvSpPr>
        <p:spPr>
          <a:xfrm>
            <a:off x="304800" y="44577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9C22A740-6854-08C9-FE47-97C3EB612D01}"/>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01255C24-4FD1-1681-8A36-8764EBDCF45E}"/>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B2B49E00-B742-9A45-6EC1-128C818167C0}"/>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08110A21-F1CF-0930-2853-6EDAE6B2FA37}"/>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D8643AD7-8EDD-F62D-179B-C5AE14F81AA8}"/>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7B0C676D-856E-97BD-7797-6E635CB7D724}"/>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E1B7B349-A93A-FB2B-6C2F-C4E553F01F95}"/>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00" b="1">
                <a:solidFill>
                  <a:srgbClr val="0F766E"/>
                </a:solidFill>
                <a:latin typeface="Arial" panose="020B0604020202020204" pitchFamily="34" charset="0"/>
              </a:rPr>
              <a:t>Gram Panchayat: </a:t>
            </a:r>
            <a:r>
              <a:rPr lang="en-IN"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IN" sz="850" b="1">
                <a:solidFill>
                  <a:srgbClr val="1F2937"/>
                </a:solidFill>
                <a:latin typeface="Arial" panose="020B0604020202020204" pitchFamily="34" charset="0"/>
              </a:rPr>
              <a:t>Demo video: </a:t>
            </a:r>
            <a:r>
              <a:rPr lang="en-IN" sz="850">
                <a:solidFill>
                  <a:srgbClr val="1F2937"/>
                </a:solidFill>
                <a:latin typeface="Arial" panose="020B0604020202020204" pitchFamily="34" charset="0"/>
                <a:hlinkClick r:id="rId18"/>
              </a:rPr>
              <a:t>youtu.be/LYlQtrBbpes</a:t>
            </a:r>
            <a:endParaRPr lang="en-IN" sz="850">
              <a:solidFill>
                <a:srgbClr val="1F2937"/>
              </a:solidFill>
              <a:latin typeface="Arial" panose="020B0604020202020204" pitchFamily="34" charset="0"/>
            </a:endParaRPr>
          </a:p>
          <a:p>
            <a:pPr>
              <a:spcBef>
                <a:spcPts val="0"/>
              </a:spcBef>
              <a:spcAft>
                <a:spcPts val="300"/>
              </a:spcAft>
            </a:pPr>
            <a:r>
              <a:rPr lang="en-IN" sz="820" b="1">
                <a:solidFill>
                  <a:srgbClr val="1F2937"/>
                </a:solidFill>
                <a:latin typeface="Arial" panose="020B0604020202020204" pitchFamily="34" charset="0"/>
              </a:rPr>
              <a:t>Source code: </a:t>
            </a:r>
            <a:r>
              <a:rPr lang="en-IN" sz="820">
                <a:solidFill>
                  <a:srgbClr val="1F2937"/>
                </a:solidFill>
                <a:latin typeface="Arial" panose="020B0604020202020204" pitchFamily="34" charset="0"/>
                <a:hlinkClick r:id="rId19"/>
              </a:rPr>
              <a:t>github.com/Thrisha236/JalRakshak</a:t>
            </a:r>
            <a:r>
              <a:rPr lang="en-IN" sz="820">
                <a:solidFill>
                  <a:srgbClr val="1F2937"/>
                </a:solidFill>
                <a:latin typeface="Arial" panose="020B0604020202020204" pitchFamily="34" charset="0"/>
              </a:rPr>
              <a:t> (platform, node firmware, gateway, circuit and architecture files)</a:t>
            </a:r>
          </a:p>
        </p:txBody>
      </p:sp>
      <p:sp>
        <p:nvSpPr>
          <p:cNvPr id="29" name="TextBox 28">
            <a:extLst>
              <a:ext uri="{FF2B5EF4-FFF2-40B4-BE49-F238E27FC236}">
                <a16:creationId xmlns:a16="http://schemas.microsoft.com/office/drawing/2014/main" id="{F8DC1A4D-17C8-E719-2013-FE484A20BC3C}"/>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come from field-test-kit entries: screening indicators that trigger confirmatory laboratory testing, not a safety certification.</a:t>
            </a:r>
            <a:endParaRPr lang="en-IN" sz="800" i="1">
              <a:solidFill>
                <a:srgbClr val="475569"/>
              </a:solidFill>
              <a:latin typeface="Arial" panose="020B0604020202020204" pitchFamily="34" charset="0"/>
            </a:endParaRPr>
          </a:p>
        </p:txBody>
      </p:sp>
      <p:sp>
        <p:nvSpPr>
          <p:cNvPr id="19" name="TextBox 1">
            <a:extLst>
              <a:ext uri="{FF2B5EF4-FFF2-40B4-BE49-F238E27FC236}">
                <a16:creationId xmlns:a16="http://schemas.microsoft.com/office/drawing/2014/main" id="{E98EACDB-45CB-6042-483B-470671A2C8F4}"/>
              </a:ext>
            </a:extLst>
          </p:cNvPr>
          <p:cNvSpPr txBox="1"/>
          <p:nvPr/>
        </p:nvSpPr>
        <p:spPr>
          <a:xfrm>
            <a:off x="304800" y="4828032"/>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Proposed sensor-node hardware (not yet assembled)</a:t>
            </a:r>
            <a:endParaRPr lang="en-IN" sz="1100" b="1">
              <a:solidFill>
                <a:srgbClr val="0F766E"/>
              </a:solidFill>
              <a:latin typeface="Arial" panose="020B0604020202020204" pitchFamily="34" charset="0"/>
            </a:endParaRPr>
          </a:p>
        </p:txBody>
      </p:sp>
      <p:sp>
        <p:nvSpPr>
          <p:cNvPr id="17411" name="TextBox 17410"/>
          <p:cNvSpPr txBox="1"/>
          <p:nvPr/>
        </p:nvSpPr>
        <p:spPr>
          <a:xfrm>
            <a:off x="310896" y="5431536"/>
            <a:ext cx="603504" cy="164592"/>
          </a:xfrm>
          <a:prstGeom prst="rect">
            <a:avLst/>
          </a:prstGeom>
          <a:noFill/>
        </p:spPr>
        <p:txBody>
          <a:bodyPr wrap="none" lIns="0" tIns="0" rIns="0" bIns="0">
            <a:spAutoFit/>
          </a:bodyPr>
          <a:lstStyle/>
          <a:p>
            <a:pPr algn="ctr"/>
            <a:r>
              <a:rPr sz="700" b="1">
                <a:latin typeface="Arial"/>
              </a:rPr>
              <a:t>ESP32</a:t>
            </a:r>
          </a:p>
        </p:txBody>
      </p:sp>
      <p:sp>
        <p:nvSpPr>
          <p:cNvPr id="17413" name="TextBox 17412"/>
          <p:cNvSpPr txBox="1"/>
          <p:nvPr/>
        </p:nvSpPr>
        <p:spPr>
          <a:xfrm>
            <a:off x="886968" y="5431536"/>
            <a:ext cx="603504" cy="164592"/>
          </a:xfrm>
          <a:prstGeom prst="rect">
            <a:avLst/>
          </a:prstGeom>
          <a:noFill/>
        </p:spPr>
        <p:txBody>
          <a:bodyPr wrap="none" lIns="0" tIns="0" rIns="0" bIns="0">
            <a:spAutoFit/>
          </a:bodyPr>
          <a:lstStyle/>
          <a:p>
            <a:pPr algn="ctr"/>
            <a:r>
              <a:rPr sz="700" b="1">
                <a:latin typeface="Arial"/>
              </a:rPr>
              <a:t>LoRa</a:t>
            </a:r>
          </a:p>
        </p:txBody>
      </p:sp>
      <p:sp>
        <p:nvSpPr>
          <p:cNvPr id="17415" name="TextBox 17414"/>
          <p:cNvSpPr txBox="1"/>
          <p:nvPr/>
        </p:nvSpPr>
        <p:spPr>
          <a:xfrm>
            <a:off x="1463039" y="5431536"/>
            <a:ext cx="603504" cy="164592"/>
          </a:xfrm>
          <a:prstGeom prst="rect">
            <a:avLst/>
          </a:prstGeom>
          <a:noFill/>
        </p:spPr>
        <p:txBody>
          <a:bodyPr wrap="none" lIns="0" tIns="0" rIns="0" bIns="0">
            <a:spAutoFit/>
          </a:bodyPr>
          <a:lstStyle/>
          <a:p>
            <a:pPr algn="ctr"/>
            <a:r>
              <a:rPr sz="700" b="1">
                <a:latin typeface="Arial"/>
              </a:rPr>
              <a:t>Pi gateway</a:t>
            </a:r>
          </a:p>
        </p:txBody>
      </p:sp>
      <p:sp>
        <p:nvSpPr>
          <p:cNvPr id="17417" name="TextBox 17416"/>
          <p:cNvSpPr txBox="1"/>
          <p:nvPr/>
        </p:nvSpPr>
        <p:spPr>
          <a:xfrm>
            <a:off x="2039112" y="5431536"/>
            <a:ext cx="603504" cy="164592"/>
          </a:xfrm>
          <a:prstGeom prst="rect">
            <a:avLst/>
          </a:prstGeom>
          <a:noFill/>
        </p:spPr>
        <p:txBody>
          <a:bodyPr wrap="none" lIns="0" tIns="0" rIns="0" bIns="0">
            <a:spAutoFit/>
          </a:bodyPr>
          <a:lstStyle/>
          <a:p>
            <a:pPr algn="ctr"/>
            <a:r>
              <a:rPr sz="700" b="1">
                <a:latin typeface="Arial"/>
              </a:rPr>
              <a:t>Acoustic</a:t>
            </a:r>
          </a:p>
        </p:txBody>
      </p:sp>
      <p:pic>
        <p:nvPicPr>
          <p:cNvPr id="17418" name="Picture 17417" descr="image.png"/>
          <p:cNvPicPr>
            <a:picLocks noChangeAspect="1"/>
          </p:cNvPicPr>
          <p:nvPr/>
        </p:nvPicPr>
        <p:blipFill>
          <a:blip r:embed="rId20"/>
          <a:stretch>
            <a:fillRect/>
          </a:stretch>
        </p:blipFill>
        <p:spPr>
          <a:xfrm>
            <a:off x="2688336" y="5120640"/>
            <a:ext cx="457200" cy="320040"/>
          </a:xfrm>
          <a:prstGeom prst="rect">
            <a:avLst/>
          </a:prstGeom>
        </p:spPr>
      </p:pic>
      <p:sp>
        <p:nvSpPr>
          <p:cNvPr id="17419" name="TextBox 17418"/>
          <p:cNvSpPr txBox="1"/>
          <p:nvPr/>
        </p:nvSpPr>
        <p:spPr>
          <a:xfrm>
            <a:off x="2615184" y="5431536"/>
            <a:ext cx="603504" cy="164592"/>
          </a:xfrm>
          <a:prstGeom prst="rect">
            <a:avLst/>
          </a:prstGeom>
          <a:noFill/>
        </p:spPr>
        <p:txBody>
          <a:bodyPr wrap="none" lIns="0" tIns="0" rIns="0" bIns="0">
            <a:spAutoFit/>
          </a:bodyPr>
          <a:lstStyle/>
          <a:p>
            <a:pPr algn="ctr"/>
            <a:r>
              <a:rPr sz="700" b="1">
                <a:latin typeface="Arial"/>
              </a:rPr>
              <a:t>Chlorine</a:t>
            </a:r>
          </a:p>
        </p:txBody>
      </p:sp>
      <p:sp>
        <p:nvSpPr>
          <p:cNvPr id="17421" name="TextBox 17420"/>
          <p:cNvSpPr txBox="1"/>
          <p:nvPr/>
        </p:nvSpPr>
        <p:spPr>
          <a:xfrm>
            <a:off x="3191256" y="5431536"/>
            <a:ext cx="603504" cy="164592"/>
          </a:xfrm>
          <a:prstGeom prst="rect">
            <a:avLst/>
          </a:prstGeom>
          <a:noFill/>
        </p:spPr>
        <p:txBody>
          <a:bodyPr wrap="none" lIns="0" tIns="0" rIns="0" bIns="0">
            <a:spAutoFit/>
          </a:bodyPr>
          <a:lstStyle/>
          <a:p>
            <a:pPr algn="ctr"/>
            <a:r>
              <a:rPr sz="700" b="1">
                <a:latin typeface="Arial"/>
              </a:rPr>
              <a:t>Pressure</a:t>
            </a:r>
          </a:p>
        </p:txBody>
      </p:sp>
      <p:sp>
        <p:nvSpPr>
          <p:cNvPr id="17423" name="TextBox 17422"/>
          <p:cNvSpPr txBox="1"/>
          <p:nvPr/>
        </p:nvSpPr>
        <p:spPr>
          <a:xfrm>
            <a:off x="3767328" y="5431536"/>
            <a:ext cx="603504" cy="164592"/>
          </a:xfrm>
          <a:prstGeom prst="rect">
            <a:avLst/>
          </a:prstGeom>
          <a:noFill/>
        </p:spPr>
        <p:txBody>
          <a:bodyPr wrap="none" lIns="0" tIns="0" rIns="0" bIns="0">
            <a:spAutoFit/>
          </a:bodyPr>
          <a:lstStyle/>
          <a:p>
            <a:pPr algn="ctr"/>
            <a:r>
              <a:rPr sz="700" b="1">
                <a:latin typeface="Arial"/>
              </a:rPr>
              <a:t>Flow</a:t>
            </a:r>
          </a:p>
        </p:txBody>
      </p:sp>
      <p:sp>
        <p:nvSpPr>
          <p:cNvPr id="17425" name="TextBox 17424"/>
          <p:cNvSpPr txBox="1"/>
          <p:nvPr/>
        </p:nvSpPr>
        <p:spPr>
          <a:xfrm>
            <a:off x="4343400" y="5431536"/>
            <a:ext cx="603504" cy="164592"/>
          </a:xfrm>
          <a:prstGeom prst="rect">
            <a:avLst/>
          </a:prstGeom>
          <a:noFill/>
        </p:spPr>
        <p:txBody>
          <a:bodyPr wrap="none" lIns="0" tIns="0" rIns="0" bIns="0">
            <a:spAutoFit/>
          </a:bodyPr>
          <a:lstStyle/>
          <a:p>
            <a:pPr algn="ctr"/>
            <a:r>
              <a:rPr sz="700" b="1">
                <a:latin typeface="Arial"/>
              </a:rPr>
              <a:t>Tank level</a:t>
            </a:r>
          </a:p>
        </p:txBody>
      </p:sp>
      <p:sp>
        <p:nvSpPr>
          <p:cNvPr id="17427" name="TextBox 17426"/>
          <p:cNvSpPr txBox="1"/>
          <p:nvPr/>
        </p:nvSpPr>
        <p:spPr>
          <a:xfrm>
            <a:off x="4919472" y="5431536"/>
            <a:ext cx="603504" cy="164592"/>
          </a:xfrm>
          <a:prstGeom prst="rect">
            <a:avLst/>
          </a:prstGeom>
          <a:noFill/>
        </p:spPr>
        <p:txBody>
          <a:bodyPr wrap="none" lIns="0" tIns="0" rIns="0" bIns="0">
            <a:spAutoFit/>
          </a:bodyPr>
          <a:lstStyle/>
          <a:p>
            <a:pPr algn="ctr"/>
            <a:r>
              <a:rPr sz="700" b="1">
                <a:latin typeface="Arial"/>
              </a:rPr>
              <a:t>Solar</a:t>
            </a:r>
          </a:p>
        </p:txBody>
      </p:sp>
      <p:sp>
        <p:nvSpPr>
          <p:cNvPr id="17428" name="TextBox 17427"/>
          <p:cNvSpPr txBox="1"/>
          <p:nvPr/>
        </p:nvSpPr>
        <p:spPr>
          <a:xfrm>
            <a:off x="301752" y="5596128"/>
            <a:ext cx="5257800" cy="274320"/>
          </a:xfrm>
          <a:prstGeom prst="rect">
            <a:avLst/>
          </a:prstGeom>
          <a:noFill/>
        </p:spPr>
        <p:txBody>
          <a:bodyPr wrap="square" lIns="0" tIns="0" rIns="0" bIns="0">
            <a:spAutoFit/>
          </a:bodyPr>
          <a:lstStyle/>
          <a:p>
            <a:r>
              <a:rPr sz="700" i="1">
                <a:latin typeface="Arial"/>
              </a:rPr>
              <a:t>ESP32-DevKitC + ADS1115, RFM95W LoRa, 4-20 mA pressure and chlorine probes, pulse water meter, piezo clamp, JSN-SR04T. Vendor photos of single parts, not a built prototype; bench build next.</a:t>
            </a:r>
          </a:p>
        </p:txBody>
      </p:sp>
      <p:pic>
        <p:nvPicPr>
          <p:cNvPr id="17429" name="Picture 17428" descr="image.png"/>
          <p:cNvPicPr>
            <a:picLocks noChangeAspect="1"/>
          </p:cNvPicPr>
          <p:nvPr/>
        </p:nvPicPr>
        <p:blipFill>
          <a:blip r:embed="rId21"/>
          <a:stretch>
            <a:fillRect/>
          </a:stretch>
        </p:blipFill>
        <p:spPr>
          <a:xfrm>
            <a:off x="932688" y="5084064"/>
            <a:ext cx="512064" cy="374904"/>
          </a:xfrm>
          <a:prstGeom prst="rect">
            <a:avLst/>
          </a:prstGeom>
        </p:spPr>
      </p:pic>
      <p:pic>
        <p:nvPicPr>
          <p:cNvPr id="17430" name="Picture 17429" descr="image.png"/>
          <p:cNvPicPr>
            <a:picLocks noChangeAspect="1"/>
          </p:cNvPicPr>
          <p:nvPr/>
        </p:nvPicPr>
        <p:blipFill>
          <a:blip r:embed="rId22"/>
          <a:stretch>
            <a:fillRect/>
          </a:stretch>
        </p:blipFill>
        <p:spPr>
          <a:xfrm>
            <a:off x="1508760" y="5084064"/>
            <a:ext cx="512064" cy="374904"/>
          </a:xfrm>
          <a:prstGeom prst="rect">
            <a:avLst/>
          </a:prstGeom>
        </p:spPr>
      </p:pic>
      <p:pic>
        <p:nvPicPr>
          <p:cNvPr id="17431" name="Picture 17430" descr="image.png"/>
          <p:cNvPicPr>
            <a:picLocks noChangeAspect="1"/>
          </p:cNvPicPr>
          <p:nvPr/>
        </p:nvPicPr>
        <p:blipFill>
          <a:blip r:embed="rId23"/>
          <a:stretch>
            <a:fillRect/>
          </a:stretch>
        </p:blipFill>
        <p:spPr>
          <a:xfrm>
            <a:off x="2084832" y="5084064"/>
            <a:ext cx="512064" cy="374904"/>
          </a:xfrm>
          <a:prstGeom prst="rect">
            <a:avLst/>
          </a:prstGeom>
        </p:spPr>
      </p:pic>
      <p:pic>
        <p:nvPicPr>
          <p:cNvPr id="17432" name="Picture 17431" descr="image.png"/>
          <p:cNvPicPr>
            <a:picLocks noChangeAspect="1"/>
          </p:cNvPicPr>
          <p:nvPr/>
        </p:nvPicPr>
        <p:blipFill>
          <a:blip r:embed="rId24"/>
          <a:stretch>
            <a:fillRect/>
          </a:stretch>
        </p:blipFill>
        <p:spPr>
          <a:xfrm>
            <a:off x="3236976" y="5084064"/>
            <a:ext cx="512064" cy="374904"/>
          </a:xfrm>
          <a:prstGeom prst="rect">
            <a:avLst/>
          </a:prstGeom>
        </p:spPr>
      </p:pic>
      <p:pic>
        <p:nvPicPr>
          <p:cNvPr id="17433" name="Picture 17432" descr="image.png"/>
          <p:cNvPicPr>
            <a:picLocks noChangeAspect="1"/>
          </p:cNvPicPr>
          <p:nvPr/>
        </p:nvPicPr>
        <p:blipFill>
          <a:blip r:embed="rId25"/>
          <a:stretch>
            <a:fillRect/>
          </a:stretch>
        </p:blipFill>
        <p:spPr>
          <a:xfrm>
            <a:off x="3813048" y="5084064"/>
            <a:ext cx="512064" cy="374904"/>
          </a:xfrm>
          <a:prstGeom prst="rect">
            <a:avLst/>
          </a:prstGeom>
        </p:spPr>
      </p:pic>
      <p:pic>
        <p:nvPicPr>
          <p:cNvPr id="17434" name="Picture 17433" descr="image.png"/>
          <p:cNvPicPr>
            <a:picLocks noChangeAspect="1"/>
          </p:cNvPicPr>
          <p:nvPr/>
        </p:nvPicPr>
        <p:blipFill>
          <a:blip r:embed="rId26"/>
          <a:stretch>
            <a:fillRect/>
          </a:stretch>
        </p:blipFill>
        <p:spPr>
          <a:xfrm>
            <a:off x="4389120" y="5084064"/>
            <a:ext cx="512064" cy="374904"/>
          </a:xfrm>
          <a:prstGeom prst="rect">
            <a:avLst/>
          </a:prstGeom>
        </p:spPr>
      </p:pic>
      <p:pic>
        <p:nvPicPr>
          <p:cNvPr id="17435" name="Picture 17434" descr="image.png"/>
          <p:cNvPicPr>
            <a:picLocks noChangeAspect="1"/>
          </p:cNvPicPr>
          <p:nvPr/>
        </p:nvPicPr>
        <p:blipFill>
          <a:blip r:embed="rId27"/>
          <a:stretch>
            <a:fillRect/>
          </a:stretch>
        </p:blipFill>
        <p:spPr>
          <a:xfrm>
            <a:off x="4965192" y="5084064"/>
            <a:ext cx="512064" cy="374904"/>
          </a:xfrm>
          <a:prstGeom prst="rect">
            <a:avLst/>
          </a:prstGeom>
        </p:spPr>
      </p:pic>
      <p:pic>
        <p:nvPicPr>
          <p:cNvPr id="17436" name="Picture 17435" descr="image.png"/>
          <p:cNvPicPr>
            <a:picLocks noChangeAspect="1"/>
          </p:cNvPicPr>
          <p:nvPr/>
        </p:nvPicPr>
        <p:blipFill>
          <a:blip r:embed="rId28"/>
          <a:stretch>
            <a:fillRect/>
          </a:stretch>
        </p:blipFill>
        <p:spPr>
          <a:xfrm>
            <a:off x="356616" y="5084064"/>
            <a:ext cx="512064" cy="374904"/>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1803</Words>
  <Application>Microsoft Office PowerPoint</Application>
  <PresentationFormat>Widescreen</PresentationFormat>
  <Paragraphs>228</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150</cp:revision>
  <dcterms:created xsi:type="dcterms:W3CDTF">2013-12-12T18:46:50Z</dcterms:created>
  <dcterms:modified xsi:type="dcterms:W3CDTF">2026-10-20T11:38:34Z</dcterms:modified>
  <cp:category/>
</cp:coreProperties>
</file>