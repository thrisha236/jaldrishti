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hyperlink" Target="https://youtu.be/LYlQtrBbp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9.png"/><Relationship Id="rId5"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jaljeevanmission.gov.in/sites/default/files/2025-12/FHTC_National%20Report%202024.pdf" TargetMode="External"/><Relationship Id="rId5" Type="http://schemas.openxmlformats.org/officeDocument/2006/relationships/hyperlink" Target="https://www.pib.gov.in/PressReleasePage.aspx?PRID=2298959" TargetMode="External"/><Relationship Id="rId6" Type="http://schemas.openxmlformats.org/officeDocument/2006/relationships/hyperlink" Target="https://www.pib.gov.in/PressReleasePage.aspx?PRID=2209798" TargetMode="External"/><Relationship Id="rId7" Type="http://schemas.openxmlformats.org/officeDocument/2006/relationships/hyperlink" Target="https://www.pmindia.gov.in/en/news_updates/cabinet-approves-extension-of-jal-jeevan-mission-jjm-period-up-to-december-2028-with-enhanced-outlay-and-restructured-implementation-focusing-on-structural-reforms-in-rural-drinking-water-supply-sec/" TargetMode="External"/><Relationship Id="rId8" Type="http://schemas.openxmlformats.org/officeDocument/2006/relationships/hyperlink" Target="https://www.ejalshakti.gov.in/JJMReport/JJMIndia.aspx" TargetMode="External"/><Relationship Id="rId9" Type="http://schemas.openxmlformats.org/officeDocument/2006/relationships/hyperlink" Target="https://www.ejalshakti.gov.in/WQMIS/" TargetMode="External"/><Relationship Id="rId10" Type="http://schemas.openxmlformats.org/officeDocument/2006/relationships/hyperlink" Target="https://www.pib.gov.in/PressReleaseIframePage.aspx?PRID=1708701" TargetMode="External"/><Relationship Id="rId11" Type="http://schemas.openxmlformats.org/officeDocument/2006/relationships/hyperlink" Target="https://jaljeevanmission.gov.in/sites/default/files/2025-05/JalJeevanSamvad-October-2023-en.pdf" TargetMode="External"/><Relationship Id="rId12" Type="http://schemas.openxmlformats.org/officeDocument/2006/relationships/hyperlink" Target="https://www.sciencedirect.com/science/article/pii/S1474706524000160" TargetMode="External"/><Relationship Id="rId13" Type="http://schemas.openxmlformats.org/officeDocument/2006/relationships/hyperlink" Target="https://www.sih.gov.in/sih2026PS" TargetMode="External"/><Relationship Id="rId14" Type="http://schemas.openxmlformats.org/officeDocument/2006/relationships/image" Target="../media/image24.pn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 Id="rId18" Type="http://schemas.openxmlformats.org/officeDocument/2006/relationships/hyperlink" Target="https://youtu.be/LYlQtrBbpes" TargetMode="External"/><Relationship Id="rId19" Type="http://schemas.openxmlformats.org/officeDocument/2006/relationships/hyperlink" Target="https://github.com/Thrisha236/JalRakshak" TargetMode="External"/><Relationship Id="rId20" Type="http://schemas.openxmlformats.org/officeDocument/2006/relationships/image" Target="../media/image10.png"/><Relationship Id="rId21" Type="http://schemas.openxmlformats.org/officeDocument/2006/relationships/image" Target="../media/image11.png"/><Relationship Id="rId22" Type="http://schemas.openxmlformats.org/officeDocument/2006/relationships/image" Target="../media/image12.png"/><Relationship Id="rId23" Type="http://schemas.openxmlformats.org/officeDocument/2006/relationships/image" Target="../media/image13.png"/><Relationship Id="rId24" Type="http://schemas.openxmlformats.org/officeDocument/2006/relationships/image" Target="../media/image14.png"/><Relationship Id="rId25" Type="http://schemas.openxmlformats.org/officeDocument/2006/relationships/image" Target="../media/image15.png"/><Relationship Id="rId26" Type="http://schemas.openxmlformats.org/officeDocument/2006/relationships/image" Target="../media/image16.png"/><Relationship Id="rId27" Type="http://schemas.openxmlformats.org/officeDocument/2006/relationships/image" Target="../media/image17.png"/><Relationship Id="rId28" Type="http://schemas.openxmlformats.org/officeDocument/2006/relationships/image" Target="../media/image18.png"/><Relationship Id="rId29" Type="http://schemas.openxmlformats.org/officeDocument/2006/relationships/image" Target="../media/image28.png"/><Relationship Id="rId30" Type="http://schemas.openxmlformats.org/officeDocument/2006/relationships/image" Target="../media/image29.png"/><Relationship Id="rId31" Type="http://schemas.openxmlformats.org/officeDocument/2006/relationships/image" Target="../media/image30.png"/><Relationship Id="rId32" Type="http://schemas.openxmlformats.org/officeDocument/2006/relationships/image" Target="../media/image31.png"/><Relationship Id="rId33" Type="http://schemas.openxmlformats.org/officeDocument/2006/relationships/image" Target="../media/image32.png"/><Relationship Id="rId34" Type="http://schemas.openxmlformats.org/officeDocument/2006/relationships/image" Target="../media/image33.png"/><Relationship Id="rId35" Type="http://schemas.openxmlformats.org/officeDocument/2006/relationships/image" Target="../media/image34.png"/><Relationship Id="rId36"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a:solidFill>
                  <a:srgbClr val="0F766E"/>
                </a:solidFill>
                <a:latin typeface="Times New Roman" panose="02020603050405020304" pitchFamily="18" charset="0"/>
                <a:cs typeface="Times New Roman" panose="02020603050405020304" pitchFamily="18" charset="0"/>
              </a:rPr>
              <a:t>JalRakshak</a:t>
            </a:r>
            <a:endParaRPr lang="en-IN" b="1" dirty="0">
              <a:solidFill>
                <a:srgbClr val="0F766E"/>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25599"/>
            <a:ext cx="6604000" cy="2922851"/>
          </a:xfrm>
          <a:prstGeom prst="rect">
            <a:avLst/>
          </a:prstGeom>
          <a:noFill/>
        </p:spPr>
        <p:txBody>
          <a:bodyPr wrap="square" rtlCol="0">
            <a:spAutoFit/>
          </a:bodyPr>
          <a:lstStyle/>
          <a:p>
            <a:pPr marL="342900" indent="-342900">
              <a:spcBef>
                <a:spcPts val="0"/>
              </a:spcBef>
              <a:spcAft>
                <a:spcPts val="700"/>
              </a:spcAft>
              <a:buFont typeface="+mj-lt"/>
              <a:buChar char="•"/>
            </a:pPr>
            <a:r>
              <a:rPr lang="en-US" sz="1250" b="1">
                <a:latin typeface="Arial" panose="020B0604020202020204" pitchFamily="34" charset="0"/>
              </a:rPr>
              <a:t>Problem Statement ID - </a:t>
            </a:r>
            <a:r>
              <a:rPr lang="en-US" sz="1250">
                <a:latin typeface="Arial" panose="020B0604020202020204" pitchFamily="34" charset="0"/>
              </a:rPr>
              <a:t>SIH26255</a:t>
            </a:r>
          </a:p>
          <a:p>
            <a:pPr marL="342900" indent="-342900">
              <a:spcBef>
                <a:spcPts val="0"/>
              </a:spcBef>
              <a:spcAft>
                <a:spcPts val="700"/>
              </a:spcAft>
              <a:buFont typeface="+mj-lt"/>
              <a:buChar char="•"/>
            </a:pPr>
            <a:r>
              <a:rPr lang="en-US" sz="1250" b="1">
                <a:latin typeface="Arial" panose="020B0604020202020204" pitchFamily="34" charset="0"/>
              </a:rPr>
              <a:t>Problem Statement Title - </a:t>
            </a:r>
            <a:r>
              <a:rPr lang="en-US" sz="1020">
                <a:latin typeface="Arial" panose="020B0604020202020204" pitchFamily="34" charset="0"/>
              </a:rPr>
              <a:t>Development of a solution using AI and ML to monitor the functionality of FHTC in real time at both the Gram Panchayat and household levels. This solution should provide alerts on water quality issues, allow village members to give feedback through mobile devices, and automatically sync data with IMIS/Sujal Gaon IDs.</a:t>
            </a:r>
          </a:p>
          <a:p>
            <a:pPr marL="342900" indent="-342900">
              <a:spcBef>
                <a:spcPts val="0"/>
              </a:spcBef>
              <a:spcAft>
                <a:spcPts val="700"/>
              </a:spcAft>
              <a:buFont typeface="+mj-lt"/>
              <a:buChar char="•"/>
            </a:pPr>
            <a:r>
              <a:rPr lang="en-US" sz="1250" b="1">
                <a:latin typeface="Arial" panose="020B0604020202020204" pitchFamily="34" charset="0"/>
              </a:rPr>
              <a:t>Organization - </a:t>
            </a:r>
            <a:r>
              <a:rPr lang="en-US" sz="1250">
                <a:latin typeface="Arial" panose="020B0604020202020204" pitchFamily="34" charset="0"/>
              </a:rPr>
              <a:t>Ministry of Jal Shakti (MoJS)</a:t>
            </a:r>
          </a:p>
          <a:p>
            <a:pPr marL="342900" indent="-342900">
              <a:spcBef>
                <a:spcPts val="0"/>
              </a:spcBef>
              <a:spcAft>
                <a:spcPts val="700"/>
              </a:spcAft>
              <a:buFont typeface="+mj-lt"/>
              <a:buChar char="•"/>
            </a:pPr>
            <a:r>
              <a:rPr lang="en-US" sz="1250" b="1">
                <a:latin typeface="Arial" panose="020B0604020202020204" pitchFamily="34" charset="0"/>
              </a:rPr>
              <a:t>Department - </a:t>
            </a:r>
            <a:r>
              <a:rPr lang="en-US" sz="1250">
                <a:latin typeface="Arial" panose="020B0604020202020204" pitchFamily="34" charset="0"/>
              </a:rPr>
              <a:t>National Jal Jeevan Mission (NJJM), Department of Drinking Water &amp; Sanitation (DDWS)</a:t>
            </a:r>
          </a:p>
          <a:p>
            <a:pPr marL="342900" indent="-342900">
              <a:spcBef>
                <a:spcPts val="0"/>
              </a:spcBef>
              <a:spcAft>
                <a:spcPts val="700"/>
              </a:spcAft>
              <a:buFont typeface="+mj-lt"/>
              <a:buChar char="•"/>
            </a:pPr>
            <a:r>
              <a:rPr lang="en-US" sz="1250" b="1">
                <a:latin typeface="Arial" panose="020B0604020202020204" pitchFamily="34" charset="0"/>
              </a:rPr>
              <a:t>Theme - </a:t>
            </a:r>
            <a:r>
              <a:rPr lang="en-US" sz="1250">
                <a:latin typeface="Arial" panose="020B0604020202020204" pitchFamily="34" charset="0"/>
              </a:rPr>
              <a:t>Clean &amp; Green Technology</a:t>
            </a:r>
          </a:p>
          <a:p>
            <a:pPr marL="342900" indent="-342900">
              <a:spcBef>
                <a:spcPts val="0"/>
              </a:spcBef>
              <a:spcAft>
                <a:spcPts val="700"/>
              </a:spcAft>
              <a:buFont typeface="+mj-lt"/>
              <a:buChar char="•"/>
            </a:pPr>
            <a:r>
              <a:rPr lang="en-US" sz="1250" b="1">
                <a:latin typeface="Arial" panose="020B0604020202020204" pitchFamily="34" charset="0"/>
              </a:rPr>
              <a:t>PS Category - </a:t>
            </a:r>
            <a:r>
              <a:rPr lang="en-US" sz="1250">
                <a:latin typeface="Arial" panose="020B0604020202020204" pitchFamily="34" charset="0"/>
              </a:rPr>
              <a:t>Hardware</a:t>
            </a:r>
          </a:p>
          <a:p>
            <a:pPr marL="342900" indent="-342900">
              <a:spcBef>
                <a:spcPts val="0"/>
              </a:spcBef>
              <a:spcAft>
                <a:spcPts val="700"/>
              </a:spcAft>
              <a:buFont typeface="+mj-lt"/>
              <a:buChar char="•"/>
            </a:pPr>
            <a:r>
              <a:rPr lang="en-US" sz="1250" b="1">
                <a:latin typeface="Arial" panose="020B0604020202020204" pitchFamily="34" charset="0"/>
              </a:rPr>
              <a:t>Team ID - </a:t>
            </a:r>
            <a:r>
              <a:rPr lang="en-US" sz="1250">
                <a:latin typeface="Arial" panose="020B0604020202020204" pitchFamily="34" charset="0"/>
              </a:rPr>
              <a:t>158724</a:t>
            </a:r>
          </a:p>
          <a:p>
            <a:pPr marL="342900" indent="-342900">
              <a:spcBef>
                <a:spcPts val="0"/>
              </a:spcBef>
              <a:spcAft>
                <a:spcPts val="700"/>
              </a:spcAft>
              <a:buFont typeface="+mj-lt"/>
              <a:buChar char="•"/>
            </a:pPr>
            <a:r>
              <a:rPr lang="en-US" sz="1250" b="1">
                <a:latin typeface="Arial" panose="020B0604020202020204" pitchFamily="34" charset="0"/>
              </a:rPr>
              <a:t>Team Name - </a:t>
            </a:r>
            <a:r>
              <a:rPr lang="en-US" sz="1250">
                <a:latin typeface="Arial" panose="020B0604020202020204" pitchFamily="34" charset="0"/>
              </a:rPr>
              <a:t>Team Vistaar</a:t>
            </a:r>
            <a:endParaRPr lang="en-IN" sz="125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F2DD4626-7B69-B44E-19E1-256FF0AE70E5}"/>
              </a:ext>
            </a:extLst>
          </p:cNvPr>
          <p:cNvSpPr txBox="1"/>
          <p:nvPr/>
        </p:nvSpPr>
        <p:spPr>
          <a:xfrm>
            <a:off x="1244600" y="1219200"/>
            <a:ext cx="85344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1500" i="1">
                <a:solidFill>
                  <a:srgbClr val="475569"/>
                </a:solidFill>
                <a:latin typeface="Arial" panose="020B0604020202020204" pitchFamily="34" charset="0"/>
              </a:rPr>
              <a:t>Your Water. Your Village. Your Voice.</a:t>
            </a:r>
            <a:endParaRPr lang="en-IN" sz="1500" i="1">
              <a:solidFill>
                <a:srgbClr val="47556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78000" y="0"/>
            <a:ext cx="7874000" cy="1143000"/>
          </a:xfrm>
        </p:spPr>
        <p:txBody>
          <a:bodyPr/>
          <a:lstStyle/>
          <a:p>
            <a:pPr eaLnBrk="1" hangingPunct="1"/>
            <a:r>
              <a:rPr lang="en-US" sz="2600" b="1">
                <a:latin typeface="Times New Roman" panose="02020603050405020304" pitchFamily="18" charset="0"/>
                <a:ea typeface="ＭＳ Ｐゴシック" pitchFamily="1" charset="-128"/>
                <a:cs typeface="Times New Roman" panose="02020603050405020304" pitchFamily="18" charset="0"/>
              </a:rPr>
              <a:t>THE PROBLEM &amp; OUR SOLUTION</a:t>
            </a:r>
            <a:endParaRPr lang="en-US" sz="2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1D8D7631-3565-AD6B-4366-6A368F771303}"/>
              </a:ext>
            </a:extLst>
          </p:cNvPr>
          <p:cNvSpPr/>
          <p:nvPr/>
        </p:nvSpPr>
        <p:spPr>
          <a:xfrm>
            <a:off x="304800" y="1168400"/>
            <a:ext cx="3022600" cy="4038600"/>
          </a:xfrm>
          <a:prstGeom prst="roundRect">
            <a:avLst>
              <a:gd name="adj" fmla="val 8000"/>
            </a:avLst>
          </a:prstGeom>
          <a:solidFill>
            <a:srgbClr val="FFF7F5"/>
          </a:solidFill>
          <a:ln w="9525">
            <a:solidFill>
              <a:srgbClr val="F3C9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FAB86C95-0A4D-BBDC-77EF-51536873A164}"/>
              </a:ext>
            </a:extLst>
          </p:cNvPr>
          <p:cNvSpPr/>
          <p:nvPr/>
        </p:nvSpPr>
        <p:spPr>
          <a:xfrm>
            <a:off x="406400" y="1244600"/>
            <a:ext cx="2819400" cy="279400"/>
          </a:xfrm>
          <a:prstGeom prst="roundRect">
            <a:avLst>
              <a:gd name="adj" fmla="val 8000"/>
            </a:avLst>
          </a:prstGeom>
          <a:solidFill>
            <a:srgbClr val="B91C1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THE PROBLEM</a:t>
            </a:r>
          </a:p>
        </p:txBody>
      </p:sp>
      <p:pic>
        <p:nvPicPr>
          <p:cNvPr id="5" name="Picture 4">
            <a:extLst>
              <a:ext uri="{FF2B5EF4-FFF2-40B4-BE49-F238E27FC236}">
                <a16:creationId xmlns:a16="http://schemas.microsoft.com/office/drawing/2014/main" id="{360A9A9A-B130-3DC5-9B4C-4D4578DE1B8B}"/>
              </a:ext>
            </a:extLst>
          </p:cNvPr>
          <p:cNvPicPr>
            <a:picLocks/>
          </p:cNvPicPr>
          <p:nvPr/>
        </p:nvPicPr>
        <p:blipFill>
          <a:blip r:embed="rId4"/>
          <a:stretch>
            <a:fillRect/>
          </a:stretch>
        </p:blipFill>
        <p:spPr>
          <a:xfrm>
            <a:off x="381000" y="1651000"/>
            <a:ext cx="355600" cy="355600"/>
          </a:xfrm>
          <a:prstGeom prst="rect">
            <a:avLst/>
          </a:prstGeom>
        </p:spPr>
      </p:pic>
      <p:sp>
        <p:nvSpPr>
          <p:cNvPr id="8" name="TextBox 7">
            <a:extLst>
              <a:ext uri="{FF2B5EF4-FFF2-40B4-BE49-F238E27FC236}">
                <a16:creationId xmlns:a16="http://schemas.microsoft.com/office/drawing/2014/main" id="{B676E538-3BA4-9B0E-6748-CE4BF511A671}"/>
              </a:ext>
            </a:extLst>
          </p:cNvPr>
          <p:cNvSpPr txBox="1"/>
          <p:nvPr/>
        </p:nvSpPr>
        <p:spPr>
          <a:xfrm>
            <a:off x="812800" y="15748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Found out too late</a:t>
            </a:r>
          </a:p>
          <a:p>
            <a:pPr>
              <a:spcBef>
                <a:spcPts val="0"/>
              </a:spcBef>
              <a:spcAft>
                <a:spcPts val="300"/>
              </a:spcAft>
            </a:pPr>
            <a:r>
              <a:rPr lang="en-US" sz="770">
                <a:solidFill>
                  <a:srgbClr val="475569"/>
                </a:solidFill>
                <a:latin typeface="Arial" panose="020B0604020202020204" pitchFamily="34" charset="0"/>
              </a:rPr>
              <a:t>Problems surface through periodic reports and field inspections, by which time a tap may be dry for days</a:t>
            </a:r>
            <a:endParaRPr lang="en-IN" sz="770">
              <a:solidFill>
                <a:srgbClr val="475569"/>
              </a:solidFill>
              <a:latin typeface="Arial" panose="020B0604020202020204" pitchFamily="34" charset="0"/>
            </a:endParaRPr>
          </a:p>
        </p:txBody>
      </p:sp>
      <p:pic>
        <p:nvPicPr>
          <p:cNvPr id="13" name="Picture 12">
            <a:extLst>
              <a:ext uri="{FF2B5EF4-FFF2-40B4-BE49-F238E27FC236}">
                <a16:creationId xmlns:a16="http://schemas.microsoft.com/office/drawing/2014/main" id="{03C874ED-6519-F3D8-D599-96CFBFA30C58}"/>
              </a:ext>
            </a:extLst>
          </p:cNvPr>
          <p:cNvPicPr>
            <a:picLocks/>
          </p:cNvPicPr>
          <p:nvPr/>
        </p:nvPicPr>
        <p:blipFill>
          <a:blip r:embed="rId5"/>
          <a:stretch>
            <a:fillRect/>
          </a:stretch>
        </p:blipFill>
        <p:spPr>
          <a:xfrm>
            <a:off x="381000" y="2374900"/>
            <a:ext cx="355600" cy="355600"/>
          </a:xfrm>
          <a:prstGeom prst="rect">
            <a:avLst/>
          </a:prstGeom>
        </p:spPr>
      </p:pic>
      <p:sp>
        <p:nvSpPr>
          <p:cNvPr id="14" name="TextBox 13">
            <a:extLst>
              <a:ext uri="{FF2B5EF4-FFF2-40B4-BE49-F238E27FC236}">
                <a16:creationId xmlns:a16="http://schemas.microsoft.com/office/drawing/2014/main" id="{719586AB-C328-13E1-AC15-B2330F8D1447}"/>
              </a:ext>
            </a:extLst>
          </p:cNvPr>
          <p:cNvSpPr txBox="1"/>
          <p:nvPr/>
        </p:nvSpPr>
        <p:spPr>
          <a:xfrm>
            <a:off x="812800" y="22987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Disruptions nobody sees</a:t>
            </a:r>
          </a:p>
          <a:p>
            <a:pPr>
              <a:spcBef>
                <a:spcPts val="0"/>
              </a:spcBef>
              <a:spcAft>
                <a:spcPts val="300"/>
              </a:spcAft>
            </a:pPr>
            <a:r>
              <a:rPr lang="en-US" sz="770">
                <a:solidFill>
                  <a:srgbClr val="475569"/>
                </a:solidFill>
                <a:latin typeface="Arial" panose="020B0604020202020204" pitchFamily="34" charset="0"/>
              </a:rPr>
              <a:t>Non-functional taps, intermittent supply, poor water quality, low pressure and failing pipes show up only when someone complains</a:t>
            </a:r>
            <a:endParaRPr lang="en-IN" sz="77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AD97F5D7-1C6C-B86D-2AF9-F60AADE98AD6}"/>
              </a:ext>
            </a:extLst>
          </p:cNvPr>
          <p:cNvPicPr>
            <a:picLocks/>
          </p:cNvPicPr>
          <p:nvPr/>
        </p:nvPicPr>
        <p:blipFill>
          <a:blip r:embed="rId6"/>
          <a:stretch>
            <a:fillRect/>
          </a:stretch>
        </p:blipFill>
        <p:spPr>
          <a:xfrm>
            <a:off x="381000" y="3098800"/>
            <a:ext cx="355600" cy="355600"/>
          </a:xfrm>
          <a:prstGeom prst="rect">
            <a:avLst/>
          </a:prstGeom>
        </p:spPr>
      </p:pic>
      <p:sp>
        <p:nvSpPr>
          <p:cNvPr id="17" name="TextBox 16">
            <a:extLst>
              <a:ext uri="{FF2B5EF4-FFF2-40B4-BE49-F238E27FC236}">
                <a16:creationId xmlns:a16="http://schemas.microsoft.com/office/drawing/2014/main" id="{DC0388C5-DC38-0C46-70EB-728BAE50FEB1}"/>
              </a:ext>
            </a:extLst>
          </p:cNvPr>
          <p:cNvSpPr txBox="1"/>
          <p:nvPr/>
        </p:nvSpPr>
        <p:spPr>
          <a:xfrm>
            <a:off x="812800" y="30226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Villagers have no easy voice</a:t>
            </a:r>
          </a:p>
          <a:p>
            <a:pPr>
              <a:spcBef>
                <a:spcPts val="0"/>
              </a:spcBef>
              <a:spcAft>
                <a:spcPts val="300"/>
              </a:spcAft>
            </a:pPr>
            <a:r>
              <a:rPr lang="en-US" sz="770">
                <a:solidFill>
                  <a:srgbClr val="475569"/>
                </a:solidFill>
                <a:latin typeface="Arial" panose="020B0604020202020204" pitchFamily="34" charset="0"/>
              </a:rPr>
              <a:t>No quick way to report a dry tap, share a photo, or confirm that the water really came back</a:t>
            </a:r>
            <a:endParaRPr lang="en-IN" sz="77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0A5B3F85-B826-7F3B-A935-60ED14F1A8E6}"/>
              </a:ext>
            </a:extLst>
          </p:cNvPr>
          <p:cNvPicPr>
            <a:picLocks/>
          </p:cNvPicPr>
          <p:nvPr/>
        </p:nvPicPr>
        <p:blipFill>
          <a:blip r:embed="rId7"/>
          <a:stretch>
            <a:fillRect/>
          </a:stretch>
        </p:blipFill>
        <p:spPr>
          <a:xfrm>
            <a:off x="381000" y="3822700"/>
            <a:ext cx="355600" cy="355600"/>
          </a:xfrm>
          <a:prstGeom prst="rect">
            <a:avLst/>
          </a:prstGeom>
        </p:spPr>
      </p:pic>
      <p:sp>
        <p:nvSpPr>
          <p:cNvPr id="20" name="TextBox 19">
            <a:extLst>
              <a:ext uri="{FF2B5EF4-FFF2-40B4-BE49-F238E27FC236}">
                <a16:creationId xmlns:a16="http://schemas.microsoft.com/office/drawing/2014/main" id="{0F51B1A9-8154-83B0-59DD-EB537BFA626F}"/>
              </a:ext>
            </a:extLst>
          </p:cNvPr>
          <p:cNvSpPr txBox="1"/>
          <p:nvPr/>
        </p:nvSpPr>
        <p:spPr>
          <a:xfrm>
            <a:off x="812800" y="37465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Data sits in separate places</a:t>
            </a:r>
          </a:p>
          <a:p>
            <a:pPr>
              <a:spcBef>
                <a:spcPts val="0"/>
              </a:spcBef>
              <a:spcAft>
                <a:spcPts val="300"/>
              </a:spcAft>
            </a:pPr>
            <a:r>
              <a:rPr lang="en-US" sz="770">
                <a:solidFill>
                  <a:srgbClr val="475569"/>
                </a:solidFill>
                <a:latin typeface="Arial" panose="020B0604020202020204" pitchFamily="34" charset="0"/>
              </a:rPr>
              <a:t>Sensors, mobile apps, water-quality results and citizen feedback are rarely seen together in one village view</a:t>
            </a:r>
            <a:endParaRPr lang="en-IN" sz="770">
              <a:solidFill>
                <a:srgbClr val="475569"/>
              </a:solidFill>
              <a:latin typeface="Arial" panose="020B0604020202020204" pitchFamily="34" charset="0"/>
            </a:endParaRPr>
          </a:p>
        </p:txBody>
      </p:sp>
      <p:pic>
        <p:nvPicPr>
          <p:cNvPr id="22" name="Picture 21">
            <a:extLst>
              <a:ext uri="{FF2B5EF4-FFF2-40B4-BE49-F238E27FC236}">
                <a16:creationId xmlns:a16="http://schemas.microsoft.com/office/drawing/2014/main" id="{351076F3-2EEE-4EE7-566B-A5012C69C69B}"/>
              </a:ext>
            </a:extLst>
          </p:cNvPr>
          <p:cNvPicPr>
            <a:picLocks/>
          </p:cNvPicPr>
          <p:nvPr/>
        </p:nvPicPr>
        <p:blipFill>
          <a:blip r:embed="rId8"/>
          <a:stretch>
            <a:fillRect/>
          </a:stretch>
        </p:blipFill>
        <p:spPr>
          <a:xfrm>
            <a:off x="381000" y="4546600"/>
            <a:ext cx="355600" cy="355600"/>
          </a:xfrm>
          <a:prstGeom prst="rect">
            <a:avLst/>
          </a:prstGeom>
        </p:spPr>
      </p:pic>
      <p:sp>
        <p:nvSpPr>
          <p:cNvPr id="23" name="TextBox 22">
            <a:extLst>
              <a:ext uri="{FF2B5EF4-FFF2-40B4-BE49-F238E27FC236}">
                <a16:creationId xmlns:a16="http://schemas.microsoft.com/office/drawing/2014/main" id="{BEDA1FE0-0470-280D-38DC-D255DFD9D0A6}"/>
              </a:ext>
            </a:extLst>
          </p:cNvPr>
          <p:cNvSpPr txBox="1"/>
          <p:nvPr/>
        </p:nvSpPr>
        <p:spPr>
          <a:xfrm>
            <a:off x="812800" y="44704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A tap is not a service</a:t>
            </a:r>
          </a:p>
          <a:p>
            <a:pPr>
              <a:spcBef>
                <a:spcPts val="0"/>
              </a:spcBef>
              <a:spcAft>
                <a:spcPts val="300"/>
              </a:spcAft>
            </a:pPr>
            <a:r>
              <a:rPr lang="en-US" sz="770">
                <a:solidFill>
                  <a:srgbClr val="475569"/>
                </a:solidFill>
                <a:latin typeface="Arial" panose="020B0604020202020204" pitchFamily="34" charset="0"/>
              </a:rPr>
              <a:t>98.1% of surveyed homes had a tap, yet only 76.0% were assessed as functional [1]</a:t>
            </a:r>
            <a:endParaRPr lang="en-IN" sz="770">
              <a:solidFill>
                <a:srgbClr val="475569"/>
              </a:solidFill>
              <a:latin typeface="Arial" panose="020B0604020202020204" pitchFamily="34" charset="0"/>
            </a:endParaRPr>
          </a:p>
        </p:txBody>
      </p:sp>
      <p:pic>
        <p:nvPicPr>
          <p:cNvPr id="25" name="Picture 24">
            <a:extLst>
              <a:ext uri="{FF2B5EF4-FFF2-40B4-BE49-F238E27FC236}">
                <a16:creationId xmlns:a16="http://schemas.microsoft.com/office/drawing/2014/main" id="{96239B8A-816F-1B32-CBC9-8E8ED257F76C}"/>
              </a:ext>
            </a:extLst>
          </p:cNvPr>
          <p:cNvPicPr>
            <a:picLocks/>
          </p:cNvPicPr>
          <p:nvPr/>
        </p:nvPicPr>
        <p:blipFill>
          <a:blip r:embed="rId9"/>
          <a:stretch>
            <a:fillRect/>
          </a:stretch>
        </p:blipFill>
        <p:spPr>
          <a:xfrm>
            <a:off x="3403600" y="1168400"/>
            <a:ext cx="5207000" cy="4064000"/>
          </a:xfrm>
          <a:prstGeom prst="rect">
            <a:avLst/>
          </a:prstGeom>
          <a:ln w="9525">
            <a:solidFill>
              <a:srgbClr val="CBD5E1"/>
            </a:solidFill>
          </a:ln>
        </p:spPr>
      </p:pic>
      <p:sp>
        <p:nvSpPr>
          <p:cNvPr id="26" name="Rectangle: Rounded Corners 25">
            <a:extLst>
              <a:ext uri="{FF2B5EF4-FFF2-40B4-BE49-F238E27FC236}">
                <a16:creationId xmlns:a16="http://schemas.microsoft.com/office/drawing/2014/main" id="{AF067D67-F196-8DD0-2472-77B80969E7BE}"/>
              </a:ext>
            </a:extLst>
          </p:cNvPr>
          <p:cNvSpPr/>
          <p:nvPr/>
        </p:nvSpPr>
        <p:spPr>
          <a:xfrm>
            <a:off x="8686800" y="1168400"/>
            <a:ext cx="3200400" cy="4038600"/>
          </a:xfrm>
          <a:prstGeom prst="roundRect">
            <a:avLst>
              <a:gd name="adj" fmla="val 8000"/>
            </a:avLst>
          </a:prstGeom>
          <a:solidFill>
            <a:srgbClr val="F3FBF5"/>
          </a:solidFill>
          <a:ln w="9525">
            <a:solidFill>
              <a:srgbClr val="BFE3C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AFDB70C2-2822-82AD-F0BE-4416B04B79DC}"/>
              </a:ext>
            </a:extLst>
          </p:cNvPr>
          <p:cNvSpPr/>
          <p:nvPr/>
        </p:nvSpPr>
        <p:spPr>
          <a:xfrm>
            <a:off x="8788400" y="1244600"/>
            <a:ext cx="2997200" cy="2794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OUR SOLUTION: JALRAKSHAK</a:t>
            </a:r>
          </a:p>
        </p:txBody>
      </p:sp>
      <p:sp>
        <p:nvSpPr>
          <p:cNvPr id="28" name="Oval 27">
            <a:extLst>
              <a:ext uri="{FF2B5EF4-FFF2-40B4-BE49-F238E27FC236}">
                <a16:creationId xmlns:a16="http://schemas.microsoft.com/office/drawing/2014/main" id="{2A9679F5-7614-3CBF-82B2-58D79F6030B1}"/>
              </a:ext>
            </a:extLst>
          </p:cNvPr>
          <p:cNvSpPr/>
          <p:nvPr/>
        </p:nvSpPr>
        <p:spPr>
          <a:xfrm>
            <a:off x="8839200" y="16129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29" name="TextBox 28">
            <a:extLst>
              <a:ext uri="{FF2B5EF4-FFF2-40B4-BE49-F238E27FC236}">
                <a16:creationId xmlns:a16="http://schemas.microsoft.com/office/drawing/2014/main" id="{836BB4AB-28B9-17A3-D4BF-FF74A0F529D9}"/>
              </a:ext>
            </a:extLst>
          </p:cNvPr>
          <p:cNvSpPr txBox="1"/>
          <p:nvPr/>
        </p:nvSpPr>
        <p:spPr>
          <a:xfrm>
            <a:off x="9093200" y="15748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Continuous FHTC monitoring</a:t>
            </a:r>
          </a:p>
          <a:p>
            <a:pPr>
              <a:spcBef>
                <a:spcPts val="0"/>
              </a:spcBef>
              <a:spcAft>
                <a:spcPts val="300"/>
              </a:spcAft>
            </a:pPr>
            <a:r>
              <a:rPr lang="en-US" sz="740">
                <a:solidFill>
                  <a:srgbClr val="475569"/>
                </a:solidFill>
                <a:latin typeface="Arial" panose="020B0604020202020204" pitchFamily="34" charset="0"/>
              </a:rPr>
              <a:t>sensor nodes on the pipeline + a daily villager tap check give household-level status, analysed with AI/ML</a:t>
            </a:r>
            <a:endParaRPr lang="en-IN" sz="740">
              <a:solidFill>
                <a:srgbClr val="475569"/>
              </a:solidFill>
              <a:latin typeface="Arial" panose="020B0604020202020204" pitchFamily="34" charset="0"/>
            </a:endParaRPr>
          </a:p>
        </p:txBody>
      </p:sp>
      <p:sp>
        <p:nvSpPr>
          <p:cNvPr id="30" name="Oval 29">
            <a:extLst>
              <a:ext uri="{FF2B5EF4-FFF2-40B4-BE49-F238E27FC236}">
                <a16:creationId xmlns:a16="http://schemas.microsoft.com/office/drawing/2014/main" id="{B8B1008D-EC33-1579-2153-D8309F77961F}"/>
              </a:ext>
            </a:extLst>
          </p:cNvPr>
          <p:cNvSpPr/>
          <p:nvPr/>
        </p:nvSpPr>
        <p:spPr>
          <a:xfrm>
            <a:off x="8839200" y="21285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31" name="TextBox 30">
            <a:extLst>
              <a:ext uri="{FF2B5EF4-FFF2-40B4-BE49-F238E27FC236}">
                <a16:creationId xmlns:a16="http://schemas.microsoft.com/office/drawing/2014/main" id="{C00EB056-13AC-5FB6-92E0-C7B3E0F2BFF9}"/>
              </a:ext>
            </a:extLst>
          </p:cNvPr>
          <p:cNvSpPr txBox="1"/>
          <p:nvPr/>
        </p:nvSpPr>
        <p:spPr>
          <a:xfrm>
            <a:off x="9093200" y="20904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Real-time alerts</a:t>
            </a:r>
          </a:p>
          <a:p>
            <a:pPr>
              <a:spcBef>
                <a:spcPts val="0"/>
              </a:spcBef>
              <a:spcAft>
                <a:spcPts val="300"/>
              </a:spcAft>
            </a:pPr>
            <a:r>
              <a:rPr lang="en-US" sz="740">
                <a:solidFill>
                  <a:srgbClr val="475569"/>
                </a:solidFill>
                <a:latin typeface="Arial" panose="020B0604020202020204" pitchFamily="34" charset="0"/>
              </a:rPr>
              <a:t>for supply disruption, water quality deterioration, low pressure, leakages and infrastructure failure</a:t>
            </a:r>
            <a:endParaRPr lang="en-IN" sz="740">
              <a:solidFill>
                <a:srgbClr val="475569"/>
              </a:solidFill>
              <a:latin typeface="Arial" panose="020B0604020202020204" pitchFamily="34" charset="0"/>
            </a:endParaRPr>
          </a:p>
        </p:txBody>
      </p:sp>
      <p:sp>
        <p:nvSpPr>
          <p:cNvPr id="32" name="Oval 31">
            <a:extLst>
              <a:ext uri="{FF2B5EF4-FFF2-40B4-BE49-F238E27FC236}">
                <a16:creationId xmlns:a16="http://schemas.microsoft.com/office/drawing/2014/main" id="{0C01DE1F-6ABA-3DC7-BD31-ACD31D243791}"/>
              </a:ext>
            </a:extLst>
          </p:cNvPr>
          <p:cNvSpPr/>
          <p:nvPr/>
        </p:nvSpPr>
        <p:spPr>
          <a:xfrm>
            <a:off x="8839200" y="264414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33" name="TextBox 32">
            <a:extLst>
              <a:ext uri="{FF2B5EF4-FFF2-40B4-BE49-F238E27FC236}">
                <a16:creationId xmlns:a16="http://schemas.microsoft.com/office/drawing/2014/main" id="{A1CCE26B-08A6-B4E6-FD4A-1BE34930FCF3}"/>
              </a:ext>
            </a:extLst>
          </p:cNvPr>
          <p:cNvSpPr txBox="1"/>
          <p:nvPr/>
        </p:nvSpPr>
        <p:spPr>
          <a:xfrm>
            <a:off x="9093200" y="260604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Villagers speak up</a:t>
            </a:r>
          </a:p>
          <a:p>
            <a:pPr>
              <a:spcBef>
                <a:spcPts val="0"/>
              </a:spcBef>
              <a:spcAft>
                <a:spcPts val="300"/>
              </a:spcAft>
            </a:pPr>
            <a:r>
              <a:rPr lang="en-US" sz="740">
                <a:solidFill>
                  <a:srgbClr val="475569"/>
                </a:solidFill>
                <a:latin typeface="Arial" panose="020B0604020202020204" pitchFamily="34" charset="0"/>
              </a:rPr>
              <a:t>feedback, complaints, photographs and geo-tagged observations from a phone, in local languages</a:t>
            </a:r>
            <a:endParaRPr lang="en-IN" sz="740">
              <a:solidFill>
                <a:srgbClr val="475569"/>
              </a:solidFill>
              <a:latin typeface="Arial" panose="020B0604020202020204" pitchFamily="34" charset="0"/>
            </a:endParaRPr>
          </a:p>
        </p:txBody>
      </p:sp>
      <p:sp>
        <p:nvSpPr>
          <p:cNvPr id="34" name="Oval 33">
            <a:extLst>
              <a:ext uri="{FF2B5EF4-FFF2-40B4-BE49-F238E27FC236}">
                <a16:creationId xmlns:a16="http://schemas.microsoft.com/office/drawing/2014/main" id="{1F3CFDA1-1BE6-18E2-16E7-2A4DCC24F466}"/>
              </a:ext>
            </a:extLst>
          </p:cNvPr>
          <p:cNvSpPr/>
          <p:nvPr/>
        </p:nvSpPr>
        <p:spPr>
          <a:xfrm>
            <a:off x="8839200" y="315976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35" name="TextBox 34">
            <a:extLst>
              <a:ext uri="{FF2B5EF4-FFF2-40B4-BE49-F238E27FC236}">
                <a16:creationId xmlns:a16="http://schemas.microsoft.com/office/drawing/2014/main" id="{EFFACB81-2928-2F2E-CB71-50BE453AA4A2}"/>
              </a:ext>
            </a:extLst>
          </p:cNvPr>
          <p:cNvSpPr txBox="1"/>
          <p:nvPr/>
        </p:nvSpPr>
        <p:spPr>
          <a:xfrm>
            <a:off x="9093200" y="312166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Early detection and prediction</a:t>
            </a:r>
          </a:p>
          <a:p>
            <a:pPr>
              <a:spcBef>
                <a:spcPts val="0"/>
              </a:spcBef>
              <a:spcAft>
                <a:spcPts val="300"/>
              </a:spcAft>
            </a:pPr>
            <a:r>
              <a:rPr lang="en-US" sz="740">
                <a:solidFill>
                  <a:srgbClr val="475569"/>
                </a:solidFill>
                <a:latin typeface="Arial" panose="020B0604020202020204" pitchFamily="34" charset="0"/>
              </a:rPr>
              <a:t>AI/ML spots abnormal service patterns early, predicts failures and ranks maintenance</a:t>
            </a:r>
            <a:endParaRPr lang="en-IN" sz="740">
              <a:solidFill>
                <a:srgbClr val="475569"/>
              </a:solidFill>
              <a:latin typeface="Arial" panose="020B0604020202020204" pitchFamily="34" charset="0"/>
            </a:endParaRPr>
          </a:p>
        </p:txBody>
      </p:sp>
      <p:sp>
        <p:nvSpPr>
          <p:cNvPr id="36" name="Oval 35">
            <a:extLst>
              <a:ext uri="{FF2B5EF4-FFF2-40B4-BE49-F238E27FC236}">
                <a16:creationId xmlns:a16="http://schemas.microsoft.com/office/drawing/2014/main" id="{58FDCE4B-ECD0-A95E-8EDF-764B08EAE5D8}"/>
              </a:ext>
            </a:extLst>
          </p:cNvPr>
          <p:cNvSpPr/>
          <p:nvPr/>
        </p:nvSpPr>
        <p:spPr>
          <a:xfrm>
            <a:off x="8839200" y="367538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37" name="TextBox 36">
            <a:extLst>
              <a:ext uri="{FF2B5EF4-FFF2-40B4-BE49-F238E27FC236}">
                <a16:creationId xmlns:a16="http://schemas.microsoft.com/office/drawing/2014/main" id="{5B747987-4DF1-0F7F-73BE-EDCE6B9F0D5F}"/>
              </a:ext>
            </a:extLst>
          </p:cNvPr>
          <p:cNvSpPr txBox="1"/>
          <p:nvPr/>
        </p:nvSpPr>
        <p:spPr>
          <a:xfrm>
            <a:off x="9093200" y="363728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Ready to sync</a:t>
            </a:r>
          </a:p>
          <a:p>
            <a:pPr>
              <a:spcBef>
                <a:spcPts val="0"/>
              </a:spcBef>
              <a:spcAft>
                <a:spcPts val="300"/>
              </a:spcAft>
            </a:pPr>
            <a:r>
              <a:rPr lang="en-US" sz="740">
                <a:solidFill>
                  <a:srgbClr val="475569"/>
                </a:solidFill>
                <a:latin typeface="Arial" panose="020B0604020202020204" pitchFamily="34" charset="0"/>
              </a:rPr>
              <a:t>records keyed to Sujal Gaon IDs; IMIS / JJM adapters built, official API access needed</a:t>
            </a:r>
            <a:endParaRPr lang="en-IN" sz="740">
              <a:solidFill>
                <a:srgbClr val="475569"/>
              </a:solidFill>
              <a:latin typeface="Arial" panose="020B0604020202020204" pitchFamily="34" charset="0"/>
            </a:endParaRPr>
          </a:p>
        </p:txBody>
      </p:sp>
      <p:sp>
        <p:nvSpPr>
          <p:cNvPr id="38" name="Oval 37">
            <a:extLst>
              <a:ext uri="{FF2B5EF4-FFF2-40B4-BE49-F238E27FC236}">
                <a16:creationId xmlns:a16="http://schemas.microsoft.com/office/drawing/2014/main" id="{63E26E38-7801-2261-DD43-A3EBBDB42DAE}"/>
              </a:ext>
            </a:extLst>
          </p:cNvPr>
          <p:cNvSpPr/>
          <p:nvPr/>
        </p:nvSpPr>
        <p:spPr>
          <a:xfrm>
            <a:off x="8839200" y="41910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39" name="TextBox 38">
            <a:extLst>
              <a:ext uri="{FF2B5EF4-FFF2-40B4-BE49-F238E27FC236}">
                <a16:creationId xmlns:a16="http://schemas.microsoft.com/office/drawing/2014/main" id="{3D14F8D6-5F81-84BE-B7E8-9E835AF1BCDB}"/>
              </a:ext>
            </a:extLst>
          </p:cNvPr>
          <p:cNvSpPr txBox="1"/>
          <p:nvPr/>
        </p:nvSpPr>
        <p:spPr>
          <a:xfrm>
            <a:off x="9093200" y="41529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Dashboards for every level</a:t>
            </a:r>
          </a:p>
          <a:p>
            <a:pPr>
              <a:spcBef>
                <a:spcPts val="0"/>
              </a:spcBef>
              <a:spcAft>
                <a:spcPts val="300"/>
              </a:spcAft>
            </a:pPr>
            <a:r>
              <a:rPr lang="en-US" sz="740">
                <a:solidFill>
                  <a:srgbClr val="475569"/>
                </a:solidFill>
                <a:latin typeface="Arial" panose="020B0604020202020204" pitchFamily="34" charset="0"/>
              </a:rPr>
              <a:t>GIS maps, service status indicators and analytics from VWSC to State</a:t>
            </a:r>
            <a:endParaRPr lang="en-IN" sz="740">
              <a:solidFill>
                <a:srgbClr val="475569"/>
              </a:solidFill>
              <a:latin typeface="Arial" panose="020B0604020202020204" pitchFamily="34" charset="0"/>
            </a:endParaRPr>
          </a:p>
        </p:txBody>
      </p:sp>
      <p:sp>
        <p:nvSpPr>
          <p:cNvPr id="40" name="Oval 39">
            <a:extLst>
              <a:ext uri="{FF2B5EF4-FFF2-40B4-BE49-F238E27FC236}">
                <a16:creationId xmlns:a16="http://schemas.microsoft.com/office/drawing/2014/main" id="{A6EF66C5-994E-C348-7F4F-6F251CBA0BE2}"/>
              </a:ext>
            </a:extLst>
          </p:cNvPr>
          <p:cNvSpPr/>
          <p:nvPr/>
        </p:nvSpPr>
        <p:spPr>
          <a:xfrm>
            <a:off x="8839200" y="47066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7</a:t>
            </a:r>
          </a:p>
        </p:txBody>
      </p:sp>
      <p:sp>
        <p:nvSpPr>
          <p:cNvPr id="41" name="TextBox 40">
            <a:extLst>
              <a:ext uri="{FF2B5EF4-FFF2-40B4-BE49-F238E27FC236}">
                <a16:creationId xmlns:a16="http://schemas.microsoft.com/office/drawing/2014/main" id="{7D59985B-26CB-D848-CC69-4854D35B8EF3}"/>
              </a:ext>
            </a:extLst>
          </p:cNvPr>
          <p:cNvSpPr txBox="1"/>
          <p:nvPr/>
        </p:nvSpPr>
        <p:spPr>
          <a:xfrm>
            <a:off x="9093200" y="46685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What is new</a:t>
            </a:r>
          </a:p>
          <a:p>
            <a:pPr>
              <a:spcBef>
                <a:spcPts val="0"/>
              </a:spcBef>
              <a:spcAft>
                <a:spcPts val="300"/>
              </a:spcAft>
            </a:pPr>
            <a:r>
              <a:rPr lang="en-US" sz="740">
                <a:solidFill>
                  <a:srgbClr val="475569"/>
                </a:solidFill>
                <a:latin typeface="Arial" panose="020B0604020202020204" pitchFamily="34" charset="0"/>
              </a:rPr>
              <a:t>Beyond sensor-only IoT pilots: HIGH alerts need sensor + villager evidence; repairs close only when readings recover and villagers confirm</a:t>
            </a:r>
            <a:endParaRPr lang="en-IN" sz="740">
              <a:solidFill>
                <a:srgbClr val="475569"/>
              </a:solidFill>
              <a:latin typeface="Arial" panose="020B0604020202020204" pitchFamily="34" charset="0"/>
            </a:endParaRPr>
          </a:p>
        </p:txBody>
      </p:sp>
      <p:sp>
        <p:nvSpPr>
          <p:cNvPr id="42" name="Arrow: Pentagon 41">
            <a:extLst>
              <a:ext uri="{FF2B5EF4-FFF2-40B4-BE49-F238E27FC236}">
                <a16:creationId xmlns:a16="http://schemas.microsoft.com/office/drawing/2014/main" id="{E27E1B96-8E3D-B32B-4405-A0AEB87A9CC4}"/>
              </a:ext>
            </a:extLst>
          </p:cNvPr>
          <p:cNvSpPr/>
          <p:nvPr/>
        </p:nvSpPr>
        <p:spPr>
          <a:xfrm>
            <a:off x="304800" y="5308600"/>
            <a:ext cx="1701800" cy="508000"/>
          </a:xfrm>
          <a:prstGeom prst="homePlat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SENSE</a:t>
            </a:r>
          </a:p>
          <a:p>
            <a:pPr algn="ctr">
              <a:spcBef>
                <a:spcPts val="0"/>
              </a:spcBef>
              <a:spcAft>
                <a:spcPts val="300"/>
              </a:spcAft>
            </a:pPr>
            <a:r>
              <a:rPr lang="en-IN" sz="750">
                <a:solidFill>
                  <a:srgbClr val="FFFFFF"/>
                </a:solidFill>
                <a:latin typeface="Arial" panose="020B0604020202020204" pitchFamily="34" charset="0"/>
              </a:rPr>
              <a:t>Nodes + villagers</a:t>
            </a:r>
          </a:p>
        </p:txBody>
      </p:sp>
      <p:sp>
        <p:nvSpPr>
          <p:cNvPr id="43" name="Arrow: Chevron 42">
            <a:extLst>
              <a:ext uri="{FF2B5EF4-FFF2-40B4-BE49-F238E27FC236}">
                <a16:creationId xmlns:a16="http://schemas.microsoft.com/office/drawing/2014/main" id="{439E2315-C3BB-4492-C6F7-B528BEF2ED99}"/>
              </a:ext>
            </a:extLst>
          </p:cNvPr>
          <p:cNvSpPr/>
          <p:nvPr/>
        </p:nvSpPr>
        <p:spPr>
          <a:xfrm>
            <a:off x="19304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UNDERSTAND</a:t>
            </a:r>
          </a:p>
          <a:p>
            <a:pPr algn="ctr">
              <a:spcBef>
                <a:spcPts val="0"/>
              </a:spcBef>
              <a:spcAft>
                <a:spcPts val="300"/>
              </a:spcAft>
            </a:pPr>
            <a:r>
              <a:rPr lang="en-IN" sz="750">
                <a:solidFill>
                  <a:srgbClr val="FFFFFF"/>
                </a:solidFill>
                <a:latin typeface="Arial" panose="020B0604020202020204" pitchFamily="34" charset="0"/>
              </a:rPr>
              <a:t>Rules + AI/ML</a:t>
            </a:r>
          </a:p>
        </p:txBody>
      </p:sp>
      <p:sp>
        <p:nvSpPr>
          <p:cNvPr id="44" name="Arrow: Chevron 43">
            <a:extLst>
              <a:ext uri="{FF2B5EF4-FFF2-40B4-BE49-F238E27FC236}">
                <a16:creationId xmlns:a16="http://schemas.microsoft.com/office/drawing/2014/main" id="{F8723974-1F8A-4B54-4CC7-E39F50DBD76D}"/>
              </a:ext>
            </a:extLst>
          </p:cNvPr>
          <p:cNvSpPr/>
          <p:nvPr/>
        </p:nvSpPr>
        <p:spPr>
          <a:xfrm>
            <a:off x="35560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ALERT</a:t>
            </a:r>
          </a:p>
          <a:p>
            <a:pPr algn="ctr">
              <a:spcBef>
                <a:spcPts val="0"/>
              </a:spcBef>
              <a:spcAft>
                <a:spcPts val="300"/>
              </a:spcAft>
            </a:pPr>
            <a:r>
              <a:rPr lang="en-IN" sz="750">
                <a:solidFill>
                  <a:srgbClr val="FFFFFF"/>
                </a:solidFill>
                <a:latin typeface="Arial" panose="020B0604020202020204" pitchFamily="34" charset="0"/>
              </a:rPr>
              <a:t>Alert Center</a:t>
            </a:r>
          </a:p>
        </p:txBody>
      </p:sp>
      <p:sp>
        <p:nvSpPr>
          <p:cNvPr id="45" name="Arrow: Chevron 44">
            <a:extLst>
              <a:ext uri="{FF2B5EF4-FFF2-40B4-BE49-F238E27FC236}">
                <a16:creationId xmlns:a16="http://schemas.microsoft.com/office/drawing/2014/main" id="{B82B4A0C-5B41-5EDD-4677-1160801922A3}"/>
              </a:ext>
            </a:extLst>
          </p:cNvPr>
          <p:cNvSpPr/>
          <p:nvPr/>
        </p:nvSpPr>
        <p:spPr>
          <a:xfrm>
            <a:off x="51816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REPORT</a:t>
            </a:r>
          </a:p>
          <a:p>
            <a:pPr algn="ctr">
              <a:spcBef>
                <a:spcPts val="0"/>
              </a:spcBef>
              <a:spcAft>
                <a:spcPts val="300"/>
              </a:spcAft>
            </a:pPr>
            <a:r>
              <a:rPr lang="en-IN" sz="750">
                <a:solidFill>
                  <a:srgbClr val="FFFFFF"/>
                </a:solidFill>
                <a:latin typeface="Arial" panose="020B0604020202020204" pitchFamily="34" charset="0"/>
              </a:rPr>
              <a:t>IMIS / JJM platforms</a:t>
            </a:r>
          </a:p>
        </p:txBody>
      </p:sp>
      <p:sp>
        <p:nvSpPr>
          <p:cNvPr id="46" name="Arrow: Chevron 45">
            <a:extLst>
              <a:ext uri="{FF2B5EF4-FFF2-40B4-BE49-F238E27FC236}">
                <a16:creationId xmlns:a16="http://schemas.microsoft.com/office/drawing/2014/main" id="{12E147C6-B007-D4DD-FACB-D547EE785DEB}"/>
              </a:ext>
            </a:extLst>
          </p:cNvPr>
          <p:cNvSpPr/>
          <p:nvPr/>
        </p:nvSpPr>
        <p:spPr>
          <a:xfrm>
            <a:off x="68072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FIX</a:t>
            </a:r>
          </a:p>
          <a:p>
            <a:pPr algn="ctr">
              <a:spcBef>
                <a:spcPts val="0"/>
              </a:spcBef>
              <a:spcAft>
                <a:spcPts val="300"/>
              </a:spcAft>
            </a:pPr>
            <a:r>
              <a:rPr lang="en-IN" sz="750">
                <a:solidFill>
                  <a:srgbClr val="FFFFFF"/>
                </a:solidFill>
                <a:latin typeface="Arial" panose="020B0604020202020204" pitchFamily="34" charset="0"/>
              </a:rPr>
              <a:t>Task + repair</a:t>
            </a:r>
          </a:p>
        </p:txBody>
      </p:sp>
      <p:sp>
        <p:nvSpPr>
          <p:cNvPr id="47" name="Arrow: Chevron 46">
            <a:extLst>
              <a:ext uri="{FF2B5EF4-FFF2-40B4-BE49-F238E27FC236}">
                <a16:creationId xmlns:a16="http://schemas.microsoft.com/office/drawing/2014/main" id="{9575663A-B7A2-4DF4-9E53-010D8EEE0FD9}"/>
              </a:ext>
            </a:extLst>
          </p:cNvPr>
          <p:cNvSpPr/>
          <p:nvPr/>
        </p:nvSpPr>
        <p:spPr>
          <a:xfrm>
            <a:off x="8432800" y="5308600"/>
            <a:ext cx="1701800" cy="5080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VERIFY</a:t>
            </a:r>
          </a:p>
          <a:p>
            <a:pPr algn="ctr">
              <a:spcBef>
                <a:spcPts val="0"/>
              </a:spcBef>
              <a:spcAft>
                <a:spcPts val="300"/>
              </a:spcAft>
            </a:pPr>
            <a:r>
              <a:rPr lang="en-IN" sz="750">
                <a:solidFill>
                  <a:srgbClr val="FFFFFF"/>
                </a:solidFill>
                <a:latin typeface="Arial" panose="020B0604020202020204" pitchFamily="34" charset="0"/>
              </a:rPr>
              <a:t>Readings recover</a:t>
            </a:r>
          </a:p>
        </p:txBody>
      </p:sp>
      <p:sp>
        <p:nvSpPr>
          <p:cNvPr id="48" name="Rectangle: Rounded Corners 47">
            <a:extLst>
              <a:ext uri="{FF2B5EF4-FFF2-40B4-BE49-F238E27FC236}">
                <a16:creationId xmlns:a16="http://schemas.microsoft.com/office/drawing/2014/main" id="{DE9F5F18-E430-D281-9D1B-B94C58A968AA}"/>
              </a:ext>
            </a:extLst>
          </p:cNvPr>
          <p:cNvSpPr/>
          <p:nvPr/>
        </p:nvSpPr>
        <p:spPr>
          <a:xfrm>
            <a:off x="10160000" y="5308600"/>
            <a:ext cx="1727200" cy="508000"/>
          </a:xfrm>
          <a:prstGeom prst="roundRect">
            <a:avLst>
              <a:gd name="adj" fmla="val 8000"/>
            </a:avLst>
          </a:prstGeom>
          <a:solidFill>
            <a:srgbClr val="FFFFFF"/>
          </a:solidFill>
          <a:ln w="9525">
            <a:solidFill>
              <a:srgbClr val="0070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00" b="1">
                <a:solidFill>
                  <a:srgbClr val="0070C0"/>
                </a:solidFill>
                <a:latin typeface="Arial" panose="020B0604020202020204" pitchFamily="34" charset="0"/>
              </a:rPr>
              <a:t>DEMO VIDEO (YouTube)</a:t>
            </a:r>
          </a:p>
          <a:p>
            <a:pPr algn="ctr">
              <a:spcBef>
                <a:spcPts val="0"/>
              </a:spcBef>
              <a:spcAft>
                <a:spcPts val="300"/>
              </a:spcAft>
            </a:pPr>
            <a:r>
              <a:rPr lang="en-IN" sz="850">
                <a:solidFill>
                  <a:srgbClr val="0070C0"/>
                </a:solidFill>
                <a:latin typeface="Arial" panose="020B0604020202020204" pitchFamily="34" charset="0"/>
                <a:hlinkClick r:id="rId10"/>
              </a:rPr>
              <a:t>youtu.be/LYlQtrBbpes</a:t>
            </a:r>
            <a:endParaRPr lang="en-IN" sz="850">
              <a:solidFill>
                <a:srgbClr val="0070C0"/>
              </a:solidFill>
              <a:latin typeface="Arial" panose="020B0604020202020204" pitchFamily="34" charset="0"/>
            </a:endParaRPr>
          </a:p>
        </p:txBody>
      </p:sp>
      <p:sp>
        <p:nvSpPr>
          <p:cNvPr id="49" name="TextBox 48">
            <a:extLst>
              <a:ext uri="{FF2B5EF4-FFF2-40B4-BE49-F238E27FC236}">
                <a16:creationId xmlns:a16="http://schemas.microsoft.com/office/drawing/2014/main" id="{14AF3C94-D96B-23D0-42F5-45AA87DFBCEB}"/>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00" b="1">
                <a:solidFill>
                  <a:srgbClr val="0F766E"/>
                </a:solidFill>
                <a:latin typeface="Arial" panose="020B0604020202020204" pitchFamily="34" charset="0"/>
              </a:rPr>
              <a:t>For: </a:t>
            </a:r>
            <a:r>
              <a:rPr lang="en-US" sz="900">
                <a:solidFill>
                  <a:srgbClr val="1F2937"/>
                </a:solidFill>
                <a:latin typeface="Arial" panose="020B0604020202020204" pitchFamily="34" charset="0"/>
              </a:rPr>
              <a:t>Village Water &amp; Sanitation Committees (VWSCs), Gram Panchayats, implementing agencies and State authorities.</a:t>
            </a:r>
          </a:p>
          <a:p>
            <a:pPr>
              <a:spcBef>
                <a:spcPts val="0"/>
              </a:spcBef>
              <a:spcAft>
                <a:spcPts val="300"/>
              </a:spcAft>
            </a:pPr>
            <a:r>
              <a:rPr lang="en-US" sz="750" i="1">
                <a:solidFill>
                  <a:srgbClr val="475569"/>
                </a:solidFill>
                <a:latin typeface="Arial" panose="020B0604020202020204" pitchFamily="34" charset="0"/>
              </a:rPr>
              <a:t>[1] DDWS, Functionality Assessment of Household Tap Connection, National Report 2024 (weighted sample estimates).</a:t>
            </a:r>
            <a:endParaRPr lang="en-IN" sz="750" i="1">
              <a:solidFill>
                <a:srgbClr val="47556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F6795E78-6E7F-D163-D64D-81BC418E6362}"/>
              </a:ext>
            </a:extLst>
          </p:cNvPr>
          <p:cNvPicPr>
            <a:picLocks/>
          </p:cNvPicPr>
          <p:nvPr/>
        </p:nvPicPr>
        <p:blipFill>
          <a:blip r:embed="rId4"/>
          <a:stretch>
            <a:fillRect/>
          </a:stretch>
        </p:blipFill>
        <p:spPr>
          <a:xfrm>
            <a:off x="304800" y="1143000"/>
            <a:ext cx="11582400" cy="3276600"/>
          </a:xfrm>
          <a:prstGeom prst="rect">
            <a:avLst/>
          </a:prstGeom>
          <a:ln w="9525">
            <a:solidFill>
              <a:srgbClr val="CBD5E1"/>
            </a:solidFill>
          </a:ln>
        </p:spPr>
      </p:pic>
      <p:sp>
        <p:nvSpPr>
          <p:cNvPr id="4" name="Rectangle: Rounded Corners 3">
            <a:extLst>
              <a:ext uri="{FF2B5EF4-FFF2-40B4-BE49-F238E27FC236}">
                <a16:creationId xmlns:a16="http://schemas.microsoft.com/office/drawing/2014/main" id="{2A93B718-3268-D914-E488-EA825FC2C0DB}"/>
              </a:ext>
            </a:extLst>
          </p:cNvPr>
          <p:cNvSpPr/>
          <p:nvPr/>
        </p:nvSpPr>
        <p:spPr>
          <a:xfrm>
            <a:off x="304800" y="4495800"/>
            <a:ext cx="11582400" cy="1854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7072C13-C0C5-1650-CF96-671AAD87683D}"/>
              </a:ext>
            </a:extLst>
          </p:cNvPr>
          <p:cNvSpPr txBox="1"/>
          <p:nvPr/>
        </p:nvSpPr>
        <p:spPr>
          <a:xfrm>
            <a:off x="381000" y="45466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Proposed hardware and how it connects (firmware tested in simulation; bench build next; circuit on the next slide)</a:t>
            </a:r>
            <a:endParaRPr lang="en-IN" sz="1150" b="1">
              <a:solidFill>
                <a:srgbClr val="0F766E"/>
              </a:solidFill>
              <a:latin typeface="Arial" panose="020B0604020202020204" pitchFamily="34" charset="0"/>
            </a:endParaRPr>
          </a:p>
        </p:txBody>
      </p:sp>
      <p:pic>
        <p:nvPicPr>
          <p:cNvPr id="9" name="Picture 8">
            <a:extLst>
              <a:ext uri="{FF2B5EF4-FFF2-40B4-BE49-F238E27FC236}">
                <a16:creationId xmlns:a16="http://schemas.microsoft.com/office/drawing/2014/main" id="{369A7FF8-5758-4640-A757-716EF572D6A9}"/>
              </a:ext>
            </a:extLst>
          </p:cNvPr>
          <p:cNvPicPr>
            <a:picLocks/>
          </p:cNvPicPr>
          <p:nvPr/>
        </p:nvPicPr>
        <p:blipFill>
          <a:blip r:embed="rId5"/>
          <a:stretch>
            <a:fillRect/>
          </a:stretch>
        </p:blipFill>
        <p:spPr>
          <a:xfrm>
            <a:off x="558800" y="4800600"/>
            <a:ext cx="838200" cy="584200"/>
          </a:xfrm>
          <a:prstGeom prst="rect">
            <a:avLst/>
          </a:prstGeom>
        </p:spPr>
      </p:pic>
      <p:sp>
        <p:nvSpPr>
          <p:cNvPr id="13" name="TextBox 12">
            <a:extLst>
              <a:ext uri="{FF2B5EF4-FFF2-40B4-BE49-F238E27FC236}">
                <a16:creationId xmlns:a16="http://schemas.microsoft.com/office/drawing/2014/main" id="{A264365D-628A-D9F4-8B31-5B2AF1426C71}"/>
              </a:ext>
            </a:extLst>
          </p:cNvPr>
          <p:cNvSpPr txBox="1"/>
          <p:nvPr/>
        </p:nvSpPr>
        <p:spPr>
          <a:xfrm>
            <a:off x="3429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ESP32 node</a:t>
            </a:r>
          </a:p>
        </p:txBody>
      </p:sp>
      <p:sp>
        <p:nvSpPr>
          <p:cNvPr id="14" name="TextBox 13">
            <a:extLst>
              <a:ext uri="{FF2B5EF4-FFF2-40B4-BE49-F238E27FC236}">
                <a16:creationId xmlns:a16="http://schemas.microsoft.com/office/drawing/2014/main" id="{5239E02C-3C78-D539-6DAF-FC50EEA176B1}"/>
              </a:ext>
            </a:extLst>
          </p:cNvPr>
          <p:cNvSpPr txBox="1"/>
          <p:nvPr/>
        </p:nvSpPr>
        <p:spPr>
          <a:xfrm>
            <a:off x="3556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Reads sensors through ADC, I2C and GPIO; sleeps between samples</a:t>
            </a:r>
            <a:endParaRPr lang="en-IN" sz="75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3ABB6EC5-AC7D-60BD-D735-3A3147F4A033}"/>
              </a:ext>
            </a:extLst>
          </p:cNvPr>
          <p:cNvPicPr>
            <a:picLocks/>
          </p:cNvPicPr>
          <p:nvPr/>
        </p:nvPicPr>
        <p:blipFill>
          <a:blip r:embed="rId6"/>
          <a:stretch>
            <a:fillRect/>
          </a:stretch>
        </p:blipFill>
        <p:spPr>
          <a:xfrm>
            <a:off x="1835150" y="4800600"/>
            <a:ext cx="838200" cy="584200"/>
          </a:xfrm>
          <a:prstGeom prst="rect">
            <a:avLst/>
          </a:prstGeom>
        </p:spPr>
      </p:pic>
      <p:sp>
        <p:nvSpPr>
          <p:cNvPr id="17" name="TextBox 16">
            <a:extLst>
              <a:ext uri="{FF2B5EF4-FFF2-40B4-BE49-F238E27FC236}">
                <a16:creationId xmlns:a16="http://schemas.microsoft.com/office/drawing/2014/main" id="{C8AB669B-A135-A2C8-9181-603FEC69B8D8}"/>
              </a:ext>
            </a:extLst>
          </p:cNvPr>
          <p:cNvSpPr txBox="1"/>
          <p:nvPr/>
        </p:nvSpPr>
        <p:spPr>
          <a:xfrm>
            <a:off x="16192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LoRa SX1276</a:t>
            </a:r>
          </a:p>
        </p:txBody>
      </p:sp>
      <p:sp>
        <p:nvSpPr>
          <p:cNvPr id="18" name="TextBox 17">
            <a:extLst>
              <a:ext uri="{FF2B5EF4-FFF2-40B4-BE49-F238E27FC236}">
                <a16:creationId xmlns:a16="http://schemas.microsoft.com/office/drawing/2014/main" id="{6E9B9AF4-FE20-E58C-14D9-0E448D7B7905}"/>
              </a:ext>
            </a:extLst>
          </p:cNvPr>
          <p:cNvSpPr txBox="1"/>
          <p:nvPr/>
        </p:nvSpPr>
        <p:spPr>
          <a:xfrm>
            <a:off x="16319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750">
                <a:solidFill>
                  <a:srgbClr val="475569"/>
                </a:solidFill>
                <a:latin typeface="Arial" panose="020B0604020202020204" pitchFamily="34" charset="0"/>
              </a:rPr>
              <a:t>SPI radio, 865-867 MHz, node to village gateway</a:t>
            </a:r>
          </a:p>
        </p:txBody>
      </p:sp>
      <p:pic>
        <p:nvPicPr>
          <p:cNvPr id="20" name="Picture 19">
            <a:extLst>
              <a:ext uri="{FF2B5EF4-FFF2-40B4-BE49-F238E27FC236}">
                <a16:creationId xmlns:a16="http://schemas.microsoft.com/office/drawing/2014/main" id="{3519345A-3154-4750-E6A8-DE17B9B0BE45}"/>
              </a:ext>
            </a:extLst>
          </p:cNvPr>
          <p:cNvPicPr>
            <a:picLocks/>
          </p:cNvPicPr>
          <p:nvPr/>
        </p:nvPicPr>
        <p:blipFill>
          <a:blip r:embed="rId7"/>
          <a:stretch>
            <a:fillRect/>
          </a:stretch>
        </p:blipFill>
        <p:spPr>
          <a:xfrm>
            <a:off x="3111500" y="4800600"/>
            <a:ext cx="838200" cy="584200"/>
          </a:xfrm>
          <a:prstGeom prst="rect">
            <a:avLst/>
          </a:prstGeom>
        </p:spPr>
      </p:pic>
      <p:sp>
        <p:nvSpPr>
          <p:cNvPr id="21" name="TextBox 20">
            <a:extLst>
              <a:ext uri="{FF2B5EF4-FFF2-40B4-BE49-F238E27FC236}">
                <a16:creationId xmlns:a16="http://schemas.microsoft.com/office/drawing/2014/main" id="{CCB51032-7D77-743F-7586-8538BEE0E93A}"/>
              </a:ext>
            </a:extLst>
          </p:cNvPr>
          <p:cNvSpPr txBox="1"/>
          <p:nvPr/>
        </p:nvSpPr>
        <p:spPr>
          <a:xfrm>
            <a:off x="28956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Pi gateway</a:t>
            </a:r>
          </a:p>
        </p:txBody>
      </p:sp>
      <p:sp>
        <p:nvSpPr>
          <p:cNvPr id="22" name="TextBox 21">
            <a:extLst>
              <a:ext uri="{FF2B5EF4-FFF2-40B4-BE49-F238E27FC236}">
                <a16:creationId xmlns:a16="http://schemas.microsoft.com/office/drawing/2014/main" id="{0162408C-C6CD-F8CC-EE7A-68708BF0A8FA}"/>
              </a:ext>
            </a:extLst>
          </p:cNvPr>
          <p:cNvSpPr txBox="1"/>
          <p:nvPr/>
        </p:nvSpPr>
        <p:spPr>
          <a:xfrm>
            <a:off x="29083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Buffers readings, sends over 4G MQTT to the ingestion API</a:t>
            </a:r>
            <a:endParaRPr lang="en-IN" sz="750">
              <a:solidFill>
                <a:srgbClr val="475569"/>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CE1D1438-F50A-AB85-C875-958C38268003}"/>
              </a:ext>
            </a:extLst>
          </p:cNvPr>
          <p:cNvSpPr/>
          <p:nvPr/>
        </p:nvSpPr>
        <p:spPr>
          <a:xfrm>
            <a:off x="417195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CEB8728A-CB10-DB49-1318-55CF54192AB5}"/>
              </a:ext>
            </a:extLst>
          </p:cNvPr>
          <p:cNvPicPr>
            <a:picLocks/>
          </p:cNvPicPr>
          <p:nvPr/>
        </p:nvPicPr>
        <p:blipFill>
          <a:blip r:embed="rId8"/>
          <a:stretch>
            <a:fillRect/>
          </a:stretch>
        </p:blipFill>
        <p:spPr>
          <a:xfrm>
            <a:off x="4387850" y="4800600"/>
            <a:ext cx="838200" cy="584200"/>
          </a:xfrm>
          <a:prstGeom prst="rect">
            <a:avLst/>
          </a:prstGeom>
        </p:spPr>
      </p:pic>
      <p:sp>
        <p:nvSpPr>
          <p:cNvPr id="26" name="TextBox 25">
            <a:extLst>
              <a:ext uri="{FF2B5EF4-FFF2-40B4-BE49-F238E27FC236}">
                <a16:creationId xmlns:a16="http://schemas.microsoft.com/office/drawing/2014/main" id="{5039E75B-7F68-8AEB-052D-F609CA306BB4}"/>
              </a:ext>
            </a:extLst>
          </p:cNvPr>
          <p:cNvSpPr txBox="1"/>
          <p:nvPr/>
        </p:nvSpPr>
        <p:spPr>
          <a:xfrm>
            <a:off x="41719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Acoustic sensor</a:t>
            </a:r>
          </a:p>
        </p:txBody>
      </p:sp>
      <p:sp>
        <p:nvSpPr>
          <p:cNvPr id="27" name="TextBox 26">
            <a:extLst>
              <a:ext uri="{FF2B5EF4-FFF2-40B4-BE49-F238E27FC236}">
                <a16:creationId xmlns:a16="http://schemas.microsoft.com/office/drawing/2014/main" id="{393843AB-1586-2E2F-F550-9825023B6EE1}"/>
              </a:ext>
            </a:extLst>
          </p:cNvPr>
          <p:cNvSpPr txBox="1"/>
          <p:nvPr/>
        </p:nvSpPr>
        <p:spPr>
          <a:xfrm>
            <a:off x="41846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Piezo clamp at critical points; leak-noise indicator, confirmed by flow and pressure</a:t>
            </a:r>
            <a:endParaRPr lang="en-IN" sz="750">
              <a:solidFill>
                <a:srgbClr val="475569"/>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29F77EBE-4D18-07EC-57BD-811188B48414}"/>
              </a:ext>
            </a:extLst>
          </p:cNvPr>
          <p:cNvSpPr/>
          <p:nvPr/>
        </p:nvSpPr>
        <p:spPr>
          <a:xfrm>
            <a:off x="544830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EFE91741-6272-9024-29F7-44ABF1FEE852}"/>
              </a:ext>
            </a:extLst>
          </p:cNvPr>
          <p:cNvPicPr>
            <a:picLocks/>
          </p:cNvPicPr>
          <p:nvPr/>
        </p:nvPicPr>
        <p:blipFill>
          <a:blip r:embed="rId9"/>
          <a:stretch>
            <a:fillRect/>
          </a:stretch>
        </p:blipFill>
        <p:spPr>
          <a:xfrm>
            <a:off x="5664200" y="4800600"/>
            <a:ext cx="838200" cy="584200"/>
          </a:xfrm>
          <a:prstGeom prst="rect">
            <a:avLst/>
          </a:prstGeom>
        </p:spPr>
      </p:pic>
      <p:sp>
        <p:nvSpPr>
          <p:cNvPr id="31" name="TextBox 30">
            <a:extLst>
              <a:ext uri="{FF2B5EF4-FFF2-40B4-BE49-F238E27FC236}">
                <a16:creationId xmlns:a16="http://schemas.microsoft.com/office/drawing/2014/main" id="{837A2A9A-0B8F-AF47-1500-8BF2C18F5706}"/>
              </a:ext>
            </a:extLst>
          </p:cNvPr>
          <p:cNvSpPr txBox="1"/>
          <p:nvPr/>
        </p:nvSpPr>
        <p:spPr>
          <a:xfrm>
            <a:off x="54483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Chlorine sensor</a:t>
            </a:r>
          </a:p>
        </p:txBody>
      </p:sp>
      <p:sp>
        <p:nvSpPr>
          <p:cNvPr id="32" name="TextBox 31">
            <a:extLst>
              <a:ext uri="{FF2B5EF4-FFF2-40B4-BE49-F238E27FC236}">
                <a16:creationId xmlns:a16="http://schemas.microsoft.com/office/drawing/2014/main" id="{BE82E53D-06C1-2E6C-EB3A-7C226CB16C53}"/>
              </a:ext>
            </a:extLst>
          </p:cNvPr>
          <p:cNvSpPr txBox="1"/>
          <p:nvPr/>
        </p:nvSpPr>
        <p:spPr>
          <a:xfrm>
            <a:off x="54610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probe in a flow cell at the tail end; measured mg/L, low-chlorine alert</a:t>
            </a:r>
            <a:endParaRPr lang="en-IN" sz="750">
              <a:solidFill>
                <a:srgbClr val="475569"/>
              </a:solidFill>
              <a:latin typeface="Arial" panose="020B0604020202020204" pitchFamily="34" charset="0"/>
            </a:endParaRPr>
          </a:p>
        </p:txBody>
      </p:sp>
      <p:pic>
        <p:nvPicPr>
          <p:cNvPr id="34" name="Picture 33">
            <a:extLst>
              <a:ext uri="{FF2B5EF4-FFF2-40B4-BE49-F238E27FC236}">
                <a16:creationId xmlns:a16="http://schemas.microsoft.com/office/drawing/2014/main" id="{03A5DAF4-F136-A930-4A36-E8EDDE5226DD}"/>
              </a:ext>
            </a:extLst>
          </p:cNvPr>
          <p:cNvPicPr>
            <a:picLocks/>
          </p:cNvPicPr>
          <p:nvPr/>
        </p:nvPicPr>
        <p:blipFill>
          <a:blip r:embed="rId10"/>
          <a:stretch>
            <a:fillRect/>
          </a:stretch>
        </p:blipFill>
        <p:spPr>
          <a:xfrm>
            <a:off x="6940550" y="4800600"/>
            <a:ext cx="838200" cy="584200"/>
          </a:xfrm>
          <a:prstGeom prst="rect">
            <a:avLst/>
          </a:prstGeom>
        </p:spPr>
      </p:pic>
      <p:sp>
        <p:nvSpPr>
          <p:cNvPr id="35" name="TextBox 34">
            <a:extLst>
              <a:ext uri="{FF2B5EF4-FFF2-40B4-BE49-F238E27FC236}">
                <a16:creationId xmlns:a16="http://schemas.microsoft.com/office/drawing/2014/main" id="{3DDAB5FF-6433-4D45-BAC2-0F573A4B4BD5}"/>
              </a:ext>
            </a:extLst>
          </p:cNvPr>
          <p:cNvSpPr txBox="1"/>
          <p:nvPr/>
        </p:nvSpPr>
        <p:spPr>
          <a:xfrm>
            <a:off x="67246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Pressure x2</a:t>
            </a:r>
          </a:p>
        </p:txBody>
      </p:sp>
      <p:sp>
        <p:nvSpPr>
          <p:cNvPr id="36" name="TextBox 35">
            <a:extLst>
              <a:ext uri="{FF2B5EF4-FFF2-40B4-BE49-F238E27FC236}">
                <a16:creationId xmlns:a16="http://schemas.microsoft.com/office/drawing/2014/main" id="{C5219C4B-01CF-7CC7-B2E7-C7EBF9DA0344}"/>
              </a:ext>
            </a:extLst>
          </p:cNvPr>
          <p:cNvSpPr txBox="1"/>
          <p:nvPr/>
        </p:nvSpPr>
        <p:spPr>
          <a:xfrm>
            <a:off x="67373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transmitters, head and tail; low-pressure alert</a:t>
            </a:r>
            <a:endParaRPr lang="en-IN" sz="750">
              <a:solidFill>
                <a:srgbClr val="475569"/>
              </a:solidFill>
              <a:latin typeface="Arial" panose="020B0604020202020204" pitchFamily="34" charset="0"/>
            </a:endParaRPr>
          </a:p>
        </p:txBody>
      </p:sp>
      <p:pic>
        <p:nvPicPr>
          <p:cNvPr id="38" name="Picture 37">
            <a:extLst>
              <a:ext uri="{FF2B5EF4-FFF2-40B4-BE49-F238E27FC236}">
                <a16:creationId xmlns:a16="http://schemas.microsoft.com/office/drawing/2014/main" id="{44BC2F47-CD6B-EB78-1C9C-ED381F971D50}"/>
              </a:ext>
            </a:extLst>
          </p:cNvPr>
          <p:cNvPicPr>
            <a:picLocks/>
          </p:cNvPicPr>
          <p:nvPr/>
        </p:nvPicPr>
        <p:blipFill>
          <a:blip r:embed="rId11"/>
          <a:stretch>
            <a:fillRect/>
          </a:stretch>
        </p:blipFill>
        <p:spPr>
          <a:xfrm>
            <a:off x="8216900" y="4800600"/>
            <a:ext cx="838200" cy="584200"/>
          </a:xfrm>
          <a:prstGeom prst="rect">
            <a:avLst/>
          </a:prstGeom>
        </p:spPr>
      </p:pic>
      <p:sp>
        <p:nvSpPr>
          <p:cNvPr id="39" name="TextBox 38">
            <a:extLst>
              <a:ext uri="{FF2B5EF4-FFF2-40B4-BE49-F238E27FC236}">
                <a16:creationId xmlns:a16="http://schemas.microsoft.com/office/drawing/2014/main" id="{AABF4DF0-2C1F-9BE1-312C-773D680362EF}"/>
              </a:ext>
            </a:extLst>
          </p:cNvPr>
          <p:cNvSpPr txBox="1"/>
          <p:nvPr/>
        </p:nvSpPr>
        <p:spPr>
          <a:xfrm>
            <a:off x="80010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Flow meter x2</a:t>
            </a:r>
          </a:p>
        </p:txBody>
      </p:sp>
      <p:sp>
        <p:nvSpPr>
          <p:cNvPr id="40" name="TextBox 39">
            <a:extLst>
              <a:ext uri="{FF2B5EF4-FFF2-40B4-BE49-F238E27FC236}">
                <a16:creationId xmlns:a16="http://schemas.microsoft.com/office/drawing/2014/main" id="{E06482A3-6E51-2D37-FABD-371791CD56B0}"/>
              </a:ext>
            </a:extLst>
          </p:cNvPr>
          <p:cNvSpPr txBox="1"/>
          <p:nvPr/>
        </p:nvSpPr>
        <p:spPr>
          <a:xfrm>
            <a:off x="80137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Pulse output, head and tail; a gap above its normal baseline flags a possible leak</a:t>
            </a:r>
            <a:endParaRPr lang="en-IN" sz="750">
              <a:solidFill>
                <a:srgbClr val="475569"/>
              </a:solidFill>
              <a:latin typeface="Arial" panose="020B0604020202020204" pitchFamily="34" charset="0"/>
            </a:endParaRPr>
          </a:p>
        </p:txBody>
      </p:sp>
      <p:pic>
        <p:nvPicPr>
          <p:cNvPr id="42" name="Picture 41">
            <a:extLst>
              <a:ext uri="{FF2B5EF4-FFF2-40B4-BE49-F238E27FC236}">
                <a16:creationId xmlns:a16="http://schemas.microsoft.com/office/drawing/2014/main" id="{4741BE1E-F18F-16BE-5FC4-98CEB4B00912}"/>
              </a:ext>
            </a:extLst>
          </p:cNvPr>
          <p:cNvPicPr>
            <a:picLocks/>
          </p:cNvPicPr>
          <p:nvPr/>
        </p:nvPicPr>
        <p:blipFill>
          <a:blip r:embed="rId12"/>
          <a:stretch>
            <a:fillRect/>
          </a:stretch>
        </p:blipFill>
        <p:spPr>
          <a:xfrm>
            <a:off x="9493250" y="4800600"/>
            <a:ext cx="838200" cy="584200"/>
          </a:xfrm>
          <a:prstGeom prst="rect">
            <a:avLst/>
          </a:prstGeom>
        </p:spPr>
      </p:pic>
      <p:sp>
        <p:nvSpPr>
          <p:cNvPr id="43" name="TextBox 42">
            <a:extLst>
              <a:ext uri="{FF2B5EF4-FFF2-40B4-BE49-F238E27FC236}">
                <a16:creationId xmlns:a16="http://schemas.microsoft.com/office/drawing/2014/main" id="{DC808FE0-3639-021E-E938-70DC1DB46B33}"/>
              </a:ext>
            </a:extLst>
          </p:cNvPr>
          <p:cNvSpPr txBox="1"/>
          <p:nvPr/>
        </p:nvSpPr>
        <p:spPr>
          <a:xfrm>
            <a:off x="92773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Ultrasonic level</a:t>
            </a:r>
          </a:p>
        </p:txBody>
      </p:sp>
      <p:sp>
        <p:nvSpPr>
          <p:cNvPr id="44" name="TextBox 43">
            <a:extLst>
              <a:ext uri="{FF2B5EF4-FFF2-40B4-BE49-F238E27FC236}">
                <a16:creationId xmlns:a16="http://schemas.microsoft.com/office/drawing/2014/main" id="{6588E6B3-5B38-DEBF-BC91-9AF00D3A8E0A}"/>
              </a:ext>
            </a:extLst>
          </p:cNvPr>
          <p:cNvSpPr txBox="1"/>
          <p:nvPr/>
        </p:nvSpPr>
        <p:spPr>
          <a:xfrm>
            <a:off x="92900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JSN-SR04T on the tank; supply and tank health</a:t>
            </a:r>
            <a:endParaRPr lang="en-IN" sz="750">
              <a:solidFill>
                <a:srgbClr val="475569"/>
              </a:solidFill>
              <a:latin typeface="Arial" panose="020B0604020202020204" pitchFamily="34" charset="0"/>
            </a:endParaRPr>
          </a:p>
        </p:txBody>
      </p:sp>
      <p:pic>
        <p:nvPicPr>
          <p:cNvPr id="46" name="Picture 45">
            <a:extLst>
              <a:ext uri="{FF2B5EF4-FFF2-40B4-BE49-F238E27FC236}">
                <a16:creationId xmlns:a16="http://schemas.microsoft.com/office/drawing/2014/main" id="{C6BFE568-6E38-8D82-609D-3DF882814400}"/>
              </a:ext>
            </a:extLst>
          </p:cNvPr>
          <p:cNvPicPr>
            <a:picLocks/>
          </p:cNvPicPr>
          <p:nvPr/>
        </p:nvPicPr>
        <p:blipFill>
          <a:blip r:embed="rId13"/>
          <a:stretch>
            <a:fillRect/>
          </a:stretch>
        </p:blipFill>
        <p:spPr>
          <a:xfrm>
            <a:off x="10769600" y="4800600"/>
            <a:ext cx="838200" cy="584200"/>
          </a:xfrm>
          <a:prstGeom prst="rect">
            <a:avLst/>
          </a:prstGeom>
        </p:spPr>
      </p:pic>
      <p:sp>
        <p:nvSpPr>
          <p:cNvPr id="47" name="TextBox 46">
            <a:extLst>
              <a:ext uri="{FF2B5EF4-FFF2-40B4-BE49-F238E27FC236}">
                <a16:creationId xmlns:a16="http://schemas.microsoft.com/office/drawing/2014/main" id="{3373A758-3565-BC33-052B-72DDADCF7DB3}"/>
              </a:ext>
            </a:extLst>
          </p:cNvPr>
          <p:cNvSpPr txBox="1"/>
          <p:nvPr/>
        </p:nvSpPr>
        <p:spPr>
          <a:xfrm>
            <a:off x="105537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Solar + battery</a:t>
            </a:r>
          </a:p>
        </p:txBody>
      </p:sp>
      <p:sp>
        <p:nvSpPr>
          <p:cNvPr id="48" name="TextBox 47">
            <a:extLst>
              <a:ext uri="{FF2B5EF4-FFF2-40B4-BE49-F238E27FC236}">
                <a16:creationId xmlns:a16="http://schemas.microsoft.com/office/drawing/2014/main" id="{5323471E-E2DF-B475-C486-B281108E2252}"/>
              </a:ext>
            </a:extLst>
          </p:cNvPr>
          <p:cNvSpPr txBox="1"/>
          <p:nvPr/>
        </p:nvSpPr>
        <p:spPr>
          <a:xfrm>
            <a:off x="105664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12 V 10 W panel, 7 Ah battery, IP65 box; buck and boost rails</a:t>
            </a:r>
            <a:endParaRPr lang="en-IN" sz="750">
              <a:solidFill>
                <a:srgbClr val="47556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2BA88644-0775-978C-8BBD-EFFFA763D6AA}"/>
              </a:ext>
            </a:extLst>
          </p:cNvPr>
          <p:cNvPicPr>
            <a:picLocks/>
          </p:cNvPicPr>
          <p:nvPr/>
        </p:nvPicPr>
        <p:blipFill>
          <a:blip r:embed="rId4"/>
          <a:stretch>
            <a:fillRect/>
          </a:stretch>
        </p:blipFill>
        <p:spPr>
          <a:xfrm>
            <a:off x="304800" y="1168400"/>
            <a:ext cx="6604000" cy="4191000"/>
          </a:xfrm>
          <a:prstGeom prst="rect">
            <a:avLst/>
          </a:prstGeom>
          <a:ln w="9525">
            <a:solidFill>
              <a:srgbClr val="CBD5E1"/>
            </a:solidFill>
          </a:ln>
        </p:spPr>
      </p:pic>
      <p:sp>
        <p:nvSpPr>
          <p:cNvPr id="4" name="TextBox 3">
            <a:extLst>
              <a:ext uri="{FF2B5EF4-FFF2-40B4-BE49-F238E27FC236}">
                <a16:creationId xmlns:a16="http://schemas.microsoft.com/office/drawing/2014/main" id="{A1200057-AA7B-1AE8-684F-B7C9D0E928E0}"/>
              </a:ext>
            </a:extLst>
          </p:cNvPr>
          <p:cNvSpPr txBox="1"/>
          <p:nvPr/>
        </p:nvSpPr>
        <p:spPr>
          <a:xfrm>
            <a:off x="304800" y="5372100"/>
            <a:ext cx="6604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700" i="1">
                <a:solidFill>
                  <a:srgbClr val="475569"/>
                </a:solidFill>
                <a:latin typeface="Arial" panose="020B0604020202020204" pitchFamily="34" charset="0"/>
              </a:rPr>
              <a:t>Circuit of sensor node B (pipeline head / tail): ESP32 with LoRa, ADS1115, 4-20 mA loops, flow, acoustic and tank-level inputs.</a:t>
            </a:r>
            <a:endParaRPr lang="en-IN" sz="700" i="1">
              <a:solidFill>
                <a:srgbClr val="475569"/>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5620E7D0-7BD5-78A3-D73A-C5A817F51F6B}"/>
              </a:ext>
            </a:extLst>
          </p:cNvPr>
          <p:cNvSpPr/>
          <p:nvPr/>
        </p:nvSpPr>
        <p:spPr>
          <a:xfrm>
            <a:off x="7010400" y="1168400"/>
            <a:ext cx="2387600" cy="1219200"/>
          </a:xfrm>
          <a:prstGeom prst="roundRect">
            <a:avLst>
              <a:gd name="adj" fmla="val 8000"/>
            </a:avLst>
          </a:prstGeom>
          <a:solidFill>
            <a:srgbClr val="DBEA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22F76FAE-1228-BA32-17A4-F731CEBFAE40}"/>
              </a:ext>
            </a:extLst>
          </p:cNvPr>
          <p:cNvSpPr/>
          <p:nvPr/>
        </p:nvSpPr>
        <p:spPr>
          <a:xfrm>
            <a:off x="7010400" y="1168400"/>
            <a:ext cx="2387600" cy="2286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Scalability</a:t>
            </a:r>
          </a:p>
        </p:txBody>
      </p:sp>
      <p:sp>
        <p:nvSpPr>
          <p:cNvPr id="9" name="TextBox 8">
            <a:extLst>
              <a:ext uri="{FF2B5EF4-FFF2-40B4-BE49-F238E27FC236}">
                <a16:creationId xmlns:a16="http://schemas.microsoft.com/office/drawing/2014/main" id="{FDDFF5EB-BDB0-7A92-24F5-3B79401C6BF1}"/>
              </a:ext>
            </a:extLst>
          </p:cNvPr>
          <p:cNvSpPr txBox="1"/>
          <p:nvPr/>
        </p:nvSpPr>
        <p:spPr>
          <a:xfrm>
            <a:off x="70612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One village, then a cluster per gateway, block, district, state</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Stateless APIs; PostgreSQL + PostGIS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Same node design in every village</a:t>
            </a:r>
            <a:endParaRPr lang="en-IN" sz="79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DD22B895-3525-21A6-A65B-417351C8F3B3}"/>
              </a:ext>
            </a:extLst>
          </p:cNvPr>
          <p:cNvSpPr/>
          <p:nvPr/>
        </p:nvSpPr>
        <p:spPr>
          <a:xfrm>
            <a:off x="9499600" y="1168400"/>
            <a:ext cx="2387600" cy="1219200"/>
          </a:xfrm>
          <a:prstGeom prst="roundRect">
            <a:avLst>
              <a:gd name="adj" fmla="val 8000"/>
            </a:avLst>
          </a:prstGeom>
          <a:solidFill>
            <a:srgbClr val="D1FAE5"/>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7CE950E7-FADC-E6CC-185B-A2E6F1526E8C}"/>
              </a:ext>
            </a:extLst>
          </p:cNvPr>
          <p:cNvSpPr/>
          <p:nvPr/>
        </p:nvSpPr>
        <p:spPr>
          <a:xfrm>
            <a:off x="9499600" y="1168400"/>
            <a:ext cx="2387600" cy="2286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Interoperability</a:t>
            </a:r>
          </a:p>
        </p:txBody>
      </p:sp>
      <p:sp>
        <p:nvSpPr>
          <p:cNvPr id="15" name="TextBox 14">
            <a:extLst>
              <a:ext uri="{FF2B5EF4-FFF2-40B4-BE49-F238E27FC236}">
                <a16:creationId xmlns:a16="http://schemas.microsoft.com/office/drawing/2014/main" id="{DF61F35B-3F6A-8C5E-BF44-BE845C2E71C8}"/>
              </a:ext>
            </a:extLst>
          </p:cNvPr>
          <p:cNvSpPr txBox="1"/>
          <p:nvPr/>
        </p:nvSpPr>
        <p:spPr>
          <a:xfrm>
            <a:off x="95504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Keyed to Sujal Gaon and Sujalam Bharat IDs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Sync adapters built and mock-tested; live IMIS / JJM / WQMIS sync needs official API access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Open formats: REST/OpenAPI, GeoJSON, CSV</a:t>
            </a:r>
          </a:p>
        </p:txBody>
      </p:sp>
      <p:sp>
        <p:nvSpPr>
          <p:cNvPr id="16" name="Rectangle: Rounded Corners 15">
            <a:extLst>
              <a:ext uri="{FF2B5EF4-FFF2-40B4-BE49-F238E27FC236}">
                <a16:creationId xmlns:a16="http://schemas.microsoft.com/office/drawing/2014/main" id="{FD56B553-0FF1-7E05-BA23-0D5B84F81A78}"/>
              </a:ext>
            </a:extLst>
          </p:cNvPr>
          <p:cNvSpPr/>
          <p:nvPr/>
        </p:nvSpPr>
        <p:spPr>
          <a:xfrm>
            <a:off x="7010400" y="2438400"/>
            <a:ext cx="2387600" cy="1219200"/>
          </a:xfrm>
          <a:prstGeom prst="roundRect">
            <a:avLst>
              <a:gd name="adj" fmla="val 8000"/>
            </a:avLst>
          </a:prstGeom>
          <a:solidFill>
            <a:srgbClr val="EDE9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D1CDFD57-DE3C-3BB3-0048-8FEA43988EA3}"/>
              </a:ext>
            </a:extLst>
          </p:cNvPr>
          <p:cNvSpPr/>
          <p:nvPr/>
        </p:nvSpPr>
        <p:spPr>
          <a:xfrm>
            <a:off x="7010400" y="2438400"/>
            <a:ext cx="2387600" cy="2286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Data security</a:t>
            </a:r>
          </a:p>
        </p:txBody>
      </p:sp>
      <p:sp>
        <p:nvSpPr>
          <p:cNvPr id="18" name="TextBox 17">
            <a:extLst>
              <a:ext uri="{FF2B5EF4-FFF2-40B4-BE49-F238E27FC236}">
                <a16:creationId xmlns:a16="http://schemas.microsoft.com/office/drawing/2014/main" id="{EC056D10-DAB0-B6FB-AC7C-2A587EDEBAA8}"/>
              </a:ext>
            </a:extLst>
          </p:cNvPr>
          <p:cNvSpPr txBox="1"/>
          <p:nvPr/>
        </p:nvSpPr>
        <p:spPr>
          <a:xfrm>
            <a:off x="70612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Role-based access by village; hashed passwords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Photo location data stripped; location shared separately by opt-in</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No personal data sent to other platforms</a:t>
            </a:r>
            <a:endParaRPr lang="en-IN" sz="790">
              <a:solidFill>
                <a:srgbClr val="1F2937"/>
              </a:solidFill>
              <a:latin typeface="Arial" panose="020B0604020202020204" pitchFamily="34" charset="0"/>
            </a:endParaRPr>
          </a:p>
        </p:txBody>
      </p:sp>
      <p:sp>
        <p:nvSpPr>
          <p:cNvPr id="19" name="Rectangle: Rounded Corners 18">
            <a:extLst>
              <a:ext uri="{FF2B5EF4-FFF2-40B4-BE49-F238E27FC236}">
                <a16:creationId xmlns:a16="http://schemas.microsoft.com/office/drawing/2014/main" id="{F7BD7EE1-6566-B029-0208-C1545CC2D90B}"/>
              </a:ext>
            </a:extLst>
          </p:cNvPr>
          <p:cNvSpPr/>
          <p:nvPr/>
        </p:nvSpPr>
        <p:spPr>
          <a:xfrm>
            <a:off x="9499600" y="2438400"/>
            <a:ext cx="2387600" cy="1219200"/>
          </a:xfrm>
          <a:prstGeom prst="roundRect">
            <a:avLst>
              <a:gd name="adj" fmla="val 8000"/>
            </a:avLst>
          </a:prstGeom>
          <a:solidFill>
            <a:srgbClr val="FEF3C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5E6FAAE4-CFD6-0998-D06D-F02D7FB4B471}"/>
              </a:ext>
            </a:extLst>
          </p:cNvPr>
          <p:cNvSpPr/>
          <p:nvPr/>
        </p:nvSpPr>
        <p:spPr>
          <a:xfrm>
            <a:off x="9499600" y="2438400"/>
            <a:ext cx="2387600" cy="228600"/>
          </a:xfrm>
          <a:prstGeom prst="roundRect">
            <a:avLst>
              <a:gd name="adj" fmla="val 8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Ease of deployment</a:t>
            </a:r>
          </a:p>
        </p:txBody>
      </p:sp>
      <p:sp>
        <p:nvSpPr>
          <p:cNvPr id="21" name="TextBox 20">
            <a:extLst>
              <a:ext uri="{FF2B5EF4-FFF2-40B4-BE49-F238E27FC236}">
                <a16:creationId xmlns:a16="http://schemas.microsoft.com/office/drawing/2014/main" id="{987FFAE6-C754-B9CD-8751-92A323C612FE}"/>
              </a:ext>
            </a:extLst>
          </p:cNvPr>
          <p:cNvSpPr txBox="1"/>
          <p:nvPr/>
        </p:nvSpPr>
        <p:spPr>
          <a:xfrm>
            <a:off x="95504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Solar node, plug-in LoRa gateway, no grid cabling</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Mobile web app: nothing to install</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Docker deployment, one configuration file</a:t>
            </a:r>
            <a:endParaRPr lang="en-IN" sz="790">
              <a:solidFill>
                <a:srgbClr val="1F2937"/>
              </a:solidFill>
              <a:latin typeface="Arial" panose="020B0604020202020204" pitchFamily="34" charset="0"/>
            </a:endParaRPr>
          </a:p>
        </p:txBody>
      </p:sp>
      <p:pic>
        <p:nvPicPr>
          <p:cNvPr id="23" name="Picture 22">
            <a:extLst>
              <a:ext uri="{FF2B5EF4-FFF2-40B4-BE49-F238E27FC236}">
                <a16:creationId xmlns:a16="http://schemas.microsoft.com/office/drawing/2014/main" id="{658EF07F-2081-0882-EEC4-D2BBFBEF6504}"/>
              </a:ext>
            </a:extLst>
          </p:cNvPr>
          <p:cNvPicPr>
            <a:picLocks/>
          </p:cNvPicPr>
          <p:nvPr/>
        </p:nvPicPr>
        <p:blipFill>
          <a:blip r:embed="rId5"/>
          <a:stretch>
            <a:fillRect/>
          </a:stretch>
        </p:blipFill>
        <p:spPr>
          <a:xfrm>
            <a:off x="7010400" y="3733800"/>
            <a:ext cx="2743200" cy="1651000"/>
          </a:xfrm>
          <a:prstGeom prst="rect">
            <a:avLst/>
          </a:prstGeom>
          <a:ln w="9525">
            <a:solidFill>
              <a:srgbClr val="CBD5E1"/>
            </a:solidFill>
          </a:ln>
        </p:spPr>
      </p:pic>
      <p:sp>
        <p:nvSpPr>
          <p:cNvPr id="24" name="TextBox 23">
            <a:extLst>
              <a:ext uri="{FF2B5EF4-FFF2-40B4-BE49-F238E27FC236}">
                <a16:creationId xmlns:a16="http://schemas.microsoft.com/office/drawing/2014/main" id="{5FCCB815-DA5C-06DF-1642-B3A5E1F308AD}"/>
              </a:ext>
            </a:extLst>
          </p:cNvPr>
          <p:cNvSpPr txBox="1"/>
          <p:nvPr/>
        </p:nvSpPr>
        <p:spPr>
          <a:xfrm>
            <a:off x="9829800" y="3733800"/>
            <a:ext cx="2057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pPr>
            <a:r>
              <a:rPr lang="en-US" sz="900" b="1">
                <a:solidFill>
                  <a:srgbClr val="0F766E"/>
                </a:solidFill>
                <a:latin typeface="Arial" panose="020B0604020202020204" pitchFamily="34" charset="0"/>
              </a:rPr>
              <a:t>Node installation concept</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Solar-powered pole node with an IP65 box</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Clamp-on acoustic sensor: no digging</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Chlorine flow cell at the tail end</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LoRa to the Panchayat gateway</a:t>
            </a:r>
            <a:endParaRPr lang="en-IN" sz="80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68A8B5AF-E810-4D4B-05CF-82EB68AC84E3}"/>
              </a:ext>
            </a:extLst>
          </p:cNvPr>
          <p:cNvSpPr/>
          <p:nvPr/>
        </p:nvSpPr>
        <p:spPr>
          <a:xfrm>
            <a:off x="304800" y="5511800"/>
            <a:ext cx="36830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DFD14DD0-6120-5C2E-DA16-04BEB261F42D}"/>
              </a:ext>
            </a:extLst>
          </p:cNvPr>
          <p:cNvSpPr txBox="1"/>
          <p:nvPr/>
        </p:nvSpPr>
        <p:spPr>
          <a:xfrm>
            <a:off x="381000" y="5562600"/>
            <a:ext cx="35306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Feasibility analysis</a:t>
            </a:r>
          </a:p>
        </p:txBody>
      </p:sp>
      <p:sp>
        <p:nvSpPr>
          <p:cNvPr id="27" name="TextBox 26">
            <a:extLst>
              <a:ext uri="{FF2B5EF4-FFF2-40B4-BE49-F238E27FC236}">
                <a16:creationId xmlns:a16="http://schemas.microsoft.com/office/drawing/2014/main" id="{8638D1C8-AB2D-3B6B-40E7-7E08A21DF5FA}"/>
              </a:ext>
            </a:extLst>
          </p:cNvPr>
          <p:cNvSpPr txBox="1"/>
          <p:nvPr/>
        </p:nvSpPr>
        <p:spPr>
          <a:xfrm>
            <a:off x="381000" y="5791200"/>
            <a:ext cx="35560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Off-the-shelf parts: ESP32, ADS1115, LoRa, Raspberry Pi</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Platform on demo data; 278 tests incl. firmware on a simulated board</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AI/ML runs on demo data now; to be validated on pilot data</a:t>
            </a:r>
            <a:endParaRPr lang="en-IN" sz="74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42802713-A0F4-5EF9-DE19-269265B817A5}"/>
              </a:ext>
            </a:extLst>
          </p:cNvPr>
          <p:cNvSpPr/>
          <p:nvPr/>
        </p:nvSpPr>
        <p:spPr>
          <a:xfrm>
            <a:off x="4089400" y="5511800"/>
            <a:ext cx="77978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88941959-25E1-503A-3239-44C7C19136FA}"/>
              </a:ext>
            </a:extLst>
          </p:cNvPr>
          <p:cNvSpPr txBox="1"/>
          <p:nvPr/>
        </p:nvSpPr>
        <p:spPr>
          <a:xfrm>
            <a:off x="4165600" y="5562600"/>
            <a:ext cx="7645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Potential challenges and strategies to overcome them</a:t>
            </a:r>
            <a:endParaRPr lang="en-IN" sz="1150" b="1">
              <a:solidFill>
                <a:srgbClr val="0F766E"/>
              </a:solidFill>
              <a:latin typeface="Arial" panose="020B0604020202020204" pitchFamily="34" charset="0"/>
            </a:endParaRPr>
          </a:p>
        </p:txBody>
      </p:sp>
      <p:sp>
        <p:nvSpPr>
          <p:cNvPr id="30" name="TextBox 29">
            <a:extLst>
              <a:ext uri="{FF2B5EF4-FFF2-40B4-BE49-F238E27FC236}">
                <a16:creationId xmlns:a16="http://schemas.microsoft.com/office/drawing/2014/main" id="{4F23AAD2-39CD-B64D-7F86-2482CCEE8A3D}"/>
              </a:ext>
            </a:extLst>
          </p:cNvPr>
          <p:cNvSpPr txBox="1"/>
          <p:nvPr/>
        </p:nvSpPr>
        <p:spPr>
          <a:xfrm>
            <a:off x="41656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False alarms: </a:t>
            </a:r>
            <a:r>
              <a:rPr lang="en-US" sz="730">
                <a:solidFill>
                  <a:srgbClr val="1F2937"/>
                </a:solidFill>
                <a:latin typeface="Arial" panose="020B0604020202020204" pitchFamily="34" charset="0"/>
              </a:rPr>
              <a:t>persistence windows; HIGH needs two kinds of evidence</a:t>
            </a:r>
            <a:endParaRPr lang="en-IN" sz="730">
              <a:solidFill>
                <a:srgbClr val="1F2937"/>
              </a:solidFill>
              <a:latin typeface="Arial" panose="020B0604020202020204" pitchFamily="34" charset="0"/>
            </a:endParaRPr>
          </a:p>
        </p:txBody>
      </p:sp>
      <p:sp>
        <p:nvSpPr>
          <p:cNvPr id="31" name="TextBox 30">
            <a:extLst>
              <a:ext uri="{FF2B5EF4-FFF2-40B4-BE49-F238E27FC236}">
                <a16:creationId xmlns:a16="http://schemas.microsoft.com/office/drawing/2014/main" id="{CD08E65D-B3E9-0E10-CBB7-5B0607C900EF}"/>
              </a:ext>
            </a:extLst>
          </p:cNvPr>
          <p:cNvSpPr txBox="1"/>
          <p:nvPr/>
        </p:nvSpPr>
        <p:spPr>
          <a:xfrm>
            <a:off x="67564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Sensor fault or drift: </a:t>
            </a:r>
            <a:r>
              <a:rPr lang="en-US" sz="730">
                <a:solidFill>
                  <a:srgbClr val="1F2937"/>
                </a:solidFill>
                <a:latin typeface="Arial" panose="020B0604020202020204" pitchFamily="34" charset="0"/>
              </a:rPr>
              <a:t>health gate; chlorine probe checked with a DPD kit</a:t>
            </a:r>
            <a:endParaRPr lang="en-IN" sz="730">
              <a:solidFill>
                <a:srgbClr val="1F2937"/>
              </a:solidFill>
              <a:latin typeface="Arial" panose="020B0604020202020204" pitchFamily="34" charset="0"/>
            </a:endParaRPr>
          </a:p>
        </p:txBody>
      </p:sp>
      <p:sp>
        <p:nvSpPr>
          <p:cNvPr id="32" name="TextBox 31">
            <a:extLst>
              <a:ext uri="{FF2B5EF4-FFF2-40B4-BE49-F238E27FC236}">
                <a16:creationId xmlns:a16="http://schemas.microsoft.com/office/drawing/2014/main" id="{140DC7A0-6A32-CFF4-EE9A-3F15865E836A}"/>
              </a:ext>
            </a:extLst>
          </p:cNvPr>
          <p:cNvSpPr txBox="1"/>
          <p:nvPr/>
        </p:nvSpPr>
        <p:spPr>
          <a:xfrm>
            <a:off x="93472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Rural network: </a:t>
            </a:r>
            <a:r>
              <a:rPr lang="en-US" sz="730">
                <a:solidFill>
                  <a:srgbClr val="1F2937"/>
                </a:solidFill>
                <a:latin typeface="Arial" panose="020B0604020202020204" pitchFamily="34" charset="0"/>
              </a:rPr>
              <a:t>gateway buffers readings, sends when online</a:t>
            </a:r>
            <a:endParaRPr lang="en-IN" sz="730">
              <a:solidFill>
                <a:srgbClr val="1F2937"/>
              </a:solidFill>
              <a:latin typeface="Arial" panose="020B0604020202020204" pitchFamily="34" charset="0"/>
            </a:endParaRPr>
          </a:p>
        </p:txBody>
      </p:sp>
      <p:sp>
        <p:nvSpPr>
          <p:cNvPr id="33" name="TextBox 32">
            <a:extLst>
              <a:ext uri="{FF2B5EF4-FFF2-40B4-BE49-F238E27FC236}">
                <a16:creationId xmlns:a16="http://schemas.microsoft.com/office/drawing/2014/main" id="{B6A266E7-3216-C81C-4CC3-C2E56F6F1EBA}"/>
              </a:ext>
            </a:extLst>
          </p:cNvPr>
          <p:cNvSpPr txBox="1"/>
          <p:nvPr/>
        </p:nvSpPr>
        <p:spPr>
          <a:xfrm>
            <a:off x="41656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Trust in AI: </a:t>
            </a:r>
            <a:r>
              <a:rPr lang="en-US" sz="730">
                <a:solidFill>
                  <a:srgbClr val="1F2937"/>
                </a:solidFill>
                <a:latin typeface="Arial" panose="020B0604020202020204" pitchFamily="34" charset="0"/>
              </a:rPr>
              <a:t>every score shows its reasons</a:t>
            </a:r>
            <a:endParaRPr lang="en-IN" sz="730">
              <a:solidFill>
                <a:srgbClr val="1F2937"/>
              </a:solidFill>
              <a:latin typeface="Arial" panose="020B0604020202020204" pitchFamily="34" charset="0"/>
            </a:endParaRPr>
          </a:p>
        </p:txBody>
      </p:sp>
      <p:sp>
        <p:nvSpPr>
          <p:cNvPr id="34" name="TextBox 33">
            <a:extLst>
              <a:ext uri="{FF2B5EF4-FFF2-40B4-BE49-F238E27FC236}">
                <a16:creationId xmlns:a16="http://schemas.microsoft.com/office/drawing/2014/main" id="{1F9D678D-20A9-6B3F-BB21-DF1CD8894F19}"/>
              </a:ext>
            </a:extLst>
          </p:cNvPr>
          <p:cNvSpPr txBox="1"/>
          <p:nvPr/>
        </p:nvSpPr>
        <p:spPr>
          <a:xfrm>
            <a:off x="67564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730" b="1">
                <a:solidFill>
                  <a:srgbClr val="B91C1C"/>
                </a:solidFill>
                <a:latin typeface="Arial" panose="020B0604020202020204" pitchFamily="34" charset="0"/>
              </a:rPr>
              <a:t>Leak vs noise: </a:t>
            </a:r>
            <a:r>
              <a:rPr lang="en-IN" sz="730">
                <a:solidFill>
                  <a:srgbClr val="1F2937"/>
                </a:solidFill>
                <a:latin typeface="Arial" panose="020B0604020202020204" pitchFamily="34" charset="0"/>
              </a:rPr>
              <a:t>per-pipe acoustic baseline plus flow gap</a:t>
            </a:r>
          </a:p>
        </p:txBody>
      </p:sp>
      <p:sp>
        <p:nvSpPr>
          <p:cNvPr id="35" name="TextBox 34">
            <a:extLst>
              <a:ext uri="{FF2B5EF4-FFF2-40B4-BE49-F238E27FC236}">
                <a16:creationId xmlns:a16="http://schemas.microsoft.com/office/drawing/2014/main" id="{85D7F1FF-14BC-6486-320B-536005C7C3BD}"/>
              </a:ext>
            </a:extLst>
          </p:cNvPr>
          <p:cNvSpPr txBox="1"/>
          <p:nvPr/>
        </p:nvSpPr>
        <p:spPr>
          <a:xfrm>
            <a:off x="93472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Platform access: </a:t>
            </a:r>
            <a:r>
              <a:rPr lang="en-US" sz="730">
                <a:solidFill>
                  <a:srgbClr val="1F2937"/>
                </a:solidFill>
                <a:latin typeface="Arial" panose="020B0604020202020204" pitchFamily="34" charset="0"/>
              </a:rPr>
              <a:t>adapters ready; official access and specifications needed</a:t>
            </a:r>
            <a:endParaRPr lang="en-IN" sz="730">
              <a:solidFill>
                <a:srgbClr val="1F2937"/>
              </a:solidFill>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D3F94E3E-9564-FCA5-9438-B1162EED193B}"/>
              </a:ext>
            </a:extLst>
          </p:cNvPr>
          <p:cNvSpPr/>
          <p:nvPr/>
        </p:nvSpPr>
        <p:spPr>
          <a:xfrm>
            <a:off x="304800" y="1117600"/>
            <a:ext cx="11582400" cy="2286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USERS INVOLVED</a:t>
            </a:r>
          </a:p>
        </p:txBody>
      </p:sp>
      <p:sp>
        <p:nvSpPr>
          <p:cNvPr id="3" name="Rectangle: Rounded Corners 2">
            <a:extLst>
              <a:ext uri="{FF2B5EF4-FFF2-40B4-BE49-F238E27FC236}">
                <a16:creationId xmlns:a16="http://schemas.microsoft.com/office/drawing/2014/main" id="{08EE8A5B-FDBE-E419-2CE6-69B059DCA483}"/>
              </a:ext>
            </a:extLst>
          </p:cNvPr>
          <p:cNvSpPr/>
          <p:nvPr/>
        </p:nvSpPr>
        <p:spPr>
          <a:xfrm>
            <a:off x="3048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A05A3624-1F8D-044D-3826-D2622290A6D6}"/>
              </a:ext>
            </a:extLst>
          </p:cNvPr>
          <p:cNvPicPr>
            <a:picLocks/>
          </p:cNvPicPr>
          <p:nvPr/>
        </p:nvPicPr>
        <p:blipFill>
          <a:blip r:embed="rId4"/>
          <a:stretch>
            <a:fillRect/>
          </a:stretch>
        </p:blipFill>
        <p:spPr>
          <a:xfrm>
            <a:off x="355600" y="1447800"/>
            <a:ext cx="304800" cy="304800"/>
          </a:xfrm>
          <a:prstGeom prst="rect">
            <a:avLst/>
          </a:prstGeom>
        </p:spPr>
      </p:pic>
      <p:sp>
        <p:nvSpPr>
          <p:cNvPr id="8" name="TextBox 7">
            <a:extLst>
              <a:ext uri="{FF2B5EF4-FFF2-40B4-BE49-F238E27FC236}">
                <a16:creationId xmlns:a16="http://schemas.microsoft.com/office/drawing/2014/main" id="{F5096DB1-EB16-1721-FA98-FE13B8614827}"/>
              </a:ext>
            </a:extLst>
          </p:cNvPr>
          <p:cNvSpPr txBox="1"/>
          <p:nvPr/>
        </p:nvSpPr>
        <p:spPr>
          <a:xfrm>
            <a:off x="7112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Villagers</a:t>
            </a:r>
          </a:p>
        </p:txBody>
      </p:sp>
      <p:sp>
        <p:nvSpPr>
          <p:cNvPr id="9" name="TextBox 8">
            <a:extLst>
              <a:ext uri="{FF2B5EF4-FFF2-40B4-BE49-F238E27FC236}">
                <a16:creationId xmlns:a16="http://schemas.microsoft.com/office/drawing/2014/main" id="{1D81ADD4-CDC7-4E69-2F13-4074FD5E6CDA}"/>
              </a:ext>
            </a:extLst>
          </p:cNvPr>
          <p:cNvSpPr txBox="1"/>
          <p:nvPr/>
        </p:nvSpPr>
        <p:spPr>
          <a:xfrm>
            <a:off x="3683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Report problems with a photo, check their tap daily, and get alerts and advisories in their own language</a:t>
            </a:r>
            <a:endParaRPr lang="en-IN" sz="85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75A753E3-CF94-05D7-286D-F9733EBAFF4B}"/>
              </a:ext>
            </a:extLst>
          </p:cNvPr>
          <p:cNvSpPr/>
          <p:nvPr/>
        </p:nvSpPr>
        <p:spPr>
          <a:xfrm>
            <a:off x="26289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510A87AB-E7F5-47EE-1D2B-F707DA7C522F}"/>
              </a:ext>
            </a:extLst>
          </p:cNvPr>
          <p:cNvPicPr>
            <a:picLocks/>
          </p:cNvPicPr>
          <p:nvPr/>
        </p:nvPicPr>
        <p:blipFill>
          <a:blip r:embed="rId5"/>
          <a:stretch>
            <a:fillRect/>
          </a:stretch>
        </p:blipFill>
        <p:spPr>
          <a:xfrm>
            <a:off x="2679700" y="1447800"/>
            <a:ext cx="304800" cy="304800"/>
          </a:xfrm>
          <a:prstGeom prst="rect">
            <a:avLst/>
          </a:prstGeom>
        </p:spPr>
      </p:pic>
      <p:sp>
        <p:nvSpPr>
          <p:cNvPr id="16" name="TextBox 15">
            <a:extLst>
              <a:ext uri="{FF2B5EF4-FFF2-40B4-BE49-F238E27FC236}">
                <a16:creationId xmlns:a16="http://schemas.microsoft.com/office/drawing/2014/main" id="{20327744-6D73-CAA9-522A-B0D790A216E6}"/>
              </a:ext>
            </a:extLst>
          </p:cNvPr>
          <p:cNvSpPr txBox="1"/>
          <p:nvPr/>
        </p:nvSpPr>
        <p:spPr>
          <a:xfrm>
            <a:off x="30353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VWSC and Gram Panchayat</a:t>
            </a:r>
          </a:p>
        </p:txBody>
      </p:sp>
      <p:sp>
        <p:nvSpPr>
          <p:cNvPr id="17" name="TextBox 16">
            <a:extLst>
              <a:ext uri="{FF2B5EF4-FFF2-40B4-BE49-F238E27FC236}">
                <a16:creationId xmlns:a16="http://schemas.microsoft.com/office/drawing/2014/main" id="{DB1A2012-A4F6-6B41-7F9F-0C2E6689F832}"/>
              </a:ext>
            </a:extLst>
          </p:cNvPr>
          <p:cNvSpPr txBox="1"/>
          <p:nvPr/>
        </p:nvSpPr>
        <p:spPr>
          <a:xfrm>
            <a:off x="26924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See alerts, household tap status and a ranked repair list; confirm that water is really restored</a:t>
            </a:r>
            <a:endParaRPr lang="en-IN" sz="850">
              <a:solidFill>
                <a:srgbClr val="1F2937"/>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3899F9F8-F129-7EBC-18AC-D78242F6C414}"/>
              </a:ext>
            </a:extLst>
          </p:cNvPr>
          <p:cNvSpPr/>
          <p:nvPr/>
        </p:nvSpPr>
        <p:spPr>
          <a:xfrm>
            <a:off x="49530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4EAA4413-0472-F070-CF16-85B1A3C14B3F}"/>
              </a:ext>
            </a:extLst>
          </p:cNvPr>
          <p:cNvPicPr>
            <a:picLocks/>
          </p:cNvPicPr>
          <p:nvPr/>
        </p:nvPicPr>
        <p:blipFill>
          <a:blip r:embed="rId6"/>
          <a:stretch>
            <a:fillRect/>
          </a:stretch>
        </p:blipFill>
        <p:spPr>
          <a:xfrm>
            <a:off x="5003800" y="1447800"/>
            <a:ext cx="304800" cy="304800"/>
          </a:xfrm>
          <a:prstGeom prst="rect">
            <a:avLst/>
          </a:prstGeom>
        </p:spPr>
      </p:pic>
      <p:sp>
        <p:nvSpPr>
          <p:cNvPr id="21" name="TextBox 20">
            <a:extLst>
              <a:ext uri="{FF2B5EF4-FFF2-40B4-BE49-F238E27FC236}">
                <a16:creationId xmlns:a16="http://schemas.microsoft.com/office/drawing/2014/main" id="{EF53D1F2-7D5D-1EA1-7D16-4D4F3FDF2673}"/>
              </a:ext>
            </a:extLst>
          </p:cNvPr>
          <p:cNvSpPr txBox="1"/>
          <p:nvPr/>
        </p:nvSpPr>
        <p:spPr>
          <a:xfrm>
            <a:off x="53594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Technicians and operators</a:t>
            </a:r>
          </a:p>
        </p:txBody>
      </p:sp>
      <p:sp>
        <p:nvSpPr>
          <p:cNvPr id="22" name="TextBox 21">
            <a:extLst>
              <a:ext uri="{FF2B5EF4-FFF2-40B4-BE49-F238E27FC236}">
                <a16:creationId xmlns:a16="http://schemas.microsoft.com/office/drawing/2014/main" id="{E0A3F3EC-CDDF-4665-6547-1A20CD29D613}"/>
              </a:ext>
            </a:extLst>
          </p:cNvPr>
          <p:cNvSpPr txBox="1"/>
          <p:nvPr/>
        </p:nvSpPr>
        <p:spPr>
          <a:xfrm>
            <a:off x="50165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Receive tasks with the pipeline, evidence and location; close them when readings recover</a:t>
            </a:r>
            <a:endParaRPr lang="en-IN" sz="850">
              <a:solidFill>
                <a:srgbClr val="1F2937"/>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B2E8B219-F467-F272-3A58-527CC422AED3}"/>
              </a:ext>
            </a:extLst>
          </p:cNvPr>
          <p:cNvSpPr/>
          <p:nvPr/>
        </p:nvSpPr>
        <p:spPr>
          <a:xfrm>
            <a:off x="72771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547DC4A1-58E3-CFA3-F580-4DEFE1182739}"/>
              </a:ext>
            </a:extLst>
          </p:cNvPr>
          <p:cNvPicPr>
            <a:picLocks/>
          </p:cNvPicPr>
          <p:nvPr/>
        </p:nvPicPr>
        <p:blipFill>
          <a:blip r:embed="rId7"/>
          <a:stretch>
            <a:fillRect/>
          </a:stretch>
        </p:blipFill>
        <p:spPr>
          <a:xfrm>
            <a:off x="7327900" y="1447800"/>
            <a:ext cx="304800" cy="304800"/>
          </a:xfrm>
          <a:prstGeom prst="rect">
            <a:avLst/>
          </a:prstGeom>
        </p:spPr>
      </p:pic>
      <p:sp>
        <p:nvSpPr>
          <p:cNvPr id="26" name="TextBox 25">
            <a:extLst>
              <a:ext uri="{FF2B5EF4-FFF2-40B4-BE49-F238E27FC236}">
                <a16:creationId xmlns:a16="http://schemas.microsoft.com/office/drawing/2014/main" id="{61486157-7661-CEAD-08EE-229D7481BAD8}"/>
              </a:ext>
            </a:extLst>
          </p:cNvPr>
          <p:cNvSpPr txBox="1"/>
          <p:nvPr/>
        </p:nvSpPr>
        <p:spPr>
          <a:xfrm>
            <a:off x="76835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Implementing agencies</a:t>
            </a:r>
          </a:p>
        </p:txBody>
      </p:sp>
      <p:sp>
        <p:nvSpPr>
          <p:cNvPr id="27" name="TextBox 26">
            <a:extLst>
              <a:ext uri="{FF2B5EF4-FFF2-40B4-BE49-F238E27FC236}">
                <a16:creationId xmlns:a16="http://schemas.microsoft.com/office/drawing/2014/main" id="{FA8EC400-0C02-D519-F7A5-DD358A184270}"/>
              </a:ext>
            </a:extLst>
          </p:cNvPr>
          <p:cNvSpPr txBox="1"/>
          <p:nvPr/>
        </p:nvSpPr>
        <p:spPr>
          <a:xfrm>
            <a:off x="73406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Plan preventive maintenance from risk scores and fault history instead of waiting for breakdowns</a:t>
            </a:r>
            <a:endParaRPr lang="en-IN" sz="85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0DF1FC6A-4AA3-5F94-34B6-3D436934FC25}"/>
              </a:ext>
            </a:extLst>
          </p:cNvPr>
          <p:cNvSpPr/>
          <p:nvPr/>
        </p:nvSpPr>
        <p:spPr>
          <a:xfrm>
            <a:off x="96012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F6D6ED16-AC2B-EBB0-7E20-D018BAAD96D7}"/>
              </a:ext>
            </a:extLst>
          </p:cNvPr>
          <p:cNvPicPr>
            <a:picLocks/>
          </p:cNvPicPr>
          <p:nvPr/>
        </p:nvPicPr>
        <p:blipFill>
          <a:blip r:embed="rId8"/>
          <a:stretch>
            <a:fillRect/>
          </a:stretch>
        </p:blipFill>
        <p:spPr>
          <a:xfrm>
            <a:off x="9652000" y="1447800"/>
            <a:ext cx="304800" cy="304800"/>
          </a:xfrm>
          <a:prstGeom prst="rect">
            <a:avLst/>
          </a:prstGeom>
        </p:spPr>
      </p:pic>
      <p:sp>
        <p:nvSpPr>
          <p:cNvPr id="31" name="TextBox 30">
            <a:extLst>
              <a:ext uri="{FF2B5EF4-FFF2-40B4-BE49-F238E27FC236}">
                <a16:creationId xmlns:a16="http://schemas.microsoft.com/office/drawing/2014/main" id="{C38D746A-D286-37CA-F427-32628BF282CC}"/>
              </a:ext>
            </a:extLst>
          </p:cNvPr>
          <p:cNvSpPr txBox="1"/>
          <p:nvPr/>
        </p:nvSpPr>
        <p:spPr>
          <a:xfrm>
            <a:off x="100076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District and State authorities</a:t>
            </a:r>
          </a:p>
        </p:txBody>
      </p:sp>
      <p:sp>
        <p:nvSpPr>
          <p:cNvPr id="32" name="TextBox 31">
            <a:extLst>
              <a:ext uri="{FF2B5EF4-FFF2-40B4-BE49-F238E27FC236}">
                <a16:creationId xmlns:a16="http://schemas.microsoft.com/office/drawing/2014/main" id="{B1B7D06A-D019-766F-FA66-0AB135E66D52}"/>
              </a:ext>
            </a:extLst>
          </p:cNvPr>
          <p:cNvSpPr txBox="1"/>
          <p:nvPr/>
        </p:nvSpPr>
        <p:spPr>
          <a:xfrm>
            <a:off x="96647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Multi-level analytics and GIS; data prepared for IMIS, Sujal Gaon IDs and the JJM platforms</a:t>
            </a:r>
            <a:endParaRPr lang="en-IN" sz="850">
              <a:solidFill>
                <a:srgbClr val="1F2937"/>
              </a:solidFill>
              <a:latin typeface="Arial" panose="020B0604020202020204" pitchFamily="34" charset="0"/>
            </a:endParaRPr>
          </a:p>
        </p:txBody>
      </p:sp>
      <p:sp>
        <p:nvSpPr>
          <p:cNvPr id="33" name="Rectangle: Rounded Corners 32">
            <a:extLst>
              <a:ext uri="{FF2B5EF4-FFF2-40B4-BE49-F238E27FC236}">
                <a16:creationId xmlns:a16="http://schemas.microsoft.com/office/drawing/2014/main" id="{8FB6ABEF-6254-DF7D-8832-6DAAEEB381D5}"/>
              </a:ext>
            </a:extLst>
          </p:cNvPr>
          <p:cNvSpPr/>
          <p:nvPr/>
        </p:nvSpPr>
        <p:spPr>
          <a:xfrm>
            <a:off x="304800" y="2540000"/>
            <a:ext cx="3759200" cy="1905000"/>
          </a:xfrm>
          <a:prstGeom prst="roundRect">
            <a:avLst>
              <a:gd name="adj" fmla="val 8000"/>
            </a:avLst>
          </a:prstGeom>
          <a:solidFill>
            <a:srgbClr val="E6F4F1"/>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1B9436BD-4D3F-2542-C5EF-F24F95DB579F}"/>
              </a:ext>
            </a:extLst>
          </p:cNvPr>
          <p:cNvSpPr/>
          <p:nvPr/>
        </p:nvSpPr>
        <p:spPr>
          <a:xfrm>
            <a:off x="304800" y="2540000"/>
            <a:ext cx="3759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SOCIAL BENEFITS</a:t>
            </a:r>
          </a:p>
        </p:txBody>
      </p:sp>
      <p:sp>
        <p:nvSpPr>
          <p:cNvPr id="35" name="TextBox 34">
            <a:extLst>
              <a:ext uri="{FF2B5EF4-FFF2-40B4-BE49-F238E27FC236}">
                <a16:creationId xmlns:a16="http://schemas.microsoft.com/office/drawing/2014/main" id="{35818C24-7E8D-FA1D-589F-7CD9C1C24BC7}"/>
              </a:ext>
            </a:extLst>
          </p:cNvPr>
          <p:cNvSpPr txBox="1"/>
          <p:nvPr/>
        </p:nvSpPr>
        <p:spPr>
          <a:xfrm>
            <a:off x="3810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Dry taps get fixed sooner, and the villager is told when water is restored</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A voice for every household, in local languages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Boil-water advisory to homes when a field test fails, plus a confirmatory lab test request</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Tail-end homes stop being invisible</a:t>
            </a:r>
            <a:endParaRPr lang="en-IN" sz="1040">
              <a:solidFill>
                <a:srgbClr val="1F2937"/>
              </a:solidFill>
              <a:latin typeface="Arial" panose="020B0604020202020204" pitchFamily="34" charset="0"/>
            </a:endParaRPr>
          </a:p>
        </p:txBody>
      </p:sp>
      <p:sp>
        <p:nvSpPr>
          <p:cNvPr id="36" name="Rectangle: Rounded Corners 35">
            <a:extLst>
              <a:ext uri="{FF2B5EF4-FFF2-40B4-BE49-F238E27FC236}">
                <a16:creationId xmlns:a16="http://schemas.microsoft.com/office/drawing/2014/main" id="{B1A6AF5E-6E41-BC5A-331A-B3B7C7FE5FC8}"/>
              </a:ext>
            </a:extLst>
          </p:cNvPr>
          <p:cNvSpPr/>
          <p:nvPr/>
        </p:nvSpPr>
        <p:spPr>
          <a:xfrm>
            <a:off x="4216400" y="2540000"/>
            <a:ext cx="3759200" cy="1905000"/>
          </a:xfrm>
          <a:prstGeom prst="roundRect">
            <a:avLst>
              <a:gd name="adj" fmla="val 8000"/>
            </a:avLst>
          </a:prstGeom>
          <a:solidFill>
            <a:srgbClr val="E0F2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DBCE62E3-1861-4FF0-C2B2-BF8A845DB047}"/>
              </a:ext>
            </a:extLst>
          </p:cNvPr>
          <p:cNvSpPr/>
          <p:nvPr/>
        </p:nvSpPr>
        <p:spPr>
          <a:xfrm>
            <a:off x="4216400" y="2540000"/>
            <a:ext cx="3759200" cy="2540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ECONOMIC BENEFITS</a:t>
            </a:r>
          </a:p>
        </p:txBody>
      </p:sp>
      <p:sp>
        <p:nvSpPr>
          <p:cNvPr id="38" name="TextBox 37">
            <a:extLst>
              <a:ext uri="{FF2B5EF4-FFF2-40B4-BE49-F238E27FC236}">
                <a16:creationId xmlns:a16="http://schemas.microsoft.com/office/drawing/2014/main" id="{BC155ED6-D392-15D7-F73D-0DBD5B7FB757}"/>
              </a:ext>
            </a:extLst>
          </p:cNvPr>
          <p:cNvSpPr txBox="1"/>
          <p:nvPr/>
        </p:nvSpPr>
        <p:spPr>
          <a:xfrm>
            <a:off x="42926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Inspect the riskiest pipes first: fewer repeat repairs and wasted visits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Leaks near monitored points are flagged earlier</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Less treated water lost to unseen leaks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Evidence replaces guesswork in planning and budgets</a:t>
            </a:r>
            <a:endParaRPr lang="en-IN" sz="1040">
              <a:solidFill>
                <a:srgbClr val="1F2937"/>
              </a:solidFill>
              <a:latin typeface="Arial" panose="020B0604020202020204" pitchFamily="34" charset="0"/>
            </a:endParaRPr>
          </a:p>
        </p:txBody>
      </p:sp>
      <p:sp>
        <p:nvSpPr>
          <p:cNvPr id="39" name="Rectangle: Rounded Corners 38">
            <a:extLst>
              <a:ext uri="{FF2B5EF4-FFF2-40B4-BE49-F238E27FC236}">
                <a16:creationId xmlns:a16="http://schemas.microsoft.com/office/drawing/2014/main" id="{FCFA7740-B77E-CE9C-3308-D967284EA028}"/>
              </a:ext>
            </a:extLst>
          </p:cNvPr>
          <p:cNvSpPr/>
          <p:nvPr/>
        </p:nvSpPr>
        <p:spPr>
          <a:xfrm>
            <a:off x="8128000" y="2540000"/>
            <a:ext cx="3759200" cy="1905000"/>
          </a:xfrm>
          <a:prstGeom prst="roundRect">
            <a:avLst>
              <a:gd name="adj" fmla="val 8000"/>
            </a:avLst>
          </a:prstGeom>
          <a:solidFill>
            <a:srgbClr val="DCFCE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80772518-DF9A-C30F-CBF1-C9BF6A0E94E6}"/>
              </a:ext>
            </a:extLst>
          </p:cNvPr>
          <p:cNvSpPr/>
          <p:nvPr/>
        </p:nvSpPr>
        <p:spPr>
          <a:xfrm>
            <a:off x="8128000" y="2540000"/>
            <a:ext cx="3759200" cy="2540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ENVIRONMENTAL BENEFITS</a:t>
            </a:r>
          </a:p>
        </p:txBody>
      </p:sp>
      <p:sp>
        <p:nvSpPr>
          <p:cNvPr id="41" name="TextBox 40">
            <a:extLst>
              <a:ext uri="{FF2B5EF4-FFF2-40B4-BE49-F238E27FC236}">
                <a16:creationId xmlns:a16="http://schemas.microsoft.com/office/drawing/2014/main" id="{74F3B583-F93E-AB41-FE43-47434D56FD12}"/>
              </a:ext>
            </a:extLst>
          </p:cNvPr>
          <p:cNvSpPr txBox="1"/>
          <p:nvPr/>
        </p:nvSpPr>
        <p:spPr>
          <a:xfrm>
            <a:off x="82042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Early leak detection saves treated water and pumping energy</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Solar-powered nodes: no grid cabling</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Low-power LoRa links and sleep cycles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Measured chlorine helps avoid both under- and over-dosing</a:t>
            </a:r>
            <a:endParaRPr lang="en-IN" sz="1040">
              <a:solidFill>
                <a:srgbClr val="1F2937"/>
              </a:solidFill>
              <a:latin typeface="Arial" panose="020B0604020202020204" pitchFamily="34" charset="0"/>
            </a:endParaRPr>
          </a:p>
        </p:txBody>
      </p:sp>
      <p:sp>
        <p:nvSpPr>
          <p:cNvPr id="42" name="Rectangle: Rounded Corners 41">
            <a:extLst>
              <a:ext uri="{FF2B5EF4-FFF2-40B4-BE49-F238E27FC236}">
                <a16:creationId xmlns:a16="http://schemas.microsoft.com/office/drawing/2014/main" id="{79B728B5-2DBE-72E5-BE2F-640D0AE5BC3D}"/>
              </a:ext>
            </a:extLst>
          </p:cNvPr>
          <p:cNvSpPr/>
          <p:nvPr/>
        </p:nvSpPr>
        <p:spPr>
          <a:xfrm>
            <a:off x="304800" y="4521200"/>
            <a:ext cx="5969000" cy="1473200"/>
          </a:xfrm>
          <a:prstGeom prst="roundRect">
            <a:avLst>
              <a:gd name="adj" fmla="val 8000"/>
            </a:avLst>
          </a:prstGeom>
          <a:solidFill>
            <a:srgbClr val="F5F3FF"/>
          </a:solidFill>
          <a:ln w="9525">
            <a:solidFill>
              <a:srgbClr val="C4B5F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6132C09F-8CBE-8F69-23DC-803F28C6FF2C}"/>
              </a:ext>
            </a:extLst>
          </p:cNvPr>
          <p:cNvSpPr/>
          <p:nvPr/>
        </p:nvSpPr>
        <p:spPr>
          <a:xfrm>
            <a:off x="304800" y="4521200"/>
            <a:ext cx="5969000" cy="2540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1000" b="1">
                <a:solidFill>
                  <a:srgbClr val="FFFFFF"/>
                </a:solidFill>
                <a:latin typeface="Arial" panose="020B0604020202020204" pitchFamily="34" charset="0"/>
              </a:rPr>
              <a:t>EARLY DETECTION AND PREDICTION, THEN ACTION</a:t>
            </a:r>
            <a:endParaRPr lang="en-IN" sz="1000" b="1">
              <a:solidFill>
                <a:srgbClr val="FFFFFF"/>
              </a:solidFill>
              <a:latin typeface="Arial" panose="020B0604020202020204" pitchFamily="34" charset="0"/>
            </a:endParaRPr>
          </a:p>
        </p:txBody>
      </p:sp>
      <p:sp>
        <p:nvSpPr>
          <p:cNvPr id="44" name="Arrow: Pentagon 43">
            <a:extLst>
              <a:ext uri="{FF2B5EF4-FFF2-40B4-BE49-F238E27FC236}">
                <a16:creationId xmlns:a16="http://schemas.microsoft.com/office/drawing/2014/main" id="{32AD8758-D34E-7EC6-5720-7D67687C1A55}"/>
              </a:ext>
            </a:extLst>
          </p:cNvPr>
          <p:cNvSpPr/>
          <p:nvPr/>
        </p:nvSpPr>
        <p:spPr>
          <a:xfrm>
            <a:off x="381000" y="4826000"/>
            <a:ext cx="2032000" cy="279400"/>
          </a:xfrm>
          <a:prstGeom prst="homePlate">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DETECT EARLY</a:t>
            </a:r>
          </a:p>
        </p:txBody>
      </p:sp>
      <p:sp>
        <p:nvSpPr>
          <p:cNvPr id="45" name="TextBox 44">
            <a:extLst>
              <a:ext uri="{FF2B5EF4-FFF2-40B4-BE49-F238E27FC236}">
                <a16:creationId xmlns:a16="http://schemas.microsoft.com/office/drawing/2014/main" id="{0F1B3C72-D697-8450-BAA1-7072E3CF5645}"/>
              </a:ext>
            </a:extLst>
          </p:cNvPr>
          <p:cNvSpPr txBox="1"/>
          <p:nvPr/>
        </p:nvSpPr>
        <p:spPr>
          <a:xfrm>
            <a:off x="406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Acoustic leak noise, pressure trend, chlorine probe and sensor health, before villagers notice</a:t>
            </a:r>
            <a:endParaRPr lang="en-IN" sz="860">
              <a:solidFill>
                <a:srgbClr val="1F2937"/>
              </a:solidFill>
              <a:latin typeface="Arial" panose="020B0604020202020204" pitchFamily="34" charset="0"/>
            </a:endParaRPr>
          </a:p>
        </p:txBody>
      </p:sp>
      <p:sp>
        <p:nvSpPr>
          <p:cNvPr id="46" name="Arrow: Chevron 45">
            <a:extLst>
              <a:ext uri="{FF2B5EF4-FFF2-40B4-BE49-F238E27FC236}">
                <a16:creationId xmlns:a16="http://schemas.microsoft.com/office/drawing/2014/main" id="{59C8DFA9-1227-1ADE-45DA-6641F543CDAF}"/>
              </a:ext>
            </a:extLst>
          </p:cNvPr>
          <p:cNvSpPr/>
          <p:nvPr/>
        </p:nvSpPr>
        <p:spPr>
          <a:xfrm>
            <a:off x="2349500" y="4826000"/>
            <a:ext cx="2032000" cy="279400"/>
          </a:xfrm>
          <a:prstGeom prst="chevron">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PREDICT</a:t>
            </a:r>
          </a:p>
        </p:txBody>
      </p:sp>
      <p:sp>
        <p:nvSpPr>
          <p:cNvPr id="47" name="TextBox 46">
            <a:extLst>
              <a:ext uri="{FF2B5EF4-FFF2-40B4-BE49-F238E27FC236}">
                <a16:creationId xmlns:a16="http://schemas.microsoft.com/office/drawing/2014/main" id="{108F6185-CEB5-DA80-4A81-56EEBD0CEEF5}"/>
              </a:ext>
            </a:extLst>
          </p:cNvPr>
          <p:cNvSpPr txBox="1"/>
          <p:nvPr/>
        </p:nvSpPr>
        <p:spPr>
          <a:xfrm>
            <a:off x="23749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Pressure and chlorine trends, and pipes ranked by recent fault evidence, with reasons</a:t>
            </a:r>
            <a:endParaRPr lang="en-IN" sz="860">
              <a:solidFill>
                <a:srgbClr val="1F2937"/>
              </a:solidFill>
              <a:latin typeface="Arial" panose="020B0604020202020204" pitchFamily="34" charset="0"/>
            </a:endParaRPr>
          </a:p>
        </p:txBody>
      </p:sp>
      <p:sp>
        <p:nvSpPr>
          <p:cNvPr id="48" name="Arrow: Chevron 47">
            <a:extLst>
              <a:ext uri="{FF2B5EF4-FFF2-40B4-BE49-F238E27FC236}">
                <a16:creationId xmlns:a16="http://schemas.microsoft.com/office/drawing/2014/main" id="{11658F2F-E469-4CE1-6F98-D9A1ABF41A1D}"/>
              </a:ext>
            </a:extLst>
          </p:cNvPr>
          <p:cNvSpPr/>
          <p:nvPr/>
        </p:nvSpPr>
        <p:spPr>
          <a:xfrm>
            <a:off x="4318000" y="4826000"/>
            <a:ext cx="2032000" cy="2794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ACT BEFORE IT SPREADS</a:t>
            </a:r>
          </a:p>
        </p:txBody>
      </p:sp>
      <p:sp>
        <p:nvSpPr>
          <p:cNvPr id="49" name="TextBox 48">
            <a:extLst>
              <a:ext uri="{FF2B5EF4-FFF2-40B4-BE49-F238E27FC236}">
                <a16:creationId xmlns:a16="http://schemas.microsoft.com/office/drawing/2014/main" id="{75F4950F-D527-12D3-8179-0E8600A6A1C9}"/>
              </a:ext>
            </a:extLst>
          </p:cNvPr>
          <p:cNvSpPr txBox="1"/>
          <p:nvPr/>
        </p:nvSpPr>
        <p:spPr>
          <a:xfrm>
            <a:off x="4343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Alert, planned inspection, repair, and restoration verified from readings</a:t>
            </a:r>
            <a:endParaRPr lang="en-IN" sz="860">
              <a:solidFill>
                <a:srgbClr val="1F2937"/>
              </a:solidFill>
              <a:latin typeface="Arial" panose="020B0604020202020204" pitchFamily="34" charset="0"/>
            </a:endParaRPr>
          </a:p>
        </p:txBody>
      </p:sp>
      <p:sp>
        <p:nvSpPr>
          <p:cNvPr id="50" name="Rectangle: Rounded Corners 49">
            <a:extLst>
              <a:ext uri="{FF2B5EF4-FFF2-40B4-BE49-F238E27FC236}">
                <a16:creationId xmlns:a16="http://schemas.microsoft.com/office/drawing/2014/main" id="{0432DCE6-4423-6F69-8162-9DF334BB33C9}"/>
              </a:ext>
            </a:extLst>
          </p:cNvPr>
          <p:cNvSpPr/>
          <p:nvPr/>
        </p:nvSpPr>
        <p:spPr>
          <a:xfrm>
            <a:off x="6350000" y="4521200"/>
            <a:ext cx="5537200" cy="1473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F0535BE5-0CED-3695-2450-8658DF02B116}"/>
              </a:ext>
            </a:extLst>
          </p:cNvPr>
          <p:cNvSpPr/>
          <p:nvPr/>
        </p:nvSpPr>
        <p:spPr>
          <a:xfrm>
            <a:off x="6350000" y="4521200"/>
            <a:ext cx="5537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WHAT A PILOT WILL MEASURE</a:t>
            </a:r>
          </a:p>
        </p:txBody>
      </p:sp>
      <p:sp>
        <p:nvSpPr>
          <p:cNvPr id="52" name="Oval 51">
            <a:extLst>
              <a:ext uri="{FF2B5EF4-FFF2-40B4-BE49-F238E27FC236}">
                <a16:creationId xmlns:a16="http://schemas.microsoft.com/office/drawing/2014/main" id="{FBEB071F-1236-AE2D-FD98-677FC35BC905}"/>
              </a:ext>
            </a:extLst>
          </p:cNvPr>
          <p:cNvSpPr/>
          <p:nvPr/>
        </p:nvSpPr>
        <p:spPr>
          <a:xfrm>
            <a:off x="64262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53" name="TextBox 52">
            <a:extLst>
              <a:ext uri="{FF2B5EF4-FFF2-40B4-BE49-F238E27FC236}">
                <a16:creationId xmlns:a16="http://schemas.microsoft.com/office/drawing/2014/main" id="{73F6A6AC-D84D-5F93-6593-BED564EC6248}"/>
              </a:ext>
            </a:extLst>
          </p:cNvPr>
          <p:cNvSpPr txBox="1"/>
          <p:nvPr/>
        </p:nvSpPr>
        <p:spPr>
          <a:xfrm>
            <a:off x="66675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fault to alert, vs complaint-led detection</a:t>
            </a:r>
            <a:endParaRPr lang="en-IN" sz="810">
              <a:solidFill>
                <a:srgbClr val="1F2937"/>
              </a:solidFill>
              <a:latin typeface="Arial" panose="020B0604020202020204" pitchFamily="34" charset="0"/>
            </a:endParaRPr>
          </a:p>
        </p:txBody>
      </p:sp>
      <p:sp>
        <p:nvSpPr>
          <p:cNvPr id="54" name="Oval 53">
            <a:extLst>
              <a:ext uri="{FF2B5EF4-FFF2-40B4-BE49-F238E27FC236}">
                <a16:creationId xmlns:a16="http://schemas.microsoft.com/office/drawing/2014/main" id="{EB3C846E-CF44-5175-CA56-C54099CE4F8B}"/>
              </a:ext>
            </a:extLst>
          </p:cNvPr>
          <p:cNvSpPr/>
          <p:nvPr/>
        </p:nvSpPr>
        <p:spPr>
          <a:xfrm>
            <a:off x="91567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55" name="TextBox 54">
            <a:extLst>
              <a:ext uri="{FF2B5EF4-FFF2-40B4-BE49-F238E27FC236}">
                <a16:creationId xmlns:a16="http://schemas.microsoft.com/office/drawing/2014/main" id="{BC8FB986-241D-BA91-8549-D656CAE56251}"/>
              </a:ext>
            </a:extLst>
          </p:cNvPr>
          <p:cNvSpPr txBox="1"/>
          <p:nvPr/>
        </p:nvSpPr>
        <p:spPr>
          <a:xfrm>
            <a:off x="93980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Time from alert to verified restoration</a:t>
            </a:r>
            <a:endParaRPr lang="en-IN" sz="810">
              <a:solidFill>
                <a:srgbClr val="1F2937"/>
              </a:solidFill>
              <a:latin typeface="Arial" panose="020B0604020202020204" pitchFamily="34" charset="0"/>
            </a:endParaRPr>
          </a:p>
        </p:txBody>
      </p:sp>
      <p:sp>
        <p:nvSpPr>
          <p:cNvPr id="56" name="Oval 55">
            <a:extLst>
              <a:ext uri="{FF2B5EF4-FFF2-40B4-BE49-F238E27FC236}">
                <a16:creationId xmlns:a16="http://schemas.microsoft.com/office/drawing/2014/main" id="{CF1FD130-A60E-0EB5-BAF6-45086967D7EE}"/>
              </a:ext>
            </a:extLst>
          </p:cNvPr>
          <p:cNvSpPr/>
          <p:nvPr/>
        </p:nvSpPr>
        <p:spPr>
          <a:xfrm>
            <a:off x="64262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57" name="TextBox 56">
            <a:extLst>
              <a:ext uri="{FF2B5EF4-FFF2-40B4-BE49-F238E27FC236}">
                <a16:creationId xmlns:a16="http://schemas.microsoft.com/office/drawing/2014/main" id="{0B59669A-5B09-37BF-1CA8-E13584320197}"/>
              </a:ext>
            </a:extLst>
          </p:cNvPr>
          <p:cNvSpPr txBox="1"/>
          <p:nvPr/>
        </p:nvSpPr>
        <p:spPr>
          <a:xfrm>
            <a:off x="66675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IN" sz="810">
                <a:solidFill>
                  <a:srgbClr val="1F2937"/>
                </a:solidFill>
                <a:latin typeface="Arial" panose="020B0604020202020204" pitchFamily="34" charset="0"/>
              </a:rPr>
              <a:t>Share of days each household reports water</a:t>
            </a:r>
          </a:p>
        </p:txBody>
      </p:sp>
      <p:sp>
        <p:nvSpPr>
          <p:cNvPr id="58" name="Oval 57">
            <a:extLst>
              <a:ext uri="{FF2B5EF4-FFF2-40B4-BE49-F238E27FC236}">
                <a16:creationId xmlns:a16="http://schemas.microsoft.com/office/drawing/2014/main" id="{D96358D0-AA6B-06A8-2E2E-F3B187023C0D}"/>
              </a:ext>
            </a:extLst>
          </p:cNvPr>
          <p:cNvSpPr/>
          <p:nvPr/>
        </p:nvSpPr>
        <p:spPr>
          <a:xfrm>
            <a:off x="91567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59" name="TextBox 58">
            <a:extLst>
              <a:ext uri="{FF2B5EF4-FFF2-40B4-BE49-F238E27FC236}">
                <a16:creationId xmlns:a16="http://schemas.microsoft.com/office/drawing/2014/main" id="{DB342030-719B-2925-6396-DA0DEC742F5C}"/>
              </a:ext>
            </a:extLst>
          </p:cNvPr>
          <p:cNvSpPr txBox="1"/>
          <p:nvPr/>
        </p:nvSpPr>
        <p:spPr>
          <a:xfrm>
            <a:off x="93980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False-alarm rate under the two-evidence rule</a:t>
            </a:r>
            <a:endParaRPr lang="en-IN" sz="810">
              <a:solidFill>
                <a:srgbClr val="1F2937"/>
              </a:solidFill>
              <a:latin typeface="Arial" panose="020B0604020202020204" pitchFamily="34" charset="0"/>
            </a:endParaRPr>
          </a:p>
        </p:txBody>
      </p:sp>
      <p:sp>
        <p:nvSpPr>
          <p:cNvPr id="60" name="Oval 59">
            <a:extLst>
              <a:ext uri="{FF2B5EF4-FFF2-40B4-BE49-F238E27FC236}">
                <a16:creationId xmlns:a16="http://schemas.microsoft.com/office/drawing/2014/main" id="{BF8CCCA4-E6E2-81F5-0D51-D935D6F2EB76}"/>
              </a:ext>
            </a:extLst>
          </p:cNvPr>
          <p:cNvSpPr/>
          <p:nvPr/>
        </p:nvSpPr>
        <p:spPr>
          <a:xfrm>
            <a:off x="64262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61" name="TextBox 60">
            <a:extLst>
              <a:ext uri="{FF2B5EF4-FFF2-40B4-BE49-F238E27FC236}">
                <a16:creationId xmlns:a16="http://schemas.microsoft.com/office/drawing/2014/main" id="{6727C98E-D77F-88A5-7B61-46D23189C103}"/>
              </a:ext>
            </a:extLst>
          </p:cNvPr>
          <p:cNvSpPr txBox="1"/>
          <p:nvPr/>
        </p:nvSpPr>
        <p:spPr>
          <a:xfrm>
            <a:off x="66675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Low-chlorine events caught before a kit test</a:t>
            </a:r>
            <a:endParaRPr lang="en-IN" sz="810">
              <a:solidFill>
                <a:srgbClr val="1F2937"/>
              </a:solidFill>
              <a:latin typeface="Arial" panose="020B0604020202020204" pitchFamily="34" charset="0"/>
            </a:endParaRPr>
          </a:p>
        </p:txBody>
      </p:sp>
      <p:sp>
        <p:nvSpPr>
          <p:cNvPr id="62" name="Oval 61">
            <a:extLst>
              <a:ext uri="{FF2B5EF4-FFF2-40B4-BE49-F238E27FC236}">
                <a16:creationId xmlns:a16="http://schemas.microsoft.com/office/drawing/2014/main" id="{69290932-A9E8-7FA2-1447-7D65DE35107D}"/>
              </a:ext>
            </a:extLst>
          </p:cNvPr>
          <p:cNvSpPr/>
          <p:nvPr/>
        </p:nvSpPr>
        <p:spPr>
          <a:xfrm>
            <a:off x="91567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63" name="TextBox 62">
            <a:extLst>
              <a:ext uri="{FF2B5EF4-FFF2-40B4-BE49-F238E27FC236}">
                <a16:creationId xmlns:a16="http://schemas.microsoft.com/office/drawing/2014/main" id="{4ECC83AA-8D62-D846-05E8-632BCD9ED0A8}"/>
              </a:ext>
            </a:extLst>
          </p:cNvPr>
          <p:cNvSpPr txBox="1"/>
          <p:nvPr/>
        </p:nvSpPr>
        <p:spPr>
          <a:xfrm>
            <a:off x="93980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Repairs planned from the ranked risk list</a:t>
            </a:r>
            <a:endParaRPr lang="en-IN" sz="810">
              <a:solidFill>
                <a:srgbClr val="1F2937"/>
              </a:solidFill>
              <a:latin typeface="Arial" panose="020B0604020202020204" pitchFamily="34" charset="0"/>
            </a:endParaRPr>
          </a:p>
        </p:txBody>
      </p:sp>
      <p:sp>
        <p:nvSpPr>
          <p:cNvPr id="17408" name="TextBox 17407">
            <a:extLst>
              <a:ext uri="{FF2B5EF4-FFF2-40B4-BE49-F238E27FC236}">
                <a16:creationId xmlns:a16="http://schemas.microsoft.com/office/drawing/2014/main" id="{59F76EEC-B097-0302-25F8-483894E571E8}"/>
              </a:ext>
            </a:extLst>
          </p:cNvPr>
          <p:cNvSpPr txBox="1"/>
          <p:nvPr/>
        </p:nvSpPr>
        <p:spPr>
          <a:xfrm>
            <a:off x="304800" y="6045200"/>
            <a:ext cx="1524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900" b="1">
                <a:solidFill>
                  <a:srgbClr val="0F766E"/>
                </a:solidFill>
                <a:latin typeface="Arial" panose="020B0604020202020204" pitchFamily="34" charset="0"/>
              </a:rPr>
              <a:t>ROADMAP</a:t>
            </a:r>
          </a:p>
        </p:txBody>
      </p:sp>
      <p:sp>
        <p:nvSpPr>
          <p:cNvPr id="17411" name="Rectangle: Rounded Corners 17410">
            <a:extLst>
              <a:ext uri="{FF2B5EF4-FFF2-40B4-BE49-F238E27FC236}">
                <a16:creationId xmlns:a16="http://schemas.microsoft.com/office/drawing/2014/main" id="{5A323852-A5A7-D88A-ECD7-75F98D32CE14}"/>
              </a:ext>
            </a:extLst>
          </p:cNvPr>
          <p:cNvSpPr/>
          <p:nvPr/>
        </p:nvSpPr>
        <p:spPr>
          <a:xfrm>
            <a:off x="11430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Idea submission</a:t>
            </a:r>
          </a:p>
        </p:txBody>
      </p:sp>
      <p:cxnSp>
        <p:nvCxnSpPr>
          <p:cNvPr id="17412" name="Straight Connector 17411">
            <a:extLst>
              <a:ext uri="{FF2B5EF4-FFF2-40B4-BE49-F238E27FC236}">
                <a16:creationId xmlns:a16="http://schemas.microsoft.com/office/drawing/2014/main" id="{40FB17E4-15FA-7B5C-028F-7D04C7A7E7EF}"/>
              </a:ext>
            </a:extLst>
          </p:cNvPr>
          <p:cNvCxnSpPr/>
          <p:nvPr/>
        </p:nvCxnSpPr>
        <p:spPr>
          <a:xfrm>
            <a:off x="31496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3" name="Rectangle: Rounded Corners 17412">
            <a:extLst>
              <a:ext uri="{FF2B5EF4-FFF2-40B4-BE49-F238E27FC236}">
                <a16:creationId xmlns:a16="http://schemas.microsoft.com/office/drawing/2014/main" id="{15172304-7530-D2DF-C30D-E8EC02CE9054}"/>
              </a:ext>
            </a:extLst>
          </p:cNvPr>
          <p:cNvSpPr/>
          <p:nvPr/>
        </p:nvSpPr>
        <p:spPr>
          <a:xfrm>
            <a:off x="3276600" y="6057900"/>
            <a:ext cx="20066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Working software platform</a:t>
            </a:r>
          </a:p>
        </p:txBody>
      </p:sp>
      <p:cxnSp>
        <p:nvCxnSpPr>
          <p:cNvPr id="17414" name="Straight Connector 17413">
            <a:extLst>
              <a:ext uri="{FF2B5EF4-FFF2-40B4-BE49-F238E27FC236}">
                <a16:creationId xmlns:a16="http://schemas.microsoft.com/office/drawing/2014/main" id="{6EE34DCF-2631-4A03-2AA2-645A2FAB1064}"/>
              </a:ext>
            </a:extLst>
          </p:cNvPr>
          <p:cNvCxnSpPr/>
          <p:nvPr/>
        </p:nvCxnSpPr>
        <p:spPr>
          <a:xfrm>
            <a:off x="52832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5" name="Rectangle: Rounded Corners 17414">
            <a:extLst>
              <a:ext uri="{FF2B5EF4-FFF2-40B4-BE49-F238E27FC236}">
                <a16:creationId xmlns:a16="http://schemas.microsoft.com/office/drawing/2014/main" id="{ADA451BF-544C-182C-1DE3-CE4EFB40D1D3}"/>
              </a:ext>
            </a:extLst>
          </p:cNvPr>
          <p:cNvSpPr/>
          <p:nvPr/>
        </p:nvSpPr>
        <p:spPr>
          <a:xfrm>
            <a:off x="54102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US" sz="820" b="1">
                <a:solidFill>
                  <a:srgbClr val="FFFFFF"/>
                </a:solidFill>
                <a:latin typeface="Arial" panose="020B0604020202020204" pitchFamily="34" charset="0"/>
              </a:rPr>
              <a:t>Bench rig with real nodes</a:t>
            </a:r>
            <a:endParaRPr lang="en-IN" sz="820" b="1">
              <a:solidFill>
                <a:srgbClr val="FFFFFF"/>
              </a:solidFill>
              <a:latin typeface="Arial" panose="020B0604020202020204" pitchFamily="34" charset="0"/>
            </a:endParaRPr>
          </a:p>
        </p:txBody>
      </p:sp>
      <p:cxnSp>
        <p:nvCxnSpPr>
          <p:cNvPr id="17416" name="Straight Connector 17415">
            <a:extLst>
              <a:ext uri="{FF2B5EF4-FFF2-40B4-BE49-F238E27FC236}">
                <a16:creationId xmlns:a16="http://schemas.microsoft.com/office/drawing/2014/main" id="{CA434A35-7BD6-20ED-7879-C2DA9516E020}"/>
              </a:ext>
            </a:extLst>
          </p:cNvPr>
          <p:cNvCxnSpPr/>
          <p:nvPr/>
        </p:nvCxnSpPr>
        <p:spPr>
          <a:xfrm>
            <a:off x="74168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7" name="Rectangle: Rounded Corners 17416">
            <a:extLst>
              <a:ext uri="{FF2B5EF4-FFF2-40B4-BE49-F238E27FC236}">
                <a16:creationId xmlns:a16="http://schemas.microsoft.com/office/drawing/2014/main" id="{E6A3BC8A-4C12-0D00-CF6D-CD736763D57F}"/>
              </a:ext>
            </a:extLst>
          </p:cNvPr>
          <p:cNvSpPr/>
          <p:nvPr/>
        </p:nvSpPr>
        <p:spPr>
          <a:xfrm>
            <a:off x="75438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Finale demo</a:t>
            </a:r>
          </a:p>
        </p:txBody>
      </p:sp>
      <p:cxnSp>
        <p:nvCxnSpPr>
          <p:cNvPr id="17418" name="Straight Connector 17417">
            <a:extLst>
              <a:ext uri="{FF2B5EF4-FFF2-40B4-BE49-F238E27FC236}">
                <a16:creationId xmlns:a16="http://schemas.microsoft.com/office/drawing/2014/main" id="{AED19E66-BC8E-D803-B379-C1C8149B545F}"/>
              </a:ext>
            </a:extLst>
          </p:cNvPr>
          <p:cNvCxnSpPr/>
          <p:nvPr/>
        </p:nvCxnSpPr>
        <p:spPr>
          <a:xfrm>
            <a:off x="95504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9" name="Rectangle: Rounded Corners 17418">
            <a:extLst>
              <a:ext uri="{FF2B5EF4-FFF2-40B4-BE49-F238E27FC236}">
                <a16:creationId xmlns:a16="http://schemas.microsoft.com/office/drawing/2014/main" id="{81CEE2F3-0554-BFD6-7E48-4544C722523E}"/>
              </a:ext>
            </a:extLst>
          </p:cNvPr>
          <p:cNvSpPr/>
          <p:nvPr/>
        </p:nvSpPr>
        <p:spPr>
          <a:xfrm>
            <a:off x="9677400" y="6057900"/>
            <a:ext cx="2006600" cy="254000"/>
          </a:xfrm>
          <a:prstGeom prst="roundRect">
            <a:avLst>
              <a:gd name="adj" fmla="val 8000"/>
            </a:avLst>
          </a:prstGeom>
          <a:solidFill>
            <a:srgbClr val="47556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Field pilot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E98EACDB-45CB-6042-483B-470671A2C8F4}"/>
              </a:ext>
            </a:extLst>
          </p:cNvPr>
          <p:cNvSpPr txBox="1"/>
          <p:nvPr/>
        </p:nvSpPr>
        <p:spPr>
          <a:xfrm>
            <a:off x="304800" y="1117600"/>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Details / links of the reference and research work</a:t>
            </a:r>
            <a:endParaRPr lang="en-IN" sz="1100" b="1">
              <a:solidFill>
                <a:srgbClr val="0F766E"/>
              </a:solidFill>
              <a:latin typeface="Arial" panose="020B0604020202020204" pitchFamily="34" charset="0"/>
            </a:endParaRPr>
          </a:p>
        </p:txBody>
      </p:sp>
      <p:sp>
        <p:nvSpPr>
          <p:cNvPr id="3" name="TextBox 2">
            <a:extLst>
              <a:ext uri="{FF2B5EF4-FFF2-40B4-BE49-F238E27FC236}">
                <a16:creationId xmlns:a16="http://schemas.microsoft.com/office/drawing/2014/main" id="{358B6F66-8EE7-1FB4-65EE-9CDB78695CA4}"/>
              </a:ext>
            </a:extLst>
          </p:cNvPr>
          <p:cNvSpPr txBox="1"/>
          <p:nvPr/>
        </p:nvSpPr>
        <p:spPr>
          <a:xfrm>
            <a:off x="304800" y="1371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 </a:t>
            </a:r>
            <a:r>
              <a:rPr lang="en-IN" sz="860">
                <a:solidFill>
                  <a:srgbClr val="1F2937"/>
                </a:solidFill>
                <a:latin typeface="Arial" panose="020B0604020202020204" pitchFamily="34" charset="0"/>
              </a:rPr>
              <a:t>DDWS, Functionality Assessment of Household Tap Connection, National Report 2024</a:t>
            </a:r>
          </a:p>
          <a:p>
            <a:pPr>
              <a:spcBef>
                <a:spcPts val="0"/>
              </a:spcBef>
              <a:spcAft>
                <a:spcPts val="300"/>
              </a:spcAft>
            </a:pPr>
            <a:r>
              <a:rPr lang="en-IN" sz="700">
                <a:solidFill>
                  <a:srgbClr val="0070C0"/>
                </a:solidFill>
                <a:latin typeface="Arial" panose="020B0604020202020204" pitchFamily="34" charset="0"/>
                <a:hlinkClick r:id="rId4"/>
              </a:rPr>
              <a:t>jaljeevanmission.gov.in/sites/default/files/2025-12/FHTC_Na...</a:t>
            </a:r>
            <a:endParaRPr lang="en-IN" sz="700">
              <a:solidFill>
                <a:srgbClr val="0070C0"/>
              </a:solidFill>
              <a:latin typeface="Arial" panose="020B0604020202020204" pitchFamily="34" charset="0"/>
            </a:endParaRPr>
          </a:p>
        </p:txBody>
      </p:sp>
      <p:sp>
        <p:nvSpPr>
          <p:cNvPr id="4" name="TextBox 3">
            <a:extLst>
              <a:ext uri="{FF2B5EF4-FFF2-40B4-BE49-F238E27FC236}">
                <a16:creationId xmlns:a16="http://schemas.microsoft.com/office/drawing/2014/main" id="{E57BC858-360C-371A-2CF3-D51A1FDA3AAF}"/>
              </a:ext>
            </a:extLst>
          </p:cNvPr>
          <p:cNvSpPr txBox="1"/>
          <p:nvPr/>
        </p:nvSpPr>
        <p:spPr>
          <a:xfrm>
            <a:off x="304800" y="17145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[2] </a:t>
            </a:r>
            <a:r>
              <a:rPr lang="en-IN" sz="860">
                <a:solidFill>
                  <a:srgbClr val="1F2937"/>
                </a:solidFill>
                <a:latin typeface="Arial" panose="020B0604020202020204" pitchFamily="34" charset="0"/>
              </a:rPr>
              <a:t>PIB, 13 Aug 2026: 75% of rural habitations covered with Sujal Gaon IDs</a:t>
            </a:r>
          </a:p>
          <a:p>
            <a:pPr>
              <a:spcBef>
                <a:spcPts val="0"/>
              </a:spcBef>
              <a:spcAft>
                <a:spcPts val="300"/>
              </a:spcAft>
            </a:pPr>
            <a:r>
              <a:rPr lang="en-IN" sz="700">
                <a:solidFill>
                  <a:srgbClr val="0070C0"/>
                </a:solidFill>
                <a:latin typeface="Arial" panose="020B0604020202020204" pitchFamily="34" charset="0"/>
                <a:hlinkClick r:id="rId5"/>
              </a:rPr>
              <a:t>pib.gov.in/PressReleasePage.aspx?PRID=2298959</a:t>
            </a:r>
            <a:endParaRPr lang="en-IN" sz="700">
              <a:solidFill>
                <a:srgbClr val="0070C0"/>
              </a:solidFill>
              <a:latin typeface="Arial" panose="020B0604020202020204" pitchFamily="34" charset="0"/>
            </a:endParaRPr>
          </a:p>
        </p:txBody>
      </p:sp>
      <p:sp>
        <p:nvSpPr>
          <p:cNvPr id="5" name="TextBox 4">
            <a:extLst>
              <a:ext uri="{FF2B5EF4-FFF2-40B4-BE49-F238E27FC236}">
                <a16:creationId xmlns:a16="http://schemas.microsoft.com/office/drawing/2014/main" id="{EB03F12F-0F33-115A-D3B8-CAD9C7EDE073}"/>
              </a:ext>
            </a:extLst>
          </p:cNvPr>
          <p:cNvSpPr txBox="1"/>
          <p:nvPr/>
        </p:nvSpPr>
        <p:spPr>
          <a:xfrm>
            <a:off x="304800" y="20574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[3] </a:t>
            </a:r>
            <a:r>
              <a:rPr lang="en-IN" sz="860">
                <a:solidFill>
                  <a:srgbClr val="1F2937"/>
                </a:solidFill>
                <a:latin typeface="Arial" panose="020B0604020202020204" pitchFamily="34" charset="0"/>
              </a:rPr>
              <a:t>PIB, 30 Dec 2025: Jal Seva Aankalan launched</a:t>
            </a:r>
          </a:p>
          <a:p>
            <a:pPr>
              <a:spcBef>
                <a:spcPts val="0"/>
              </a:spcBef>
              <a:spcAft>
                <a:spcPts val="300"/>
              </a:spcAft>
            </a:pPr>
            <a:r>
              <a:rPr lang="en-IN" sz="700">
                <a:solidFill>
                  <a:srgbClr val="0070C0"/>
                </a:solidFill>
                <a:latin typeface="Arial" panose="020B0604020202020204" pitchFamily="34" charset="0"/>
                <a:hlinkClick r:id="rId6"/>
              </a:rPr>
              <a:t>pib.gov.in/PressReleasePage.aspx?PRID=2209798</a:t>
            </a:r>
            <a:endParaRPr lang="en-IN" sz="700">
              <a:solidFill>
                <a:srgbClr val="0070C0"/>
              </a:solidFill>
              <a:latin typeface="Arial" panose="020B0604020202020204" pitchFamily="34" charset="0"/>
            </a:endParaRPr>
          </a:p>
        </p:txBody>
      </p:sp>
      <p:sp>
        <p:nvSpPr>
          <p:cNvPr id="8" name="TextBox 7">
            <a:extLst>
              <a:ext uri="{FF2B5EF4-FFF2-40B4-BE49-F238E27FC236}">
                <a16:creationId xmlns:a16="http://schemas.microsoft.com/office/drawing/2014/main" id="{44B650C5-CC3F-B1DA-8B7B-B65D71198A49}"/>
              </a:ext>
            </a:extLst>
          </p:cNvPr>
          <p:cNvSpPr txBox="1"/>
          <p:nvPr/>
        </p:nvSpPr>
        <p:spPr>
          <a:xfrm>
            <a:off x="304800" y="24003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[4] </a:t>
            </a:r>
            <a:r>
              <a:rPr lang="en-IN" sz="860">
                <a:solidFill>
                  <a:srgbClr val="1F2937"/>
                </a:solidFill>
                <a:latin typeface="Arial" panose="020B0604020202020204" pitchFamily="34" charset="0"/>
              </a:rPr>
              <a:t>Cabinet, 10 Mar 2026: JJM extended to Dec 2028, service-delivery focus</a:t>
            </a:r>
          </a:p>
          <a:p>
            <a:pPr>
              <a:spcBef>
                <a:spcPts val="0"/>
              </a:spcBef>
              <a:spcAft>
                <a:spcPts val="300"/>
              </a:spcAft>
            </a:pPr>
            <a:r>
              <a:rPr lang="en-IN" sz="700">
                <a:solidFill>
                  <a:srgbClr val="0070C0"/>
                </a:solidFill>
                <a:latin typeface="Arial" panose="020B0604020202020204" pitchFamily="34" charset="0"/>
                <a:hlinkClick r:id="rId7"/>
              </a:rPr>
              <a:t>pmindia.gov.in/en/news_updates/cabinet-approves-extension-of-jal-jeevan-mission...</a:t>
            </a:r>
            <a:endParaRPr lang="en-IN" sz="700">
              <a:solidFill>
                <a:srgbClr val="0070C0"/>
              </a:solidFill>
              <a:latin typeface="Arial" panose="020B0604020202020204" pitchFamily="34" charset="0"/>
            </a:endParaRPr>
          </a:p>
        </p:txBody>
      </p:sp>
      <p:sp>
        <p:nvSpPr>
          <p:cNvPr id="11" name="TextBox 10">
            <a:extLst>
              <a:ext uri="{FF2B5EF4-FFF2-40B4-BE49-F238E27FC236}">
                <a16:creationId xmlns:a16="http://schemas.microsoft.com/office/drawing/2014/main" id="{7663026B-EA16-C26C-F7CC-14A443F3D4FC}"/>
              </a:ext>
            </a:extLst>
          </p:cNvPr>
          <p:cNvSpPr txBox="1"/>
          <p:nvPr/>
        </p:nvSpPr>
        <p:spPr>
          <a:xfrm>
            <a:off x="304800" y="27432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[5] </a:t>
            </a:r>
            <a:r>
              <a:rPr lang="en-IN" sz="860">
                <a:solidFill>
                  <a:srgbClr val="1F2937"/>
                </a:solidFill>
                <a:latin typeface="Arial" panose="020B0604020202020204" pitchFamily="34" charset="0"/>
              </a:rPr>
              <a:t>JJM Dashboard (coverage, GIS, IoT pilot view)</a:t>
            </a:r>
          </a:p>
          <a:p>
            <a:pPr>
              <a:spcBef>
                <a:spcPts val="0"/>
              </a:spcBef>
              <a:spcAft>
                <a:spcPts val="300"/>
              </a:spcAft>
            </a:pPr>
            <a:r>
              <a:rPr lang="en-IN" sz="700">
                <a:solidFill>
                  <a:srgbClr val="0070C0"/>
                </a:solidFill>
                <a:latin typeface="Arial" panose="020B0604020202020204" pitchFamily="34" charset="0"/>
                <a:hlinkClick r:id="rId8"/>
              </a:rPr>
              <a:t>ejalshakti.gov.in/JJMReport/JJMIndia.aspx</a:t>
            </a:r>
            <a:endParaRPr lang="en-IN" sz="700">
              <a:solidFill>
                <a:srgbClr val="0070C0"/>
              </a:solidFill>
              <a:latin typeface="Arial" panose="020B0604020202020204" pitchFamily="34" charset="0"/>
            </a:endParaRPr>
          </a:p>
        </p:txBody>
      </p:sp>
      <p:sp>
        <p:nvSpPr>
          <p:cNvPr id="13" name="TextBox 12">
            <a:extLst>
              <a:ext uri="{FF2B5EF4-FFF2-40B4-BE49-F238E27FC236}">
                <a16:creationId xmlns:a16="http://schemas.microsoft.com/office/drawing/2014/main" id="{0C3E71B0-E157-4947-79D7-DA99583687EF}"/>
              </a:ext>
            </a:extLst>
          </p:cNvPr>
          <p:cNvSpPr txBox="1"/>
          <p:nvPr/>
        </p:nvSpPr>
        <p:spPr>
          <a:xfrm>
            <a:off x="304800" y="3086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[6] </a:t>
            </a:r>
            <a:r>
              <a:rPr lang="en-IN" sz="860">
                <a:solidFill>
                  <a:srgbClr val="1F2937"/>
                </a:solidFill>
                <a:latin typeface="Arial" panose="020B0604020202020204" pitchFamily="34" charset="0"/>
              </a:rPr>
              <a:t>JJM-WQMIS (laboratory and FTK water-quality testing)</a:t>
            </a:r>
          </a:p>
          <a:p>
            <a:pPr>
              <a:spcBef>
                <a:spcPts val="0"/>
              </a:spcBef>
              <a:spcAft>
                <a:spcPts val="300"/>
              </a:spcAft>
            </a:pPr>
            <a:r>
              <a:rPr lang="en-IN" sz="700">
                <a:solidFill>
                  <a:srgbClr val="0070C0"/>
                </a:solidFill>
                <a:latin typeface="Arial" panose="020B0604020202020204" pitchFamily="34" charset="0"/>
                <a:hlinkClick r:id="rId9"/>
              </a:rPr>
              <a:t>ejalshakti.gov.in/WQMIS/</a:t>
            </a:r>
            <a:endParaRPr lang="en-IN" sz="700">
              <a:solidFill>
                <a:srgbClr val="0070C0"/>
              </a:solidFill>
              <a:latin typeface="Arial" panose="020B0604020202020204" pitchFamily="34" charset="0"/>
            </a:endParaRPr>
          </a:p>
        </p:txBody>
      </p:sp>
      <p:sp>
        <p:nvSpPr>
          <p:cNvPr id="14" name="TextBox 13">
            <a:extLst>
              <a:ext uri="{FF2B5EF4-FFF2-40B4-BE49-F238E27FC236}">
                <a16:creationId xmlns:a16="http://schemas.microsoft.com/office/drawing/2014/main" id="{178A04C5-BCCB-2B40-2B83-3EC63BA32FD6}"/>
              </a:ext>
            </a:extLst>
          </p:cNvPr>
          <p:cNvSpPr txBox="1"/>
          <p:nvPr/>
        </p:nvSpPr>
        <p:spPr>
          <a:xfrm>
            <a:off x="304800" y="34290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[7] </a:t>
            </a:r>
            <a:r>
              <a:rPr lang="en-IN" sz="860">
                <a:solidFill>
                  <a:srgbClr val="1F2937"/>
                </a:solidFill>
                <a:latin typeface="Arial" panose="020B0604020202020204" pitchFamily="34" charset="0"/>
              </a:rPr>
              <a:t>PIB, 31 Mar 2021: JJM deploys sensor-based IoT devices (off-grid pilot)</a:t>
            </a:r>
          </a:p>
          <a:p>
            <a:pPr>
              <a:spcBef>
                <a:spcPts val="0"/>
              </a:spcBef>
              <a:spcAft>
                <a:spcPts val="300"/>
              </a:spcAft>
            </a:pPr>
            <a:r>
              <a:rPr lang="en-IN" sz="700">
                <a:solidFill>
                  <a:srgbClr val="0070C0"/>
                </a:solidFill>
                <a:latin typeface="Arial" panose="020B0604020202020204" pitchFamily="34" charset="0"/>
                <a:hlinkClick r:id="rId10"/>
              </a:rPr>
              <a:t>pib.gov.in/PressReleaseIframePage.aspx?PRID=1708701</a:t>
            </a:r>
            <a:endParaRPr lang="en-IN" sz="700">
              <a:solidFill>
                <a:srgbClr val="0070C0"/>
              </a:solidFill>
              <a:latin typeface="Arial" panose="020B0604020202020204" pitchFamily="34" charset="0"/>
            </a:endParaRPr>
          </a:p>
        </p:txBody>
      </p:sp>
      <p:sp>
        <p:nvSpPr>
          <p:cNvPr id="15" name="TextBox 14">
            <a:extLst>
              <a:ext uri="{FF2B5EF4-FFF2-40B4-BE49-F238E27FC236}">
                <a16:creationId xmlns:a16="http://schemas.microsoft.com/office/drawing/2014/main" id="{0568D203-A920-488A-EC2A-DC0EA3911F48}"/>
              </a:ext>
            </a:extLst>
          </p:cNvPr>
          <p:cNvSpPr txBox="1"/>
          <p:nvPr/>
        </p:nvSpPr>
        <p:spPr>
          <a:xfrm>
            <a:off x="304800" y="37719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[8] </a:t>
            </a:r>
            <a:r>
              <a:rPr lang="en-IN" sz="860">
                <a:solidFill>
                  <a:srgbClr val="1F2937"/>
                </a:solidFill>
                <a:latin typeface="Arial" panose="020B0604020202020204" pitchFamily="34" charset="0"/>
              </a:rPr>
              <a:t>Jal Jeevan Samvad, Oct 2023: IoT water-quality monitoring with complaint tracking</a:t>
            </a:r>
          </a:p>
          <a:p>
            <a:pPr>
              <a:spcBef>
                <a:spcPts val="0"/>
              </a:spcBef>
              <a:spcAft>
                <a:spcPts val="300"/>
              </a:spcAft>
            </a:pPr>
            <a:r>
              <a:rPr lang="en-IN" sz="700">
                <a:solidFill>
                  <a:srgbClr val="0070C0"/>
                </a:solidFill>
                <a:latin typeface="Arial" panose="020B0604020202020204" pitchFamily="34" charset="0"/>
                <a:hlinkClick r:id="rId11"/>
              </a:rPr>
              <a:t>jaljeevanmission.gov.in/sites/default/files/2025-05/JalJeev...</a:t>
            </a:r>
            <a:endParaRPr lang="en-IN" sz="700">
              <a:solidFill>
                <a:srgbClr val="0070C0"/>
              </a:solidFill>
              <a:latin typeface="Arial" panose="020B0604020202020204" pitchFamily="34" charset="0"/>
            </a:endParaRPr>
          </a:p>
        </p:txBody>
      </p:sp>
      <p:sp>
        <p:nvSpPr>
          <p:cNvPr id="16" name="TextBox 15">
            <a:extLst>
              <a:ext uri="{FF2B5EF4-FFF2-40B4-BE49-F238E27FC236}">
                <a16:creationId xmlns:a16="http://schemas.microsoft.com/office/drawing/2014/main" id="{A02C17AF-4153-70D8-FDBA-2D5702C5194C}"/>
              </a:ext>
            </a:extLst>
          </p:cNvPr>
          <p:cNvSpPr txBox="1"/>
          <p:nvPr/>
        </p:nvSpPr>
        <p:spPr>
          <a:xfrm>
            <a:off x="304800" y="41148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b="1">
                <a:solidFill>
                  <a:srgbClr val="0F766E"/>
                </a:solidFill>
                <a:latin typeface="Arial" panose="020B0604020202020204" pitchFamily="34" charset="0"/>
              </a:rPr>
              <a:t>[9] </a:t>
            </a:r>
            <a:r>
              <a:rPr lang="en-US" sz="860">
                <a:solidFill>
                  <a:srgbClr val="1F2937"/>
                </a:solidFill>
                <a:latin typeface="Arial" panose="020B0604020202020204" pitchFamily="34" charset="0"/>
              </a:rPr>
              <a:t>Systematic review: ML for anomaly detection in smart water metering networks (2024)</a:t>
            </a:r>
          </a:p>
          <a:p>
            <a:pPr>
              <a:spcBef>
                <a:spcPts val="0"/>
              </a:spcBef>
              <a:spcAft>
                <a:spcPts val="300"/>
              </a:spcAft>
            </a:pPr>
            <a:r>
              <a:rPr lang="en-US" sz="700">
                <a:solidFill>
                  <a:srgbClr val="0070C0"/>
                </a:solidFill>
                <a:latin typeface="Arial" panose="020B0604020202020204" pitchFamily="34" charset="0"/>
                <a:hlinkClick r:id="rId12"/>
              </a:rPr>
              <a:t>sciencedirect.com/science/article/pii/S1474706524000160</a:t>
            </a:r>
            <a:endParaRPr lang="en-IN" sz="700">
              <a:solidFill>
                <a:srgbClr val="0070C0"/>
              </a:solidFill>
              <a:latin typeface="Arial" panose="020B0604020202020204" pitchFamily="34" charset="0"/>
            </a:endParaRPr>
          </a:p>
        </p:txBody>
      </p:sp>
      <p:sp>
        <p:nvSpPr>
          <p:cNvPr id="17" name="TextBox 16">
            <a:extLst>
              <a:ext uri="{FF2B5EF4-FFF2-40B4-BE49-F238E27FC236}">
                <a16:creationId xmlns:a16="http://schemas.microsoft.com/office/drawing/2014/main" id="{B4FD2D09-B493-FD4B-E1AF-627858E2CAC7}"/>
              </a:ext>
            </a:extLst>
          </p:cNvPr>
          <p:cNvSpPr txBox="1"/>
          <p:nvPr/>
        </p:nvSpPr>
        <p:spPr>
          <a:xfrm>
            <a:off x="304800" y="44577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[10] </a:t>
            </a:r>
            <a:r>
              <a:rPr lang="en-IN" sz="860">
                <a:solidFill>
                  <a:srgbClr val="1F2937"/>
                </a:solidFill>
                <a:latin typeface="Arial" panose="020B0604020202020204" pitchFamily="34" charset="0"/>
              </a:rPr>
              <a:t>SIH 2026 problem statement SIH26255, Ministry of Jal Shakti</a:t>
            </a:r>
          </a:p>
          <a:p>
            <a:pPr>
              <a:spcBef>
                <a:spcPts val="0"/>
              </a:spcBef>
              <a:spcAft>
                <a:spcPts val="300"/>
              </a:spcAft>
            </a:pPr>
            <a:r>
              <a:rPr lang="en-IN" sz="700">
                <a:solidFill>
                  <a:srgbClr val="0070C0"/>
                </a:solidFill>
                <a:latin typeface="Arial" panose="020B0604020202020204" pitchFamily="34" charset="0"/>
                <a:hlinkClick r:id="rId13"/>
              </a:rPr>
              <a:t>sih.gov.in/sih2026PS</a:t>
            </a:r>
            <a:endParaRPr lang="en-IN" sz="700">
              <a:solidFill>
                <a:srgbClr val="0070C0"/>
              </a:solidFill>
              <a:latin typeface="Arial" panose="020B0604020202020204" pitchFamily="34" charset="0"/>
            </a:endParaRPr>
          </a:p>
        </p:txBody>
      </p:sp>
      <p:sp>
        <p:nvSpPr>
          <p:cNvPr id="18" name="TextBox 17">
            <a:extLst>
              <a:ext uri="{FF2B5EF4-FFF2-40B4-BE49-F238E27FC236}">
                <a16:creationId xmlns:a16="http://schemas.microsoft.com/office/drawing/2014/main" id="{9C22A740-6854-08C9-FE47-97C3EB612D01}"/>
              </a:ext>
            </a:extLst>
          </p:cNvPr>
          <p:cNvSpPr txBox="1"/>
          <p:nvPr/>
        </p:nvSpPr>
        <p:spPr>
          <a:xfrm>
            <a:off x="5664200" y="1117600"/>
            <a:ext cx="6223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00" b="1">
                <a:solidFill>
                  <a:srgbClr val="0F766E"/>
                </a:solidFill>
                <a:latin typeface="Arial" panose="020B0604020202020204" pitchFamily="34" charset="0"/>
              </a:rPr>
              <a:t>Working platform screens</a:t>
            </a:r>
          </a:p>
        </p:txBody>
      </p:sp>
      <p:pic>
        <p:nvPicPr>
          <p:cNvPr id="20" name="Picture 19">
            <a:extLst>
              <a:ext uri="{FF2B5EF4-FFF2-40B4-BE49-F238E27FC236}">
                <a16:creationId xmlns:a16="http://schemas.microsoft.com/office/drawing/2014/main" id="{01255C24-4FD1-1681-8A36-8764EBDCF45E}"/>
              </a:ext>
            </a:extLst>
          </p:cNvPr>
          <p:cNvPicPr>
            <a:picLocks/>
          </p:cNvPicPr>
          <p:nvPr/>
        </p:nvPicPr>
        <p:blipFill>
          <a:blip r:embed="rId14"/>
          <a:stretch>
            <a:fillRect/>
          </a:stretch>
        </p:blipFill>
        <p:spPr>
          <a:xfrm>
            <a:off x="5664200" y="1371600"/>
            <a:ext cx="1270000" cy="2641600"/>
          </a:xfrm>
          <a:prstGeom prst="rect">
            <a:avLst/>
          </a:prstGeom>
        </p:spPr>
      </p:pic>
      <p:pic>
        <p:nvPicPr>
          <p:cNvPr id="22" name="Picture 21">
            <a:extLst>
              <a:ext uri="{FF2B5EF4-FFF2-40B4-BE49-F238E27FC236}">
                <a16:creationId xmlns:a16="http://schemas.microsoft.com/office/drawing/2014/main" id="{B2B49E00-B742-9A45-6EC1-128C818167C0}"/>
              </a:ext>
            </a:extLst>
          </p:cNvPr>
          <p:cNvPicPr>
            <a:picLocks/>
          </p:cNvPicPr>
          <p:nvPr/>
        </p:nvPicPr>
        <p:blipFill>
          <a:blip r:embed="rId15"/>
          <a:stretch>
            <a:fillRect/>
          </a:stretch>
        </p:blipFill>
        <p:spPr>
          <a:xfrm>
            <a:off x="7010400" y="1371600"/>
            <a:ext cx="1270000" cy="2641600"/>
          </a:xfrm>
          <a:prstGeom prst="rect">
            <a:avLst/>
          </a:prstGeom>
        </p:spPr>
      </p:pic>
      <p:pic>
        <p:nvPicPr>
          <p:cNvPr id="24" name="Picture 23">
            <a:extLst>
              <a:ext uri="{FF2B5EF4-FFF2-40B4-BE49-F238E27FC236}">
                <a16:creationId xmlns:a16="http://schemas.microsoft.com/office/drawing/2014/main" id="{08110A21-F1CF-0930-2853-6EDAE6B2FA37}"/>
              </a:ext>
            </a:extLst>
          </p:cNvPr>
          <p:cNvPicPr>
            <a:picLocks/>
          </p:cNvPicPr>
          <p:nvPr/>
        </p:nvPicPr>
        <p:blipFill>
          <a:blip r:embed="rId16"/>
          <a:stretch>
            <a:fillRect/>
          </a:stretch>
        </p:blipFill>
        <p:spPr>
          <a:xfrm>
            <a:off x="8407400" y="1371600"/>
            <a:ext cx="3479800" cy="2159000"/>
          </a:xfrm>
          <a:prstGeom prst="rect">
            <a:avLst/>
          </a:prstGeom>
          <a:ln w="9525">
            <a:solidFill>
              <a:srgbClr val="CBD5E1"/>
            </a:solidFill>
          </a:ln>
        </p:spPr>
      </p:pic>
      <p:pic>
        <p:nvPicPr>
          <p:cNvPr id="26" name="Picture 25">
            <a:extLst>
              <a:ext uri="{FF2B5EF4-FFF2-40B4-BE49-F238E27FC236}">
                <a16:creationId xmlns:a16="http://schemas.microsoft.com/office/drawing/2014/main" id="{D8643AD7-8EDD-F62D-179B-C5AE14F81AA8}"/>
              </a:ext>
            </a:extLst>
          </p:cNvPr>
          <p:cNvPicPr>
            <a:picLocks/>
          </p:cNvPicPr>
          <p:nvPr/>
        </p:nvPicPr>
        <p:blipFill>
          <a:blip r:embed="rId17"/>
          <a:stretch>
            <a:fillRect/>
          </a:stretch>
        </p:blipFill>
        <p:spPr>
          <a:xfrm>
            <a:off x="8407400" y="3581400"/>
            <a:ext cx="3479800" cy="2159000"/>
          </a:xfrm>
          <a:prstGeom prst="rect">
            <a:avLst/>
          </a:prstGeom>
          <a:ln w="9525">
            <a:solidFill>
              <a:srgbClr val="CBD5E1"/>
            </a:solidFill>
          </a:ln>
        </p:spPr>
      </p:pic>
      <p:sp>
        <p:nvSpPr>
          <p:cNvPr id="27" name="TextBox 26">
            <a:extLst>
              <a:ext uri="{FF2B5EF4-FFF2-40B4-BE49-F238E27FC236}">
                <a16:creationId xmlns:a16="http://schemas.microsoft.com/office/drawing/2014/main" id="{7B0C676D-856E-97BD-7797-6E635CB7D724}"/>
              </a:ext>
            </a:extLst>
          </p:cNvPr>
          <p:cNvSpPr txBox="1"/>
          <p:nvPr/>
        </p:nvSpPr>
        <p:spPr>
          <a:xfrm>
            <a:off x="5664200" y="40640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Villager app: tap status and water quality (left); report a problem with photo and opt-in location (right)</a:t>
            </a:r>
            <a:endParaRPr lang="en-IN" sz="800" i="1">
              <a:solidFill>
                <a:srgbClr val="475569"/>
              </a:solidFill>
              <a:latin typeface="Arial" panose="020B0604020202020204" pitchFamily="34" charset="0"/>
            </a:endParaRPr>
          </a:p>
        </p:txBody>
      </p:sp>
      <p:sp>
        <p:nvSpPr>
          <p:cNvPr id="28" name="TextBox 27">
            <a:extLst>
              <a:ext uri="{FF2B5EF4-FFF2-40B4-BE49-F238E27FC236}">
                <a16:creationId xmlns:a16="http://schemas.microsoft.com/office/drawing/2014/main" id="{E1B7B349-A93A-FB2B-6C2F-C4E553F01F95}"/>
              </a:ext>
            </a:extLst>
          </p:cNvPr>
          <p:cNvSpPr txBox="1"/>
          <p:nvPr/>
        </p:nvSpPr>
        <p:spPr>
          <a:xfrm>
            <a:off x="5664200" y="46482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00" b="1">
                <a:solidFill>
                  <a:srgbClr val="0F766E"/>
                </a:solidFill>
                <a:latin typeface="Arial" panose="020B0604020202020204" pitchFamily="34" charset="0"/>
              </a:rPr>
              <a:t>Gram Panchayat: </a:t>
            </a:r>
            <a:r>
              <a:rPr lang="en-IN" sz="800">
                <a:solidFill>
                  <a:srgbClr val="1F2937"/>
                </a:solidFill>
                <a:latin typeface="Arial" panose="020B0604020202020204" pitchFamily="34" charset="0"/>
              </a:rPr>
              <a:t>AI Early Warning with measured chlorine (top right) and Water Status with acoustic leak alerts (bottom right).</a:t>
            </a:r>
          </a:p>
          <a:p>
            <a:pPr>
              <a:spcBef>
                <a:spcPts val="0"/>
              </a:spcBef>
              <a:spcAft>
                <a:spcPts val="300"/>
              </a:spcAft>
            </a:pPr>
            <a:r>
              <a:rPr lang="en-IN" sz="850" b="1">
                <a:solidFill>
                  <a:srgbClr val="1F2937"/>
                </a:solidFill>
                <a:latin typeface="Arial" panose="020B0604020202020204" pitchFamily="34" charset="0"/>
              </a:rPr>
              <a:t>Demo video: </a:t>
            </a:r>
            <a:r>
              <a:rPr lang="en-IN" sz="850">
                <a:solidFill>
                  <a:srgbClr val="1F2937"/>
                </a:solidFill>
                <a:latin typeface="Arial" panose="020B0604020202020204" pitchFamily="34" charset="0"/>
                <a:hlinkClick r:id="rId18"/>
              </a:rPr>
              <a:t>youtu.be/LYlQtrBbpes</a:t>
            </a:r>
            <a:endParaRPr lang="en-IN" sz="850">
              <a:solidFill>
                <a:srgbClr val="1F2937"/>
              </a:solidFill>
              <a:latin typeface="Arial" panose="020B0604020202020204" pitchFamily="34" charset="0"/>
            </a:endParaRPr>
          </a:p>
          <a:p>
            <a:pPr>
              <a:spcBef>
                <a:spcPts val="0"/>
              </a:spcBef>
              <a:spcAft>
                <a:spcPts val="300"/>
              </a:spcAft>
            </a:pPr>
            <a:r>
              <a:rPr lang="en-IN" sz="820" b="1">
                <a:solidFill>
                  <a:srgbClr val="1F2937"/>
                </a:solidFill>
                <a:latin typeface="Arial" panose="020B0604020202020204" pitchFamily="34" charset="0"/>
              </a:rPr>
              <a:t>Source code: </a:t>
            </a:r>
            <a:r>
              <a:rPr lang="en-IN" sz="820">
                <a:solidFill>
                  <a:srgbClr val="1F2937"/>
                </a:solidFill>
                <a:latin typeface="Arial" panose="020B0604020202020204" pitchFamily="34" charset="0"/>
                <a:hlinkClick r:id="rId19"/>
              </a:rPr>
              <a:t>github.com/Thrisha236/JalRakshak</a:t>
            </a:r>
            <a:r>
              <a:rPr lang="en-IN" sz="820">
                <a:solidFill>
                  <a:srgbClr val="1F2937"/>
                </a:solidFill>
                <a:latin typeface="Arial" panose="020B0604020202020204" pitchFamily="34" charset="0"/>
              </a:rPr>
              <a:t> (platform, node firmware, gateway, circuit and architecture files)</a:t>
            </a:r>
          </a:p>
        </p:txBody>
      </p:sp>
      <p:sp>
        <p:nvSpPr>
          <p:cNvPr id="29" name="TextBox 28">
            <a:extLst>
              <a:ext uri="{FF2B5EF4-FFF2-40B4-BE49-F238E27FC236}">
                <a16:creationId xmlns:a16="http://schemas.microsoft.com/office/drawing/2014/main" id="{F8DC1A4D-17C8-E719-2013-FE484A20BC3C}"/>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pH, TDS and turbidity come from field-test-kit entries: screening indicators that trigger confirmatory laboratory testing, not a safety certification.</a:t>
            </a:r>
            <a:endParaRPr lang="en-IN" sz="800" i="1">
              <a:solidFill>
                <a:srgbClr val="475569"/>
              </a:solidFill>
              <a:latin typeface="Arial" panose="020B0604020202020204" pitchFamily="34" charset="0"/>
            </a:endParaRPr>
          </a:p>
        </p:txBody>
      </p:sp>
      <p:sp>
        <p:nvSpPr>
          <p:cNvPr id="2" name="TextBox 1">
            <a:extLst>
              <a:ext uri="{FF2B5EF4-FFF2-40B4-BE49-F238E27FC236}">
                <a16:creationId xmlns:a16="http://schemas.microsoft.com/office/drawing/2014/main" id="{E98EACDB-45CB-6042-483B-470671A2C8F4}"/>
              </a:ext>
            </a:extLst>
          </p:cNvPr>
          <p:cNvSpPr txBox="1"/>
          <p:nvPr/>
        </p:nvSpPr>
        <p:spPr>
          <a:xfrm>
            <a:off x="304800" y="4828032"/>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Proposed sensor-node hardware (not yet assembled)</a:t>
            </a:r>
            <a:endParaRPr lang="en-IN" sz="1100" b="1">
              <a:solidFill>
                <a:srgbClr val="0F766E"/>
              </a:solidFill>
              <a:latin typeface="Arial" panose="020B0604020202020204" pitchFamily="34" charset="0"/>
            </a:endParaRPr>
          </a:p>
        </p:txBody>
      </p:sp>
      <p:sp>
        <p:nvSpPr>
          <p:cNvPr id="17411" name="TextBox 17410"/>
          <p:cNvSpPr txBox="1"/>
          <p:nvPr/>
        </p:nvSpPr>
        <p:spPr>
          <a:xfrm>
            <a:off x="310896" y="5431536"/>
            <a:ext cx="603504" cy="164592"/>
          </a:xfrm>
          <a:prstGeom prst="rect">
            <a:avLst/>
          </a:prstGeom>
          <a:noFill/>
        </p:spPr>
        <p:txBody>
          <a:bodyPr wrap="none" lIns="0" rIns="0" tIns="0" bIns="0">
            <a:spAutoFit/>
          </a:bodyPr>
          <a:lstStyle/>
          <a:p>
            <a:pPr algn="ctr"/>
            <a:r>
              <a:rPr sz="700" b="1">
                <a:latin typeface="Arial"/>
              </a:rPr>
              <a:t>ESP32</a:t>
            </a:r>
          </a:p>
        </p:txBody>
      </p:sp>
      <p:sp>
        <p:nvSpPr>
          <p:cNvPr id="17413" name="TextBox 17412"/>
          <p:cNvSpPr txBox="1"/>
          <p:nvPr/>
        </p:nvSpPr>
        <p:spPr>
          <a:xfrm>
            <a:off x="886968" y="5431536"/>
            <a:ext cx="603504" cy="164592"/>
          </a:xfrm>
          <a:prstGeom prst="rect">
            <a:avLst/>
          </a:prstGeom>
          <a:noFill/>
        </p:spPr>
        <p:txBody>
          <a:bodyPr wrap="none" lIns="0" rIns="0" tIns="0" bIns="0">
            <a:spAutoFit/>
          </a:bodyPr>
          <a:lstStyle/>
          <a:p>
            <a:pPr algn="ctr"/>
            <a:r>
              <a:rPr sz="700" b="1">
                <a:latin typeface="Arial"/>
              </a:rPr>
              <a:t>LoRa</a:t>
            </a:r>
          </a:p>
        </p:txBody>
      </p:sp>
      <p:sp>
        <p:nvSpPr>
          <p:cNvPr id="17415" name="TextBox 17414"/>
          <p:cNvSpPr txBox="1"/>
          <p:nvPr/>
        </p:nvSpPr>
        <p:spPr>
          <a:xfrm>
            <a:off x="1463039" y="5431536"/>
            <a:ext cx="603504" cy="164592"/>
          </a:xfrm>
          <a:prstGeom prst="rect">
            <a:avLst/>
          </a:prstGeom>
          <a:noFill/>
        </p:spPr>
        <p:txBody>
          <a:bodyPr wrap="none" lIns="0" rIns="0" tIns="0" bIns="0">
            <a:spAutoFit/>
          </a:bodyPr>
          <a:lstStyle/>
          <a:p>
            <a:pPr algn="ctr"/>
            <a:r>
              <a:rPr sz="700" b="1">
                <a:latin typeface="Arial"/>
              </a:rPr>
              <a:t>Pi gateway</a:t>
            </a:r>
          </a:p>
        </p:txBody>
      </p:sp>
      <p:sp>
        <p:nvSpPr>
          <p:cNvPr id="17417" name="TextBox 17416"/>
          <p:cNvSpPr txBox="1"/>
          <p:nvPr/>
        </p:nvSpPr>
        <p:spPr>
          <a:xfrm>
            <a:off x="2039112" y="5431536"/>
            <a:ext cx="603504" cy="164592"/>
          </a:xfrm>
          <a:prstGeom prst="rect">
            <a:avLst/>
          </a:prstGeom>
          <a:noFill/>
        </p:spPr>
        <p:txBody>
          <a:bodyPr wrap="none" lIns="0" rIns="0" tIns="0" bIns="0">
            <a:spAutoFit/>
          </a:bodyPr>
          <a:lstStyle/>
          <a:p>
            <a:pPr algn="ctr"/>
            <a:r>
              <a:rPr sz="700" b="1">
                <a:latin typeface="Arial"/>
              </a:rPr>
              <a:t>Acoustic</a:t>
            </a:r>
          </a:p>
        </p:txBody>
      </p:sp>
      <p:pic>
        <p:nvPicPr>
          <p:cNvPr id="17418" name="Picture 17417" descr="image.png"/>
          <p:cNvPicPr>
            <a:picLocks noChangeAspect="1"/>
          </p:cNvPicPr>
          <p:nvPr/>
        </p:nvPicPr>
        <p:blipFill>
          <a:blip r:embed="rId24"/>
          <a:stretch>
            <a:fillRect/>
          </a:stretch>
        </p:blipFill>
        <p:spPr>
          <a:xfrm>
            <a:off x="2688336" y="5120640"/>
            <a:ext cx="457200" cy="320040"/>
          </a:xfrm>
          <a:prstGeom prst="rect">
            <a:avLst/>
          </a:prstGeom>
        </p:spPr>
      </p:pic>
      <p:sp>
        <p:nvSpPr>
          <p:cNvPr id="17419" name="TextBox 17418"/>
          <p:cNvSpPr txBox="1"/>
          <p:nvPr/>
        </p:nvSpPr>
        <p:spPr>
          <a:xfrm>
            <a:off x="2615184" y="5431536"/>
            <a:ext cx="603504" cy="164592"/>
          </a:xfrm>
          <a:prstGeom prst="rect">
            <a:avLst/>
          </a:prstGeom>
          <a:noFill/>
        </p:spPr>
        <p:txBody>
          <a:bodyPr wrap="none" lIns="0" rIns="0" tIns="0" bIns="0">
            <a:spAutoFit/>
          </a:bodyPr>
          <a:lstStyle/>
          <a:p>
            <a:pPr algn="ctr"/>
            <a:r>
              <a:rPr sz="700" b="1">
                <a:latin typeface="Arial"/>
              </a:rPr>
              <a:t>Chlorine</a:t>
            </a:r>
          </a:p>
        </p:txBody>
      </p:sp>
      <p:sp>
        <p:nvSpPr>
          <p:cNvPr id="17421" name="TextBox 17420"/>
          <p:cNvSpPr txBox="1"/>
          <p:nvPr/>
        </p:nvSpPr>
        <p:spPr>
          <a:xfrm>
            <a:off x="3191256" y="5431536"/>
            <a:ext cx="603504" cy="164592"/>
          </a:xfrm>
          <a:prstGeom prst="rect">
            <a:avLst/>
          </a:prstGeom>
          <a:noFill/>
        </p:spPr>
        <p:txBody>
          <a:bodyPr wrap="none" lIns="0" rIns="0" tIns="0" bIns="0">
            <a:spAutoFit/>
          </a:bodyPr>
          <a:lstStyle/>
          <a:p>
            <a:pPr algn="ctr"/>
            <a:r>
              <a:rPr sz="700" b="1">
                <a:latin typeface="Arial"/>
              </a:rPr>
              <a:t>Pressure</a:t>
            </a:r>
          </a:p>
        </p:txBody>
      </p:sp>
      <p:sp>
        <p:nvSpPr>
          <p:cNvPr id="17423" name="TextBox 17422"/>
          <p:cNvSpPr txBox="1"/>
          <p:nvPr/>
        </p:nvSpPr>
        <p:spPr>
          <a:xfrm>
            <a:off x="3767328" y="5431536"/>
            <a:ext cx="603504" cy="164592"/>
          </a:xfrm>
          <a:prstGeom prst="rect">
            <a:avLst/>
          </a:prstGeom>
          <a:noFill/>
        </p:spPr>
        <p:txBody>
          <a:bodyPr wrap="none" lIns="0" rIns="0" tIns="0" bIns="0">
            <a:spAutoFit/>
          </a:bodyPr>
          <a:lstStyle/>
          <a:p>
            <a:pPr algn="ctr"/>
            <a:r>
              <a:rPr sz="700" b="1">
                <a:latin typeface="Arial"/>
              </a:rPr>
              <a:t>Flow</a:t>
            </a:r>
          </a:p>
        </p:txBody>
      </p:sp>
      <p:sp>
        <p:nvSpPr>
          <p:cNvPr id="17425" name="TextBox 17424"/>
          <p:cNvSpPr txBox="1"/>
          <p:nvPr/>
        </p:nvSpPr>
        <p:spPr>
          <a:xfrm>
            <a:off x="4343400" y="5431536"/>
            <a:ext cx="603504" cy="164592"/>
          </a:xfrm>
          <a:prstGeom prst="rect">
            <a:avLst/>
          </a:prstGeom>
          <a:noFill/>
        </p:spPr>
        <p:txBody>
          <a:bodyPr wrap="none" lIns="0" rIns="0" tIns="0" bIns="0">
            <a:spAutoFit/>
          </a:bodyPr>
          <a:lstStyle/>
          <a:p>
            <a:pPr algn="ctr"/>
            <a:r>
              <a:rPr sz="700" b="1">
                <a:latin typeface="Arial"/>
              </a:rPr>
              <a:t>Tank level</a:t>
            </a:r>
          </a:p>
        </p:txBody>
      </p:sp>
      <p:sp>
        <p:nvSpPr>
          <p:cNvPr id="17427" name="TextBox 17426"/>
          <p:cNvSpPr txBox="1"/>
          <p:nvPr/>
        </p:nvSpPr>
        <p:spPr>
          <a:xfrm>
            <a:off x="4919472" y="5431536"/>
            <a:ext cx="603504" cy="164592"/>
          </a:xfrm>
          <a:prstGeom prst="rect">
            <a:avLst/>
          </a:prstGeom>
          <a:noFill/>
        </p:spPr>
        <p:txBody>
          <a:bodyPr wrap="none" lIns="0" rIns="0" tIns="0" bIns="0">
            <a:spAutoFit/>
          </a:bodyPr>
          <a:lstStyle/>
          <a:p>
            <a:pPr algn="ctr"/>
            <a:r>
              <a:rPr sz="700" b="1">
                <a:latin typeface="Arial"/>
              </a:rPr>
              <a:t>Solar</a:t>
            </a:r>
          </a:p>
        </p:txBody>
      </p:sp>
      <p:sp>
        <p:nvSpPr>
          <p:cNvPr id="17428" name="TextBox 17427"/>
          <p:cNvSpPr txBox="1"/>
          <p:nvPr/>
        </p:nvSpPr>
        <p:spPr>
          <a:xfrm>
            <a:off x="301752" y="5596128"/>
            <a:ext cx="5257800" cy="274320"/>
          </a:xfrm>
          <a:prstGeom prst="rect">
            <a:avLst/>
          </a:prstGeom>
          <a:noFill/>
        </p:spPr>
        <p:txBody>
          <a:bodyPr wrap="square" lIns="0" rIns="0" tIns="0" bIns="0">
            <a:spAutoFit/>
          </a:bodyPr>
          <a:lstStyle/>
          <a:p>
            <a:r>
              <a:rPr sz="700" i="1">
                <a:latin typeface="Arial"/>
              </a:rPr>
              <a:t>ESP32-DevKitC + ADS1115, RFM95W LoRa, 4-20 mA pressure and chlorine probes, pulse water meter, piezo clamp, JSN-SR04T. Vendor photos of single parts, not a built prototype; bench build next.</a:t>
            </a:r>
          </a:p>
        </p:txBody>
      </p:sp>
      <p:pic>
        <p:nvPicPr>
          <p:cNvPr id="17429" name="Picture 17428" descr="image.png"/>
          <p:cNvPicPr>
            <a:picLocks noChangeAspect="1"/>
          </p:cNvPicPr>
          <p:nvPr/>
        </p:nvPicPr>
        <p:blipFill>
          <a:blip r:embed="rId29"/>
          <a:stretch>
            <a:fillRect/>
          </a:stretch>
        </p:blipFill>
        <p:spPr>
          <a:xfrm>
            <a:off x="932688" y="5084064"/>
            <a:ext cx="512064" cy="374904"/>
          </a:xfrm>
          <a:prstGeom prst="rect">
            <a:avLst/>
          </a:prstGeom>
        </p:spPr>
      </p:pic>
      <p:pic>
        <p:nvPicPr>
          <p:cNvPr id="17430" name="Picture 17429" descr="image.png"/>
          <p:cNvPicPr>
            <a:picLocks noChangeAspect="1"/>
          </p:cNvPicPr>
          <p:nvPr/>
        </p:nvPicPr>
        <p:blipFill>
          <a:blip r:embed="rId30"/>
          <a:stretch>
            <a:fillRect/>
          </a:stretch>
        </p:blipFill>
        <p:spPr>
          <a:xfrm>
            <a:off x="1508760" y="5084064"/>
            <a:ext cx="512064" cy="374904"/>
          </a:xfrm>
          <a:prstGeom prst="rect">
            <a:avLst/>
          </a:prstGeom>
        </p:spPr>
      </p:pic>
      <p:pic>
        <p:nvPicPr>
          <p:cNvPr id="17431" name="Picture 17430" descr="image.png"/>
          <p:cNvPicPr>
            <a:picLocks noChangeAspect="1"/>
          </p:cNvPicPr>
          <p:nvPr/>
        </p:nvPicPr>
        <p:blipFill>
          <a:blip r:embed="rId31"/>
          <a:stretch>
            <a:fillRect/>
          </a:stretch>
        </p:blipFill>
        <p:spPr>
          <a:xfrm>
            <a:off x="2084832" y="5084064"/>
            <a:ext cx="512064" cy="374904"/>
          </a:xfrm>
          <a:prstGeom prst="rect">
            <a:avLst/>
          </a:prstGeom>
        </p:spPr>
      </p:pic>
      <p:pic>
        <p:nvPicPr>
          <p:cNvPr id="17432" name="Picture 17431" descr="image.png"/>
          <p:cNvPicPr>
            <a:picLocks noChangeAspect="1"/>
          </p:cNvPicPr>
          <p:nvPr/>
        </p:nvPicPr>
        <p:blipFill>
          <a:blip r:embed="rId32"/>
          <a:stretch>
            <a:fillRect/>
          </a:stretch>
        </p:blipFill>
        <p:spPr>
          <a:xfrm>
            <a:off x="3236976" y="5084064"/>
            <a:ext cx="512064" cy="374904"/>
          </a:xfrm>
          <a:prstGeom prst="rect">
            <a:avLst/>
          </a:prstGeom>
        </p:spPr>
      </p:pic>
      <p:pic>
        <p:nvPicPr>
          <p:cNvPr id="17433" name="Picture 17432" descr="image.png"/>
          <p:cNvPicPr>
            <a:picLocks noChangeAspect="1"/>
          </p:cNvPicPr>
          <p:nvPr/>
        </p:nvPicPr>
        <p:blipFill>
          <a:blip r:embed="rId33"/>
          <a:stretch>
            <a:fillRect/>
          </a:stretch>
        </p:blipFill>
        <p:spPr>
          <a:xfrm>
            <a:off x="3813048" y="5084064"/>
            <a:ext cx="512064" cy="374904"/>
          </a:xfrm>
          <a:prstGeom prst="rect">
            <a:avLst/>
          </a:prstGeom>
        </p:spPr>
      </p:pic>
      <p:pic>
        <p:nvPicPr>
          <p:cNvPr id="17434" name="Picture 17433" descr="image.png"/>
          <p:cNvPicPr>
            <a:picLocks noChangeAspect="1"/>
          </p:cNvPicPr>
          <p:nvPr/>
        </p:nvPicPr>
        <p:blipFill>
          <a:blip r:embed="rId34"/>
          <a:stretch>
            <a:fillRect/>
          </a:stretch>
        </p:blipFill>
        <p:spPr>
          <a:xfrm>
            <a:off x="4389120" y="5084064"/>
            <a:ext cx="512064" cy="374904"/>
          </a:xfrm>
          <a:prstGeom prst="rect">
            <a:avLst/>
          </a:prstGeom>
        </p:spPr>
      </p:pic>
      <p:pic>
        <p:nvPicPr>
          <p:cNvPr id="17435" name="Picture 17434" descr="image.png"/>
          <p:cNvPicPr>
            <a:picLocks noChangeAspect="1"/>
          </p:cNvPicPr>
          <p:nvPr/>
        </p:nvPicPr>
        <p:blipFill>
          <a:blip r:embed="rId35"/>
          <a:stretch>
            <a:fillRect/>
          </a:stretch>
        </p:blipFill>
        <p:spPr>
          <a:xfrm>
            <a:off x="4965192" y="5084064"/>
            <a:ext cx="512064" cy="374904"/>
          </a:xfrm>
          <a:prstGeom prst="rect">
            <a:avLst/>
          </a:prstGeom>
        </p:spPr>
      </p:pic>
      <p:pic>
        <p:nvPicPr>
          <p:cNvPr id="17436" name="Picture 17435" descr="image.png"/>
          <p:cNvPicPr>
            <a:picLocks noChangeAspect="1"/>
          </p:cNvPicPr>
          <p:nvPr/>
        </p:nvPicPr>
        <p:blipFill>
          <a:blip r:embed="rId36"/>
          <a:stretch>
            <a:fillRect/>
          </a:stretch>
        </p:blipFill>
        <p:spPr>
          <a:xfrm>
            <a:off x="356616" y="5084064"/>
            <a:ext cx="512064" cy="374904"/>
          </a:xfrm>
          <a:prstGeom prst="rect">
            <a:avLst/>
          </a:prstGeom>
        </p:spPr>
      </p:pic>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1653</Words>
  <Application>Microsoft Office PowerPoint</Application>
  <PresentationFormat>Widescreen</PresentationFormat>
  <Paragraphs>216</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THE PROBLEM &amp; OUR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Holkundi Ganesh</cp:lastModifiedBy>
  <cp:revision>149</cp:revision>
  <dcterms:created xsi:type="dcterms:W3CDTF">2013-12-12T18:46:50Z</dcterms:created>
  <dcterms:modified xsi:type="dcterms:W3CDTF">2026-10-19T18:00:56Z</dcterms:modified>
  <cp:category/>
</cp:coreProperties>
</file>