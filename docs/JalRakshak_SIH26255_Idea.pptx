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jalshakti.gov.in/JJMReport/JJMIndia.aspx" TargetMode="External"/><Relationship Id="rId13" Type="http://schemas.openxmlformats.org/officeDocument/2006/relationships/hyperlink" Target="https://www.sih.gov.in/sih2026PS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pmindia.gov.in/en/news_updates/cabinet-approves-extension-of-jal-jeevan-mission-jjm-period-up-to-december-2028-with-enhanced-outlay-and-restructured-implementation-focusing-on-structural-reforms-in-rural-drinking-water-supply-sec" TargetMode="External"/><Relationship Id="rId12" Type="http://schemas.openxmlformats.org/officeDocument/2006/relationships/hyperlink" Target="https://www.sciencedirect.com/science/article/pii/S147470652400016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ib.gov.in/PressReleasePage.aspx?PRID=2209798" TargetMode="External"/><Relationship Id="rId11" Type="http://schemas.openxmlformats.org/officeDocument/2006/relationships/hyperlink" Target="https://jaljeevanmission.gov.in/sites/default/files/2025-05/JalJeevanSamvad-October-2023-en.pdf" TargetMode="External"/><Relationship Id="rId5" Type="http://schemas.openxmlformats.org/officeDocument/2006/relationships/hyperlink" Target="https://www.pib.gov.in/PressReleasePage.aspx?PRID=2298959" TargetMode="External"/><Relationship Id="rId10" Type="http://schemas.openxmlformats.org/officeDocument/2006/relationships/hyperlink" Target="https://www.pib.gov.in/PressReleaseIframePage.aspx?PRID=1708701" TargetMode="External"/><Relationship Id="rId4" Type="http://schemas.openxmlformats.org/officeDocument/2006/relationships/hyperlink" Target="https://jaljeevanmission.gov.in/sites/default/files/2025-12/FHTC_National%20Report%202024.pdf" TargetMode="External"/><Relationship Id="rId9" Type="http://schemas.openxmlformats.org/officeDocument/2006/relationships/hyperlink" Target="https://www.ejalshakti.gov.in/WQMIS/" TargetMode="External"/><Relationship Id="rId14" Type="http://schemas.openxmlformats.org/officeDocument/2006/relationships/hyperlink" Target="https://stitch.google.com/projects/596931001517976166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lang="en-US" b="1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JalRakshak</a:t>
            </a:r>
            <a:endParaRPr lang="en-IN" b="1" dirty="0">
              <a:solidFill>
                <a:srgbClr val="0F76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77999"/>
            <a:ext cx="6096000" cy="2713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1400"/>
              </a:spcAft>
              <a:buFont typeface="+mj-lt"/>
              <a:buChar char="•"/>
            </a:pPr>
            <a:r>
              <a:rPr lang="en-US" sz="1400" b="1">
                <a:latin typeface="Arial" panose="020B0604020202020204" pitchFamily="34" charset="0"/>
              </a:rPr>
              <a:t>Problem Statement ID – </a:t>
            </a:r>
            <a:r>
              <a:rPr lang="en-US" sz="1400">
                <a:latin typeface="Arial" panose="020B0604020202020204" pitchFamily="34" charset="0"/>
              </a:rPr>
              <a:t>SIH26255</a:t>
            </a:r>
          </a:p>
          <a:p>
            <a:pPr marL="342900" indent="-342900">
              <a:spcBef>
                <a:spcPts val="0"/>
              </a:spcBef>
              <a:spcAft>
                <a:spcPts val="1400"/>
              </a:spcAft>
              <a:buFont typeface="+mj-lt"/>
              <a:buChar char="•"/>
            </a:pPr>
            <a:r>
              <a:rPr lang="en-US" sz="1400" b="1">
                <a:latin typeface="Arial" panose="020B0604020202020204" pitchFamily="34" charset="0"/>
              </a:rPr>
              <a:t>Problem Statement Title – </a:t>
            </a:r>
            <a:r>
              <a:rPr lang="en-US" sz="1200">
                <a:latin typeface="Arial" panose="020B0604020202020204" pitchFamily="34" charset="0"/>
              </a:rPr>
              <a:t>AI/ML solution to monitor the functionality of FHTC in real time at Gram Panchayat and household levels, with water-quality alerts, citizen feedback and IMIS/Sujal Gaon ID sync</a:t>
            </a:r>
          </a:p>
          <a:p>
            <a:pPr marL="342900" indent="-342900">
              <a:spcBef>
                <a:spcPts val="0"/>
              </a:spcBef>
              <a:spcAft>
                <a:spcPts val="1400"/>
              </a:spcAft>
              <a:buFont typeface="+mj-lt"/>
              <a:buChar char="•"/>
            </a:pPr>
            <a:r>
              <a:rPr lang="en-US" sz="1400" b="1">
                <a:latin typeface="Arial" panose="020B0604020202020204" pitchFamily="34" charset="0"/>
              </a:rPr>
              <a:t>Theme – </a:t>
            </a:r>
            <a:r>
              <a:rPr lang="en-US" sz="1400">
                <a:latin typeface="Arial" panose="020B0604020202020204" pitchFamily="34" charset="0"/>
              </a:rPr>
              <a:t>Clean &amp; Green Technology</a:t>
            </a:r>
          </a:p>
          <a:p>
            <a:pPr marL="342900" indent="-342900">
              <a:spcBef>
                <a:spcPts val="0"/>
              </a:spcBef>
              <a:spcAft>
                <a:spcPts val="1400"/>
              </a:spcAft>
              <a:buFont typeface="+mj-lt"/>
              <a:buChar char="•"/>
            </a:pPr>
            <a:r>
              <a:rPr lang="en-US" sz="1400" b="1">
                <a:latin typeface="Arial" panose="020B0604020202020204" pitchFamily="34" charset="0"/>
              </a:rPr>
              <a:t>PS Category – </a:t>
            </a:r>
            <a:r>
              <a:rPr lang="en-US" sz="1400">
                <a:latin typeface="Arial" panose="020B0604020202020204" pitchFamily="34" charset="0"/>
              </a:rPr>
              <a:t>Hardware</a:t>
            </a:r>
          </a:p>
          <a:p>
            <a:pPr marL="342900" indent="-342900">
              <a:spcBef>
                <a:spcPts val="0"/>
              </a:spcBef>
              <a:spcAft>
                <a:spcPts val="1400"/>
              </a:spcAft>
              <a:buFont typeface="+mj-lt"/>
              <a:buChar char="•"/>
            </a:pPr>
            <a:r>
              <a:rPr lang="en-US" sz="1400" b="1">
                <a:latin typeface="Arial" panose="020B0604020202020204" pitchFamily="34" charset="0"/>
              </a:rPr>
              <a:t>Team ID – </a:t>
            </a:r>
            <a:r>
              <a:rPr lang="en-US" sz="1400">
                <a:latin typeface="Arial" panose="020B0604020202020204" pitchFamily="34" charset="0"/>
              </a:rPr>
              <a:t>[enter from portal]</a:t>
            </a:r>
          </a:p>
          <a:p>
            <a:pPr marL="342900" indent="-342900">
              <a:spcBef>
                <a:spcPts val="0"/>
              </a:spcBef>
              <a:spcAft>
                <a:spcPts val="1400"/>
              </a:spcAft>
              <a:buFont typeface="+mj-lt"/>
              <a:buChar char="•"/>
            </a:pPr>
            <a:r>
              <a:rPr lang="en-US" sz="1400" b="1">
                <a:latin typeface="Arial" panose="020B0604020202020204" pitchFamily="34" charset="0"/>
              </a:rPr>
              <a:t>Team Name – </a:t>
            </a:r>
            <a:r>
              <a:rPr lang="en-US" sz="1400">
                <a:latin typeface="Arial" panose="020B0604020202020204" pitchFamily="34" charset="0"/>
              </a:rPr>
              <a:t>Team Vistaar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23B69A-3D82-E7B2-750B-51C2F28C8DEA}"/>
              </a:ext>
            </a:extLst>
          </p:cNvPr>
          <p:cNvSpPr txBox="1"/>
          <p:nvPr/>
        </p:nvSpPr>
        <p:spPr>
          <a:xfrm>
            <a:off x="1244600" y="1219200"/>
            <a:ext cx="8534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1500" i="1">
                <a:solidFill>
                  <a:srgbClr val="475569"/>
                </a:solidFill>
                <a:latin typeface="Arial" panose="020B0604020202020204" pitchFamily="34" charset="0"/>
              </a:rPr>
              <a:t>Your Water. Your Village. Your Voice.</a:t>
            </a:r>
            <a:endParaRPr lang="en-IN" sz="1500" i="1">
              <a:solidFill>
                <a:srgbClr val="47556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78000" y="0"/>
            <a:ext cx="7874000" cy="1143000"/>
          </a:xfrm>
        </p:spPr>
        <p:txBody>
          <a:bodyPr/>
          <a:lstStyle/>
          <a:p>
            <a:pPr eaLnBrk="1" hangingPunct="1"/>
            <a:r>
              <a:rPr lang="en-US" sz="2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JalRakshak: Closed-Loop Water-Service Assurance</a:t>
            </a:r>
            <a:endParaRPr lang="en-US" sz="2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/>
              <a:t>Team Vistaar</a:t>
            </a:r>
            <a:endParaRPr lang="en-IN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2A7F514-9F68-1648-8FFE-A0A17213B36B}"/>
              </a:ext>
            </a:extLst>
          </p:cNvPr>
          <p:cNvSpPr/>
          <p:nvPr/>
        </p:nvSpPr>
        <p:spPr>
          <a:xfrm>
            <a:off x="381000" y="1168400"/>
            <a:ext cx="1905000" cy="10160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324EAF-9CA8-1D60-852C-57485CF3789D}"/>
              </a:ext>
            </a:extLst>
          </p:cNvPr>
          <p:cNvSpPr txBox="1"/>
          <p:nvPr/>
        </p:nvSpPr>
        <p:spPr>
          <a:xfrm>
            <a:off x="381000" y="1193800"/>
            <a:ext cx="1905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2600" b="1">
                <a:solidFill>
                  <a:srgbClr val="0F766E"/>
                </a:solidFill>
                <a:latin typeface="Arial" panose="020B0604020202020204" pitchFamily="34" charset="0"/>
              </a:rPr>
              <a:t>98.1%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B1361C-D875-2091-DCBB-0FC54B902757}"/>
              </a:ext>
            </a:extLst>
          </p:cNvPr>
          <p:cNvSpPr txBox="1"/>
          <p:nvPr/>
        </p:nvSpPr>
        <p:spPr>
          <a:xfrm>
            <a:off x="431800" y="1625600"/>
            <a:ext cx="1803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850">
                <a:solidFill>
                  <a:srgbClr val="1F2937"/>
                </a:solidFill>
                <a:latin typeface="Arial" panose="020B0604020202020204" pitchFamily="34" charset="0"/>
              </a:rPr>
              <a:t>surveyed households in Har Ghar Jal villages had a tap</a:t>
            </a:r>
            <a:endParaRPr lang="en-IN" sz="8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E5CE4C-52D8-3BBC-EFDE-2CA65AACDB77}"/>
              </a:ext>
            </a:extLst>
          </p:cNvPr>
          <p:cNvSpPr/>
          <p:nvPr/>
        </p:nvSpPr>
        <p:spPr>
          <a:xfrm>
            <a:off x="2387600" y="1168400"/>
            <a:ext cx="1905000" cy="1016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941861-47E3-CCB9-5CA2-F1F517539184}"/>
              </a:ext>
            </a:extLst>
          </p:cNvPr>
          <p:cNvSpPr txBox="1"/>
          <p:nvPr/>
        </p:nvSpPr>
        <p:spPr>
          <a:xfrm>
            <a:off x="2387600" y="1193800"/>
            <a:ext cx="1905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2600" b="1">
                <a:solidFill>
                  <a:srgbClr val="B45309"/>
                </a:solidFill>
                <a:latin typeface="Arial" panose="020B0604020202020204" pitchFamily="34" charset="0"/>
              </a:rPr>
              <a:t>76.0%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B433AA-1764-1BD1-AB30-017A9A202BA3}"/>
              </a:ext>
            </a:extLst>
          </p:cNvPr>
          <p:cNvSpPr txBox="1"/>
          <p:nvPr/>
        </p:nvSpPr>
        <p:spPr>
          <a:xfrm>
            <a:off x="2438400" y="1625600"/>
            <a:ext cx="1803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850">
                <a:solidFill>
                  <a:srgbClr val="1F2937"/>
                </a:solidFill>
                <a:latin typeface="Arial" panose="020B0604020202020204" pitchFamily="34" charset="0"/>
              </a:rPr>
              <a:t>assessed functionality status of household tap connections</a:t>
            </a:r>
            <a:endParaRPr lang="en-IN" sz="8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A5419E-EAAD-8928-2AF1-C756EAA2F468}"/>
              </a:ext>
            </a:extLst>
          </p:cNvPr>
          <p:cNvSpPr txBox="1"/>
          <p:nvPr/>
        </p:nvSpPr>
        <p:spPr>
          <a:xfrm>
            <a:off x="4419600" y="1143000"/>
            <a:ext cx="7391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F2937"/>
                </a:solidFill>
                <a:latin typeface="Arial" panose="020B0604020202020204" pitchFamily="34" charset="0"/>
              </a:rPr>
              <a:t>A tap is not the same as a working water service.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000">
                <a:solidFill>
                  <a:srgbClr val="1F2937"/>
                </a:solidFill>
                <a:latin typeface="Arial" panose="020B0604020202020204" pitchFamily="34" charset="0"/>
              </a:rPr>
              <a:t>JJM already has dashboards, WQMIS, Jal Seva Aankalan, Sujalam Bharat IDs and IoT pilots. We did not find a public system that links sensor warnings, citizen complaints and pipeline records into one prioritised repair that is verified after restoration.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750" i="1">
                <a:solidFill>
                  <a:srgbClr val="475569"/>
                </a:solidFill>
                <a:latin typeface="Arial" panose="020B0604020202020204" pitchFamily="34" charset="0"/>
              </a:rPr>
              <a:t>Source: DDWS, Functionality Assessment of Household Tap Connection – National Report 2024 (weighted sample estimates) [1]</a:t>
            </a:r>
            <a:endParaRPr lang="en-IN" sz="750" i="1">
              <a:solidFill>
                <a:srgbClr val="475569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1BE6669-EE17-A609-7823-60ECCF9B8C99}"/>
              </a:ext>
            </a:extLst>
          </p:cNvPr>
          <p:cNvSpPr/>
          <p:nvPr/>
        </p:nvSpPr>
        <p:spPr>
          <a:xfrm>
            <a:off x="381000" y="2311400"/>
            <a:ext cx="3733800" cy="2946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AD27AC-5249-D8A5-8B90-64C3B7791640}"/>
              </a:ext>
            </a:extLst>
          </p:cNvPr>
          <p:cNvSpPr txBox="1"/>
          <p:nvPr/>
        </p:nvSpPr>
        <p:spPr>
          <a:xfrm>
            <a:off x="457200" y="2362200"/>
            <a:ext cx="3581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50" b="1">
                <a:solidFill>
                  <a:srgbClr val="0F766E"/>
                </a:solidFill>
                <a:latin typeface="Arial" panose="020B0604020202020204" pitchFamily="34" charset="0"/>
              </a:rPr>
              <a:t>Proposed Solution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0523EC-3205-E39B-32D2-1E8648375AC1}"/>
              </a:ext>
            </a:extLst>
          </p:cNvPr>
          <p:cNvSpPr txBox="1"/>
          <p:nvPr/>
        </p:nvSpPr>
        <p:spPr>
          <a:xfrm>
            <a:off x="457200" y="2616200"/>
            <a:ext cx="3581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IN" sz="1250" b="1">
                <a:solidFill>
                  <a:srgbClr val="1F2937"/>
                </a:solidFill>
                <a:latin typeface="Arial" panose="020B0604020202020204" pitchFamily="34" charset="0"/>
              </a:rPr>
              <a:t>Sensor nodes </a:t>
            </a:r>
            <a:r>
              <a:rPr lang="en-IN" sz="1250">
                <a:solidFill>
                  <a:srgbClr val="1F2937"/>
                </a:solidFill>
                <a:latin typeface="Arial" panose="020B0604020202020204" pitchFamily="34" charset="0"/>
              </a:rPr>
              <a:t>at pump, tank, pipeline head and tail – not at every house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IN" sz="1250" b="1">
                <a:solidFill>
                  <a:srgbClr val="1F2937"/>
                </a:solidFill>
                <a:latin typeface="Arial" panose="020B0604020202020204" pitchFamily="34" charset="0"/>
              </a:rPr>
              <a:t>Citizen app </a:t>
            </a:r>
            <a:r>
              <a:rPr lang="en-IN" sz="1250">
                <a:solidFill>
                  <a:srgbClr val="1F2937"/>
                </a:solidFill>
                <a:latin typeface="Arial" panose="020B0604020202020204" pitchFamily="34" charset="0"/>
              </a:rPr>
              <a:t>(English / </a:t>
            </a:r>
            <a:r>
              <a:rPr lang="te-IN" sz="1250">
                <a:solidFill>
                  <a:srgbClr val="1F2937"/>
                </a:solidFill>
                <a:latin typeface="Arial" panose="020B0604020202020204" pitchFamily="34" charset="0"/>
              </a:rPr>
              <a:t>తెలుగు / </a:t>
            </a:r>
            <a:r>
              <a:rPr lang="hi-IN" sz="1250">
                <a:solidFill>
                  <a:srgbClr val="1F2937"/>
                </a:solidFill>
                <a:latin typeface="Arial" panose="020B0604020202020204" pitchFamily="34" charset="0"/>
              </a:rPr>
              <a:t>हिंदी): </a:t>
            </a:r>
            <a:r>
              <a:rPr lang="en-IN" sz="1250">
                <a:solidFill>
                  <a:srgbClr val="1F2937"/>
                </a:solidFill>
                <a:latin typeface="Arial" panose="020B0604020202020204" pitchFamily="34" charset="0"/>
              </a:rPr>
              <a:t>report no, low or dirty water or leakage with a photo; track status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IN" sz="1250" b="1">
                <a:solidFill>
                  <a:srgbClr val="1F2937"/>
                </a:solidFill>
                <a:latin typeface="Arial" panose="020B0604020202020204" pitchFamily="34" charset="0"/>
              </a:rPr>
              <a:t>Pipeline records: </a:t>
            </a:r>
            <a:r>
              <a:rPr lang="en-IN" sz="1250">
                <a:solidFill>
                  <a:srgbClr val="1F2937"/>
                </a:solidFill>
                <a:latin typeface="Arial" panose="020B0604020202020204" pitchFamily="34" charset="0"/>
              </a:rPr>
              <a:t>age, material, repairs, corrosion findings → explainable risk score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IN" sz="1250" b="1">
                <a:solidFill>
                  <a:srgbClr val="1F2937"/>
                </a:solidFill>
                <a:latin typeface="Arial" panose="020B0604020202020204" pitchFamily="34" charset="0"/>
              </a:rPr>
              <a:t>Gram Panchayat console: </a:t>
            </a:r>
            <a:r>
              <a:rPr lang="en-IN" sz="1250">
                <a:solidFill>
                  <a:srgbClr val="1F2937"/>
                </a:solidFill>
                <a:latin typeface="Arial" panose="020B0604020202020204" pitchFamily="34" charset="0"/>
              </a:rPr>
              <a:t>evidence, maintenance tasks, restoration check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0861C1-FC44-C2B5-96BC-666B3803AE9E}"/>
              </a:ext>
            </a:extLst>
          </p:cNvPr>
          <p:cNvSpPr/>
          <p:nvPr/>
        </p:nvSpPr>
        <p:spPr>
          <a:xfrm>
            <a:off x="4229100" y="2311400"/>
            <a:ext cx="3733800" cy="2946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4F37FF-B9CA-B4AD-E27E-1949C1CD3A09}"/>
              </a:ext>
            </a:extLst>
          </p:cNvPr>
          <p:cNvSpPr txBox="1"/>
          <p:nvPr/>
        </p:nvSpPr>
        <p:spPr>
          <a:xfrm>
            <a:off x="4305300" y="2362200"/>
            <a:ext cx="3581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50" b="1">
                <a:solidFill>
                  <a:srgbClr val="0F766E"/>
                </a:solidFill>
                <a:latin typeface="Arial" panose="020B0604020202020204" pitchFamily="34" charset="0"/>
              </a:rPr>
              <a:t>How it addresses the problem</a:t>
            </a:r>
            <a:endParaRPr lang="en-IN" sz="115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0B9A97-9E9F-5010-7F32-EEB83091C926}"/>
              </a:ext>
            </a:extLst>
          </p:cNvPr>
          <p:cNvSpPr txBox="1"/>
          <p:nvPr/>
        </p:nvSpPr>
        <p:spPr>
          <a:xfrm>
            <a:off x="4305300" y="2616200"/>
            <a:ext cx="3581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US" sz="1250">
                <a:solidFill>
                  <a:srgbClr val="1F2937"/>
                </a:solidFill>
                <a:latin typeface="Arial" panose="020B0604020202020204" pitchFamily="34" charset="0"/>
              </a:rPr>
              <a:t>Detects supply failures continuously, between periodic surveys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US" sz="1250">
                <a:solidFill>
                  <a:srgbClr val="1F2937"/>
                </a:solidFill>
                <a:latin typeface="Arial" panose="020B0604020202020204" pitchFamily="34" charset="0"/>
              </a:rPr>
              <a:t>Separates a faulty sensor from a real supply fault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US" sz="1250">
                <a:solidFill>
                  <a:srgbClr val="1F2937"/>
                </a:solidFill>
                <a:latin typeface="Arial" panose="020B0604020202020204" pitchFamily="34" charset="0"/>
              </a:rPr>
              <a:t>Links each complaint to a pipe and zone, so the right asset is repaired first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US" sz="1250">
                <a:solidFill>
                  <a:srgbClr val="1F2937"/>
                </a:solidFill>
                <a:latin typeface="Arial" panose="020B0604020202020204" pitchFamily="34" charset="0"/>
              </a:rPr>
              <a:t>Closes an incident only when readings recover – measures service, not just assets</a:t>
            </a:r>
            <a:endParaRPr lang="en-IN" sz="12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0DAC66B-4EA6-81C1-BC13-6DB1404C1299}"/>
              </a:ext>
            </a:extLst>
          </p:cNvPr>
          <p:cNvSpPr/>
          <p:nvPr/>
        </p:nvSpPr>
        <p:spPr>
          <a:xfrm>
            <a:off x="8077200" y="2311400"/>
            <a:ext cx="3733800" cy="2946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621B9A-6A53-8F4B-4972-84D85966821E}"/>
              </a:ext>
            </a:extLst>
          </p:cNvPr>
          <p:cNvSpPr txBox="1"/>
          <p:nvPr/>
        </p:nvSpPr>
        <p:spPr>
          <a:xfrm>
            <a:off x="8153400" y="2362200"/>
            <a:ext cx="3581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50" b="1">
                <a:solidFill>
                  <a:srgbClr val="0F766E"/>
                </a:solidFill>
                <a:latin typeface="Arial" panose="020B0604020202020204" pitchFamily="34" charset="0"/>
              </a:rPr>
              <a:t>Innovation and uniqueness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DE74B0-6B55-464C-3EC2-D827DD1988D7}"/>
              </a:ext>
            </a:extLst>
          </p:cNvPr>
          <p:cNvSpPr txBox="1"/>
          <p:nvPr/>
        </p:nvSpPr>
        <p:spPr>
          <a:xfrm>
            <a:off x="8153400" y="2616200"/>
            <a:ext cx="3581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IN" sz="1250" b="1">
                <a:solidFill>
                  <a:srgbClr val="1F2937"/>
                </a:solidFill>
                <a:latin typeface="Arial" panose="020B0604020202020204" pitchFamily="34" charset="0"/>
              </a:rPr>
              <a:t>Evidence fusion: </a:t>
            </a:r>
            <a:r>
              <a:rPr lang="en-IN" sz="1250">
                <a:solidFill>
                  <a:srgbClr val="1F2937"/>
                </a:solidFill>
                <a:latin typeface="Arial" panose="020B0604020202020204" pitchFamily="34" charset="0"/>
              </a:rPr>
              <a:t>sensors + complaints + photos + pipe history + supply schedule → one explainable incident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IN" sz="1250" b="1">
                <a:solidFill>
                  <a:srgbClr val="1F2937"/>
                </a:solidFill>
                <a:latin typeface="Arial" panose="020B0604020202020204" pitchFamily="34" charset="0"/>
              </a:rPr>
              <a:t>Preventive maintenance: </a:t>
            </a:r>
            <a:r>
              <a:rPr lang="en-IN" sz="1250">
                <a:solidFill>
                  <a:srgbClr val="1F2937"/>
                </a:solidFill>
                <a:latin typeface="Arial" panose="020B0604020202020204" pitchFamily="34" charset="0"/>
              </a:rPr>
              <a:t>inspect high-risk pipes before visible failure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IN" sz="1250" b="1">
                <a:solidFill>
                  <a:srgbClr val="1F2937"/>
                </a:solidFill>
                <a:latin typeface="Arial" panose="020B0604020202020204" pitchFamily="34" charset="0"/>
              </a:rPr>
              <a:t>Verified restoration, </a:t>
            </a:r>
            <a:r>
              <a:rPr lang="en-IN" sz="1250">
                <a:solidFill>
                  <a:srgbClr val="1F2937"/>
                </a:solidFill>
                <a:latin typeface="Arial" panose="020B0604020202020204" pitchFamily="34" charset="0"/>
              </a:rPr>
              <a:t>not self-declared closure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IN" sz="1250" b="1">
                <a:solidFill>
                  <a:srgbClr val="1F2937"/>
                </a:solidFill>
                <a:latin typeface="Arial" panose="020B0604020202020204" pitchFamily="34" charset="0"/>
              </a:rPr>
              <a:t>Complements JJM systems; </a:t>
            </a:r>
            <a:r>
              <a:rPr lang="en-IN" sz="1250">
                <a:solidFill>
                  <a:srgbClr val="1F2937"/>
                </a:solidFill>
                <a:latin typeface="Arial" panose="020B0604020202020204" pitchFamily="34" charset="0"/>
              </a:rPr>
              <a:t>Sujal Gaon / Sujalam Bharat-ready IDs (mock in prototype)</a:t>
            </a:r>
          </a:p>
        </p:txBody>
      </p:sp>
      <p:sp>
        <p:nvSpPr>
          <p:cNvPr id="23" name="Arrow: Pentagon 22">
            <a:extLst>
              <a:ext uri="{FF2B5EF4-FFF2-40B4-BE49-F238E27FC236}">
                <a16:creationId xmlns:a16="http://schemas.microsoft.com/office/drawing/2014/main" id="{C0724C34-5ADF-BE84-381F-EE2B437DE09F}"/>
              </a:ext>
            </a:extLst>
          </p:cNvPr>
          <p:cNvSpPr/>
          <p:nvPr/>
        </p:nvSpPr>
        <p:spPr>
          <a:xfrm>
            <a:off x="381000" y="5384800"/>
            <a:ext cx="1701800" cy="508000"/>
          </a:xfrm>
          <a:prstGeom prst="homePlate">
            <a:avLst/>
          </a:prstGeom>
          <a:solidFill>
            <a:srgbClr val="0F766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Predict</a:t>
            </a: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EC8946B3-C4BA-BF73-7247-CC33741E1FFD}"/>
              </a:ext>
            </a:extLst>
          </p:cNvPr>
          <p:cNvSpPr/>
          <p:nvPr/>
        </p:nvSpPr>
        <p:spPr>
          <a:xfrm>
            <a:off x="2006600" y="5384800"/>
            <a:ext cx="1701800" cy="508000"/>
          </a:xfrm>
          <a:prstGeom prst="chevron">
            <a:avLst/>
          </a:prstGeom>
          <a:solidFill>
            <a:srgbClr val="0F766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Report</a:t>
            </a: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B537769E-B99C-23FF-FF49-21267CE4702E}"/>
              </a:ext>
            </a:extLst>
          </p:cNvPr>
          <p:cNvSpPr/>
          <p:nvPr/>
        </p:nvSpPr>
        <p:spPr>
          <a:xfrm>
            <a:off x="3632200" y="5384800"/>
            <a:ext cx="1701800" cy="508000"/>
          </a:xfrm>
          <a:prstGeom prst="chevron">
            <a:avLst/>
          </a:prstGeom>
          <a:solidFill>
            <a:srgbClr val="0F766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Review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33621009-C3A2-335C-2B64-CBFA00C89A72}"/>
              </a:ext>
            </a:extLst>
          </p:cNvPr>
          <p:cNvSpPr/>
          <p:nvPr/>
        </p:nvSpPr>
        <p:spPr>
          <a:xfrm>
            <a:off x="5257800" y="5384800"/>
            <a:ext cx="1701800" cy="508000"/>
          </a:xfrm>
          <a:prstGeom prst="chevron">
            <a:avLst/>
          </a:prstGeom>
          <a:solidFill>
            <a:srgbClr val="0F766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Prioritise</a:t>
            </a: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6AECF842-6334-4F99-2070-B097E596B403}"/>
              </a:ext>
            </a:extLst>
          </p:cNvPr>
          <p:cNvSpPr/>
          <p:nvPr/>
        </p:nvSpPr>
        <p:spPr>
          <a:xfrm>
            <a:off x="6883400" y="5384800"/>
            <a:ext cx="1701800" cy="508000"/>
          </a:xfrm>
          <a:prstGeom prst="chevron">
            <a:avLst/>
          </a:prstGeom>
          <a:solidFill>
            <a:srgbClr val="0F766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Maintain</a:t>
            </a:r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3BD0EA65-EB37-BE12-4478-579A6B1EC588}"/>
              </a:ext>
            </a:extLst>
          </p:cNvPr>
          <p:cNvSpPr/>
          <p:nvPr/>
        </p:nvSpPr>
        <p:spPr>
          <a:xfrm>
            <a:off x="8509000" y="5384800"/>
            <a:ext cx="1701800" cy="508000"/>
          </a:xfrm>
          <a:prstGeom prst="chevron">
            <a:avLst/>
          </a:prstGeom>
          <a:solidFill>
            <a:srgbClr val="15803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Verify</a:t>
            </a:r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A408A7B5-AD51-0834-B5D2-1BC34893B885}"/>
              </a:ext>
            </a:extLst>
          </p:cNvPr>
          <p:cNvSpPr/>
          <p:nvPr/>
        </p:nvSpPr>
        <p:spPr>
          <a:xfrm>
            <a:off x="10134600" y="5384800"/>
            <a:ext cx="1701800" cy="508000"/>
          </a:xfrm>
          <a:prstGeom prst="chevron">
            <a:avLst/>
          </a:prstGeom>
          <a:solidFill>
            <a:srgbClr val="0F766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1200" b="1">
                <a:solidFill>
                  <a:srgbClr val="FFFFFF"/>
                </a:solidFill>
                <a:latin typeface="Arial" panose="020B0604020202020204" pitchFamily="34" charset="0"/>
              </a:rPr>
              <a:t>Inform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76CF41-8ECF-2162-A605-D3523ED0B9D1}"/>
              </a:ext>
            </a:extLst>
          </p:cNvPr>
          <p:cNvSpPr txBox="1"/>
          <p:nvPr/>
        </p:nvSpPr>
        <p:spPr>
          <a:xfrm>
            <a:off x="381000" y="5943600"/>
            <a:ext cx="11430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900" i="1">
                <a:solidFill>
                  <a:srgbClr val="475569"/>
                </a:solidFill>
                <a:latin typeface="Arial" panose="020B0604020202020204" pitchFamily="34" charset="0"/>
              </a:rPr>
              <a:t>Closed loop: early warning → citizen report → official review → prioritised task → repair → sensor-verified restoration → villager informed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/>
              <a:t>Team Vistaar</a:t>
            </a:r>
            <a:endParaRPr lang="en-IN" sz="11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2271D2-9B63-D53A-881F-DB60438E0CDF}"/>
              </a:ext>
            </a:extLst>
          </p:cNvPr>
          <p:cNvSpPr/>
          <p:nvPr/>
        </p:nvSpPr>
        <p:spPr>
          <a:xfrm>
            <a:off x="381000" y="1168400"/>
            <a:ext cx="787400" cy="7366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950" b="1">
                <a:solidFill>
                  <a:srgbClr val="FFFFFF"/>
                </a:solidFill>
                <a:latin typeface="Arial" panose="020B0604020202020204" pitchFamily="34" charset="0"/>
              </a:rPr>
              <a:t>FIELD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463868F-26C9-7210-EB78-F1AA8AD58C29}"/>
              </a:ext>
            </a:extLst>
          </p:cNvPr>
          <p:cNvSpPr/>
          <p:nvPr/>
        </p:nvSpPr>
        <p:spPr>
          <a:xfrm>
            <a:off x="1219200" y="1168400"/>
            <a:ext cx="5816600" cy="736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937B76-1D71-E690-1F8E-FA794F71802C}"/>
              </a:ext>
            </a:extLst>
          </p:cNvPr>
          <p:cNvSpPr/>
          <p:nvPr/>
        </p:nvSpPr>
        <p:spPr>
          <a:xfrm>
            <a:off x="1295400" y="1270000"/>
            <a:ext cx="105156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Pump · current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D4EA8E-AB91-1F6B-97CD-20749C82FAA6}"/>
              </a:ext>
            </a:extLst>
          </p:cNvPr>
          <p:cNvSpPr/>
          <p:nvPr/>
        </p:nvSpPr>
        <p:spPr>
          <a:xfrm>
            <a:off x="2448560" y="1270000"/>
            <a:ext cx="105156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Tank · level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D9809D-1F19-F63B-555F-3D184E5ABAC7}"/>
              </a:ext>
            </a:extLst>
          </p:cNvPr>
          <p:cNvSpPr/>
          <p:nvPr/>
        </p:nvSpPr>
        <p:spPr>
          <a:xfrm>
            <a:off x="3601720" y="1270000"/>
            <a:ext cx="105156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Pipeline head · flow + pressure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4FBE43-254A-545E-0237-A8BF7ED7ADAF}"/>
              </a:ext>
            </a:extLst>
          </p:cNvPr>
          <p:cNvSpPr/>
          <p:nvPr/>
        </p:nvSpPr>
        <p:spPr>
          <a:xfrm>
            <a:off x="4754880" y="1270000"/>
            <a:ext cx="105156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Pipeline tail · flow + pressure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B3C95A-8C2E-0730-C101-2A465C630B63}"/>
              </a:ext>
            </a:extLst>
          </p:cNvPr>
          <p:cNvSpPr/>
          <p:nvPr/>
        </p:nvSpPr>
        <p:spPr>
          <a:xfrm>
            <a:off x="5908040" y="1270000"/>
            <a:ext cx="105156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Citizens · photo, voice, location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080C3A-B933-4A52-AE29-A8BEF19A00BA}"/>
              </a:ext>
            </a:extLst>
          </p:cNvPr>
          <p:cNvCxnSpPr/>
          <p:nvPr/>
        </p:nvCxnSpPr>
        <p:spPr>
          <a:xfrm>
            <a:off x="774700" y="1905000"/>
            <a:ext cx="0" cy="15240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BA0386B-4CC6-735F-A3AF-676E35C73198}"/>
              </a:ext>
            </a:extLst>
          </p:cNvPr>
          <p:cNvSpPr/>
          <p:nvPr/>
        </p:nvSpPr>
        <p:spPr>
          <a:xfrm>
            <a:off x="381000" y="2082800"/>
            <a:ext cx="787400" cy="7366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950" b="1">
                <a:solidFill>
                  <a:srgbClr val="FFFFFF"/>
                </a:solidFill>
                <a:latin typeface="Arial" panose="020B0604020202020204" pitchFamily="34" charset="0"/>
              </a:rPr>
              <a:t>EDGE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298C989-52F1-84FF-A632-9F106A6DCDFB}"/>
              </a:ext>
            </a:extLst>
          </p:cNvPr>
          <p:cNvSpPr/>
          <p:nvPr/>
        </p:nvSpPr>
        <p:spPr>
          <a:xfrm>
            <a:off x="1219200" y="2082800"/>
            <a:ext cx="5816600" cy="736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3C6F65-6988-1CDD-0DA8-C1A3DEBB2854}"/>
              </a:ext>
            </a:extLst>
          </p:cNvPr>
          <p:cNvSpPr/>
          <p:nvPr/>
        </p:nvSpPr>
        <p:spPr>
          <a:xfrm>
            <a:off x="1295400" y="2184400"/>
            <a:ext cx="133985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Node A: ESP32 + LoRa (pump/tank)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0CF5DAF-FDEC-B03C-8783-244AE273ADAA}"/>
              </a:ext>
            </a:extLst>
          </p:cNvPr>
          <p:cNvCxnSpPr/>
          <p:nvPr/>
        </p:nvCxnSpPr>
        <p:spPr>
          <a:xfrm>
            <a:off x="2647950" y="2451100"/>
            <a:ext cx="76200" cy="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5E982E0-90EA-CB86-AC02-3ADD52AC2FDD}"/>
              </a:ext>
            </a:extLst>
          </p:cNvPr>
          <p:cNvSpPr/>
          <p:nvPr/>
        </p:nvSpPr>
        <p:spPr>
          <a:xfrm>
            <a:off x="2736850" y="2184400"/>
            <a:ext cx="133985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pt-BR" sz="800">
                <a:solidFill>
                  <a:srgbClr val="1F2937"/>
                </a:solidFill>
                <a:latin typeface="Arial" panose="020B0604020202020204" pitchFamily="34" charset="0"/>
              </a:rPr>
              <a:t>Node B: ESP32 + LoRa, solar (tail)</a:t>
            </a:r>
            <a:endParaRPr lang="en-IN" sz="80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857703-8251-7D07-94D6-5C7807CCFAE8}"/>
              </a:ext>
            </a:extLst>
          </p:cNvPr>
          <p:cNvCxnSpPr/>
          <p:nvPr/>
        </p:nvCxnSpPr>
        <p:spPr>
          <a:xfrm>
            <a:off x="4089400" y="2451100"/>
            <a:ext cx="76200" cy="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0F689D4-F73D-4789-CD20-04AA3BBC6283}"/>
              </a:ext>
            </a:extLst>
          </p:cNvPr>
          <p:cNvSpPr/>
          <p:nvPr/>
        </p:nvSpPr>
        <p:spPr>
          <a:xfrm>
            <a:off x="4178300" y="2184400"/>
            <a:ext cx="133985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800">
                <a:solidFill>
                  <a:srgbClr val="1F2937"/>
                </a:solidFill>
                <a:latin typeface="Arial" panose="020B0604020202020204" pitchFamily="34" charset="0"/>
              </a:rPr>
              <a:t>Raspberry Pi gateway · offline buffer</a:t>
            </a:r>
            <a:endParaRPr lang="en-IN" sz="80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677382F-844E-3CA1-EAF0-F2887912A398}"/>
              </a:ext>
            </a:extLst>
          </p:cNvPr>
          <p:cNvCxnSpPr/>
          <p:nvPr/>
        </p:nvCxnSpPr>
        <p:spPr>
          <a:xfrm>
            <a:off x="5530850" y="2451100"/>
            <a:ext cx="76200" cy="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6282006-400B-9BD9-83B6-82F5E3BC8B04}"/>
              </a:ext>
            </a:extLst>
          </p:cNvPr>
          <p:cNvSpPr/>
          <p:nvPr/>
        </p:nvSpPr>
        <p:spPr>
          <a:xfrm>
            <a:off x="5619750" y="2184400"/>
            <a:ext cx="133985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4G · MQTT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48430BC-C02F-228D-FB14-A4D1E0C6F75F}"/>
              </a:ext>
            </a:extLst>
          </p:cNvPr>
          <p:cNvCxnSpPr/>
          <p:nvPr/>
        </p:nvCxnSpPr>
        <p:spPr>
          <a:xfrm>
            <a:off x="774700" y="2819400"/>
            <a:ext cx="0" cy="15240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54ECF1-802C-D593-D0FF-B49D7D6F9B48}"/>
              </a:ext>
            </a:extLst>
          </p:cNvPr>
          <p:cNvSpPr/>
          <p:nvPr/>
        </p:nvSpPr>
        <p:spPr>
          <a:xfrm>
            <a:off x="381000" y="2997200"/>
            <a:ext cx="787400" cy="7366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950" b="1">
                <a:solidFill>
                  <a:srgbClr val="FFFFFF"/>
                </a:solidFill>
                <a:latin typeface="Arial" panose="020B0604020202020204" pitchFamily="34" charset="0"/>
              </a:rPr>
              <a:t>CLOUD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85DA554-793F-8572-C750-1DF2C362C356}"/>
              </a:ext>
            </a:extLst>
          </p:cNvPr>
          <p:cNvSpPr/>
          <p:nvPr/>
        </p:nvSpPr>
        <p:spPr>
          <a:xfrm>
            <a:off x="1219200" y="2997200"/>
            <a:ext cx="5816600" cy="736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BF332AD-7020-A9BF-D731-E978765AF95B}"/>
              </a:ext>
            </a:extLst>
          </p:cNvPr>
          <p:cNvSpPr/>
          <p:nvPr/>
        </p:nvSpPr>
        <p:spPr>
          <a:xfrm>
            <a:off x="1295400" y="3098800"/>
            <a:ext cx="133985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FastAPI ingest + APIs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245CC7F-8D4F-976C-5A3F-ABA1CBEB01A8}"/>
              </a:ext>
            </a:extLst>
          </p:cNvPr>
          <p:cNvSpPr/>
          <p:nvPr/>
        </p:nvSpPr>
        <p:spPr>
          <a:xfrm>
            <a:off x="2736850" y="3098800"/>
            <a:ext cx="133985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SQLite → PostgreSQL / PostGIS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5417CDE-17FE-14B6-076E-79B313E3E88C}"/>
              </a:ext>
            </a:extLst>
          </p:cNvPr>
          <p:cNvSpPr/>
          <p:nvPr/>
        </p:nvSpPr>
        <p:spPr>
          <a:xfrm>
            <a:off x="4178300" y="3098800"/>
            <a:ext cx="133985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Photo store · role-based access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3430F7B-D0FA-65C6-8712-D78A0C196241}"/>
              </a:ext>
            </a:extLst>
          </p:cNvPr>
          <p:cNvSpPr/>
          <p:nvPr/>
        </p:nvSpPr>
        <p:spPr>
          <a:xfrm>
            <a:off x="5619750" y="3098800"/>
            <a:ext cx="133985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Mock Sujal Gaon / Sujalam Bharat IDs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0996CF4-5655-7E77-9CA8-3E52CAE164AA}"/>
              </a:ext>
            </a:extLst>
          </p:cNvPr>
          <p:cNvCxnSpPr/>
          <p:nvPr/>
        </p:nvCxnSpPr>
        <p:spPr>
          <a:xfrm>
            <a:off x="774700" y="3733800"/>
            <a:ext cx="0" cy="15240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62495D0-9CED-5FA9-2596-760EA7987D15}"/>
              </a:ext>
            </a:extLst>
          </p:cNvPr>
          <p:cNvSpPr/>
          <p:nvPr/>
        </p:nvSpPr>
        <p:spPr>
          <a:xfrm>
            <a:off x="381000" y="3911600"/>
            <a:ext cx="787400" cy="7366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950" b="1">
                <a:solidFill>
                  <a:srgbClr val="FFFFFF"/>
                </a:solidFill>
                <a:latin typeface="Arial" panose="020B0604020202020204" pitchFamily="34" charset="0"/>
              </a:rPr>
              <a:t>AI / ML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D314E23-D3E5-B79A-122A-87C8D8262962}"/>
              </a:ext>
            </a:extLst>
          </p:cNvPr>
          <p:cNvSpPr/>
          <p:nvPr/>
        </p:nvSpPr>
        <p:spPr>
          <a:xfrm>
            <a:off x="1219200" y="3911600"/>
            <a:ext cx="5816600" cy="736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37885EA-0E9B-FAAA-2327-479C7FD2BF42}"/>
              </a:ext>
            </a:extLst>
          </p:cNvPr>
          <p:cNvSpPr/>
          <p:nvPr/>
        </p:nvSpPr>
        <p:spPr>
          <a:xfrm>
            <a:off x="1295400" y="4013200"/>
            <a:ext cx="105156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Rules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4958211-14AC-20F2-4C42-CF437B91A33F}"/>
              </a:ext>
            </a:extLst>
          </p:cNvPr>
          <p:cNvCxnSpPr/>
          <p:nvPr/>
        </p:nvCxnSpPr>
        <p:spPr>
          <a:xfrm>
            <a:off x="2359660" y="4279900"/>
            <a:ext cx="76200" cy="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66F2F38-F8B3-A0F0-62D1-104A5D778576}"/>
              </a:ext>
            </a:extLst>
          </p:cNvPr>
          <p:cNvSpPr/>
          <p:nvPr/>
        </p:nvSpPr>
        <p:spPr>
          <a:xfrm>
            <a:off x="2448560" y="4013200"/>
            <a:ext cx="105156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Sensor-health gate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7122E87-04B9-D98D-2B5D-7C11A48F9320}"/>
              </a:ext>
            </a:extLst>
          </p:cNvPr>
          <p:cNvCxnSpPr/>
          <p:nvPr/>
        </p:nvCxnSpPr>
        <p:spPr>
          <a:xfrm>
            <a:off x="3512820" y="4279900"/>
            <a:ext cx="76200" cy="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4193EB8-FB21-8701-7709-0EC28D09727B}"/>
              </a:ext>
            </a:extLst>
          </p:cNvPr>
          <p:cNvSpPr/>
          <p:nvPr/>
        </p:nvSpPr>
        <p:spPr>
          <a:xfrm>
            <a:off x="3601720" y="4013200"/>
            <a:ext cx="105156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Anomaly: z-score → Isolation Forest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0188C5-8CE4-E0CB-C0C1-A1D42CA45A5C}"/>
              </a:ext>
            </a:extLst>
          </p:cNvPr>
          <p:cNvCxnSpPr/>
          <p:nvPr/>
        </p:nvCxnSpPr>
        <p:spPr>
          <a:xfrm>
            <a:off x="4665980" y="4279900"/>
            <a:ext cx="76200" cy="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4057069-0F64-058F-353D-8827F1FED8DF}"/>
              </a:ext>
            </a:extLst>
          </p:cNvPr>
          <p:cNvSpPr/>
          <p:nvPr/>
        </p:nvSpPr>
        <p:spPr>
          <a:xfrm>
            <a:off x="4754880" y="4013200"/>
            <a:ext cx="105156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Pipeline risk score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4A8CDD6-7D3A-27AC-70A4-11D3E42A40BD}"/>
              </a:ext>
            </a:extLst>
          </p:cNvPr>
          <p:cNvCxnSpPr/>
          <p:nvPr/>
        </p:nvCxnSpPr>
        <p:spPr>
          <a:xfrm>
            <a:off x="5819140" y="4279900"/>
            <a:ext cx="76200" cy="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2B9AAAA-2EFC-BE84-EEF5-172041475DF0}"/>
              </a:ext>
            </a:extLst>
          </p:cNvPr>
          <p:cNvSpPr/>
          <p:nvPr/>
        </p:nvSpPr>
        <p:spPr>
          <a:xfrm>
            <a:off x="5908040" y="4013200"/>
            <a:ext cx="105156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Evidence fusion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6D915FA-A833-4AFF-C949-B8581E9535E3}"/>
              </a:ext>
            </a:extLst>
          </p:cNvPr>
          <p:cNvCxnSpPr/>
          <p:nvPr/>
        </p:nvCxnSpPr>
        <p:spPr>
          <a:xfrm>
            <a:off x="774700" y="4648200"/>
            <a:ext cx="0" cy="15240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E92CE31-A390-4ED6-A576-0B323794D2B6}"/>
              </a:ext>
            </a:extLst>
          </p:cNvPr>
          <p:cNvSpPr/>
          <p:nvPr/>
        </p:nvSpPr>
        <p:spPr>
          <a:xfrm>
            <a:off x="381000" y="4826000"/>
            <a:ext cx="787400" cy="736600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950" b="1">
                <a:solidFill>
                  <a:srgbClr val="FFFFFF"/>
                </a:solidFill>
                <a:latin typeface="Arial" panose="020B0604020202020204" pitchFamily="34" charset="0"/>
              </a:rPr>
              <a:t>ACTION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74483EF-1348-5001-58A0-C94F1A781DA3}"/>
              </a:ext>
            </a:extLst>
          </p:cNvPr>
          <p:cNvSpPr/>
          <p:nvPr/>
        </p:nvSpPr>
        <p:spPr>
          <a:xfrm>
            <a:off x="1219200" y="4826000"/>
            <a:ext cx="5816600" cy="736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938D9F6-8476-EECA-E378-5F7AD6D77E4A}"/>
              </a:ext>
            </a:extLst>
          </p:cNvPr>
          <p:cNvSpPr/>
          <p:nvPr/>
        </p:nvSpPr>
        <p:spPr>
          <a:xfrm>
            <a:off x="1295400" y="4927600"/>
            <a:ext cx="105156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Incident + evidence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5876764-A733-3A4E-BC6F-4FD2333DA163}"/>
              </a:ext>
            </a:extLst>
          </p:cNvPr>
          <p:cNvCxnSpPr/>
          <p:nvPr/>
        </p:nvCxnSpPr>
        <p:spPr>
          <a:xfrm>
            <a:off x="2359660" y="5194300"/>
            <a:ext cx="76200" cy="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BE2703E7-ED83-197D-237D-891F7F7FF018}"/>
              </a:ext>
            </a:extLst>
          </p:cNvPr>
          <p:cNvSpPr/>
          <p:nvPr/>
        </p:nvSpPr>
        <p:spPr>
          <a:xfrm>
            <a:off x="2448560" y="4927600"/>
            <a:ext cx="105156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GP maintenance task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C661247-9BB0-9184-51C9-824038856111}"/>
              </a:ext>
            </a:extLst>
          </p:cNvPr>
          <p:cNvCxnSpPr/>
          <p:nvPr/>
        </p:nvCxnSpPr>
        <p:spPr>
          <a:xfrm>
            <a:off x="3512820" y="5194300"/>
            <a:ext cx="76200" cy="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AB56689-2FC7-E7D5-B937-BE9A24E0AAA4}"/>
              </a:ext>
            </a:extLst>
          </p:cNvPr>
          <p:cNvSpPr/>
          <p:nvPr/>
        </p:nvSpPr>
        <p:spPr>
          <a:xfrm>
            <a:off x="3601720" y="4927600"/>
            <a:ext cx="105156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Repair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78187BA-B532-C77D-89C7-E8E08BCF2E99}"/>
              </a:ext>
            </a:extLst>
          </p:cNvPr>
          <p:cNvCxnSpPr/>
          <p:nvPr/>
        </p:nvCxnSpPr>
        <p:spPr>
          <a:xfrm>
            <a:off x="4665980" y="5194300"/>
            <a:ext cx="76200" cy="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40C741A-E8EE-B1F3-84A0-BB20335FF137}"/>
              </a:ext>
            </a:extLst>
          </p:cNvPr>
          <p:cNvSpPr/>
          <p:nvPr/>
        </p:nvSpPr>
        <p:spPr>
          <a:xfrm>
            <a:off x="4754880" y="4927600"/>
            <a:ext cx="105156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Verification window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4B4CA6B-832C-08D6-451B-4C4AF4EC57D5}"/>
              </a:ext>
            </a:extLst>
          </p:cNvPr>
          <p:cNvCxnSpPr/>
          <p:nvPr/>
        </p:nvCxnSpPr>
        <p:spPr>
          <a:xfrm>
            <a:off x="5819140" y="5194300"/>
            <a:ext cx="76200" cy="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70A3B793-95EA-160A-1944-7C837638D8A4}"/>
              </a:ext>
            </a:extLst>
          </p:cNvPr>
          <p:cNvSpPr/>
          <p:nvPr/>
        </p:nvSpPr>
        <p:spPr>
          <a:xfrm>
            <a:off x="5908040" y="4927600"/>
            <a:ext cx="1051560" cy="53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>
                <a:solidFill>
                  <a:srgbClr val="1F2937"/>
                </a:solidFill>
                <a:latin typeface="Arial" panose="020B0604020202020204" pitchFamily="34" charset="0"/>
              </a:rPr>
              <a:t>Citizen notified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89C18B-FF53-807C-1AA3-92C74759B866}"/>
              </a:ext>
            </a:extLst>
          </p:cNvPr>
          <p:cNvSpPr txBox="1"/>
          <p:nvPr/>
        </p:nvSpPr>
        <p:spPr>
          <a:xfrm>
            <a:off x="381000" y="5740400"/>
            <a:ext cx="66548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850" b="1">
                <a:solidFill>
                  <a:srgbClr val="475569"/>
                </a:solidFill>
                <a:latin typeface="Arial" panose="020B0604020202020204" pitchFamily="34" charset="0"/>
              </a:rPr>
              <a:t>Build path: </a:t>
            </a:r>
            <a:r>
              <a:rPr lang="en-US" sz="850">
                <a:solidFill>
                  <a:srgbClr val="475569"/>
                </a:solidFill>
                <a:latin typeface="Arial" panose="020B0604020202020204" pitchFamily="34" charset="0"/>
              </a:rPr>
              <a:t>Google Stitch prototype → React PWA · sensor simulator → bench rig on the same ingest API · rules first, ML added as data grows</a:t>
            </a:r>
            <a:endParaRPr lang="en-IN" sz="850">
              <a:solidFill>
                <a:srgbClr val="475569"/>
              </a:solidFill>
              <a:latin typeface="Arial" panose="020B0604020202020204" pitchFamily="34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7C0FC08-13CE-83BD-4E19-D4CE0A37F50B}"/>
              </a:ext>
            </a:extLst>
          </p:cNvPr>
          <p:cNvSpPr/>
          <p:nvPr/>
        </p:nvSpPr>
        <p:spPr>
          <a:xfrm>
            <a:off x="7188200" y="1168400"/>
            <a:ext cx="4622800" cy="2235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E5E6DF-0F3F-8EC4-4105-B52B6B49B712}"/>
              </a:ext>
            </a:extLst>
          </p:cNvPr>
          <p:cNvSpPr txBox="1"/>
          <p:nvPr/>
        </p:nvSpPr>
        <p:spPr>
          <a:xfrm>
            <a:off x="7264400" y="1219200"/>
            <a:ext cx="4470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50" b="1">
                <a:solidFill>
                  <a:srgbClr val="0F766E"/>
                </a:solidFill>
                <a:latin typeface="Arial" panose="020B0604020202020204" pitchFamily="34" charset="0"/>
              </a:rPr>
              <a:t>Technologies to be used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E53A52-7E9C-BB96-8354-869B073173A2}"/>
              </a:ext>
            </a:extLst>
          </p:cNvPr>
          <p:cNvSpPr txBox="1"/>
          <p:nvPr/>
        </p:nvSpPr>
        <p:spPr>
          <a:xfrm>
            <a:off x="7264400" y="1397000"/>
            <a:ext cx="4470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IN" sz="900" b="1">
                <a:solidFill>
                  <a:srgbClr val="1F2937"/>
                </a:solidFill>
                <a:latin typeface="Arial" panose="020B0604020202020204" pitchFamily="34" charset="0"/>
              </a:rPr>
              <a:t>Hardware: </a:t>
            </a: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ESP32 + LoRa, hall-type flow ×2, pressure transducer ×2, ultrasonic level, CT pump-current sensor, Raspberry Pi gateway, solar + battery, IP65 enclosures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IN" sz="900" b="1">
                <a:solidFill>
                  <a:srgbClr val="1F2937"/>
                </a:solidFill>
                <a:latin typeface="Arial" panose="020B0604020202020204" pitchFamily="34" charset="0"/>
              </a:rPr>
              <a:t>Software: </a:t>
            </a: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React + Vite + Tailwind (mobile-first PWA), Leaflet + OpenStreetMap, Python FastAPI, SQLite → PostgreSQL/PostGIS, MQTT (Mosquitto)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IN" sz="900" b="1">
                <a:solidFill>
                  <a:srgbClr val="1F2937"/>
                </a:solidFill>
                <a:latin typeface="Arial" panose="020B0604020202020204" pitchFamily="34" charset="0"/>
              </a:rPr>
              <a:t>AI/ML: </a:t>
            </a: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Python, pandas, scikit-learn: rules, robust z-score, Isolation Forest trained on normal runs; explainable risk and fusion scores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IN" sz="900" b="1">
                <a:solidFill>
                  <a:srgbClr val="1F2937"/>
                </a:solidFill>
                <a:latin typeface="Arial" panose="020B0604020202020204" pitchFamily="34" charset="0"/>
              </a:rPr>
              <a:t>Image triage: </a:t>
            </a: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simulated in prototype; a vision model only after labelled-data evaluation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79A359B-A880-8A1D-BDA1-0FB218158415}"/>
              </a:ext>
            </a:extLst>
          </p:cNvPr>
          <p:cNvSpPr/>
          <p:nvPr/>
        </p:nvSpPr>
        <p:spPr>
          <a:xfrm>
            <a:off x="7188200" y="3479800"/>
            <a:ext cx="4622800" cy="2768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6E5674-BC2C-EB3E-83C2-579F56112A9B}"/>
              </a:ext>
            </a:extLst>
          </p:cNvPr>
          <p:cNvSpPr txBox="1"/>
          <p:nvPr/>
        </p:nvSpPr>
        <p:spPr>
          <a:xfrm>
            <a:off x="7264400" y="3530600"/>
            <a:ext cx="4470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50" b="1">
                <a:solidFill>
                  <a:srgbClr val="0F766E"/>
                </a:solidFill>
                <a:latin typeface="Arial" panose="020B0604020202020204" pitchFamily="34" charset="0"/>
              </a:rPr>
              <a:t>Methodology: clickable prototype (Google Stitch)</a:t>
            </a:r>
            <a:endParaRPr lang="en-IN" sz="115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pic>
        <p:nvPicPr>
          <p:cNvPr id="62" name="SCREEN_1">
            <a:extLst>
              <a:ext uri="{FF2B5EF4-FFF2-40B4-BE49-F238E27FC236}">
                <a16:creationId xmlns:a16="http://schemas.microsoft.com/office/drawing/2014/main" id="{D62D7FFE-01EA-4C87-5A49-460D31426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406" y="3733800"/>
            <a:ext cx="871988" cy="2260599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pic>
        <p:nvPicPr>
          <p:cNvPr id="17408" name="SCREEN_2">
            <a:extLst>
              <a:ext uri="{FF2B5EF4-FFF2-40B4-BE49-F238E27FC236}">
                <a16:creationId xmlns:a16="http://schemas.microsoft.com/office/drawing/2014/main" id="{F345C804-B5BA-8563-4C88-4EA5DD4CA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5200" y="4086301"/>
            <a:ext cx="1549400" cy="1555598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pic>
        <p:nvPicPr>
          <p:cNvPr id="17412" name="SCREEN_3">
            <a:extLst>
              <a:ext uri="{FF2B5EF4-FFF2-40B4-BE49-F238E27FC236}">
                <a16:creationId xmlns:a16="http://schemas.microsoft.com/office/drawing/2014/main" id="{FB29D717-3C96-6590-C337-4E9510B76E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800" y="4015368"/>
            <a:ext cx="1524000" cy="1697463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17413" name="TextBox 17412">
            <a:extLst>
              <a:ext uri="{FF2B5EF4-FFF2-40B4-BE49-F238E27FC236}">
                <a16:creationId xmlns:a16="http://schemas.microsoft.com/office/drawing/2014/main" id="{4342448B-B832-8944-8117-A63388F1B51B}"/>
              </a:ext>
            </a:extLst>
          </p:cNvPr>
          <p:cNvSpPr txBox="1"/>
          <p:nvPr/>
        </p:nvSpPr>
        <p:spPr>
          <a:xfrm>
            <a:off x="7264400" y="6019800"/>
            <a:ext cx="4470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800" i="1">
                <a:solidFill>
                  <a:srgbClr val="475569"/>
                </a:solidFill>
                <a:latin typeface="Arial" panose="020B0604020202020204" pitchFamily="34" charset="0"/>
              </a:rPr>
              <a:t>Prototype screens use simulated data · link in reference [11]</a:t>
            </a:r>
            <a:endParaRPr lang="en-IN" sz="800" i="1">
              <a:solidFill>
                <a:srgbClr val="47556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/>
              <a:t>Team Vistaar</a:t>
            </a:r>
            <a:endParaRPr lang="en-IN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0AF7DC9-8634-F183-2C50-F9E33EA5AE3A}"/>
              </a:ext>
            </a:extLst>
          </p:cNvPr>
          <p:cNvSpPr/>
          <p:nvPr/>
        </p:nvSpPr>
        <p:spPr>
          <a:xfrm>
            <a:off x="381000" y="1168400"/>
            <a:ext cx="5334000" cy="508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E0CEDE-B317-A62E-11BC-E2D8FC60B552}"/>
              </a:ext>
            </a:extLst>
          </p:cNvPr>
          <p:cNvSpPr txBox="1"/>
          <p:nvPr/>
        </p:nvSpPr>
        <p:spPr>
          <a:xfrm>
            <a:off x="457200" y="1219200"/>
            <a:ext cx="51816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50" b="1">
                <a:solidFill>
                  <a:srgbClr val="0F766E"/>
                </a:solidFill>
                <a:latin typeface="Arial" panose="020B0604020202020204" pitchFamily="34" charset="0"/>
              </a:rPr>
              <a:t>Worked example: Pipeline P-21 (illustrative, simulated data)</a:t>
            </a:r>
            <a:endParaRPr lang="en-IN" sz="115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884D02-2BAA-2353-7CF2-2223DB3BB6FC}"/>
              </a:ext>
            </a:extLst>
          </p:cNvPr>
          <p:cNvSpPr txBox="1"/>
          <p:nvPr/>
        </p:nvSpPr>
        <p:spPr>
          <a:xfrm>
            <a:off x="457200" y="1422400"/>
            <a:ext cx="51816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900">
                <a:solidFill>
                  <a:srgbClr val="1F2937"/>
                </a:solidFill>
                <a:latin typeface="Arial" panose="020B0604020202020204" pitchFamily="34" charset="0"/>
              </a:rPr>
              <a:t>North Area · iron (record) · 17 years underground (record) · 3 past repairs · corrosion 67/100 (visual inspection of an exposed section)</a:t>
            </a:r>
            <a:endParaRPr lang="en-IN" sz="90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769C90-B129-1BB2-93B9-00E72E92785B}"/>
              </a:ext>
            </a:extLst>
          </p:cNvPr>
          <p:cNvSpPr txBox="1"/>
          <p:nvPr/>
        </p:nvSpPr>
        <p:spPr>
          <a:xfrm>
            <a:off x="457200" y="1879600"/>
            <a:ext cx="1524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>
                <a:solidFill>
                  <a:srgbClr val="1F2937"/>
                </a:solidFill>
                <a:latin typeface="Arial" panose="020B0604020202020204" pitchFamily="34" charset="0"/>
              </a:rPr>
              <a:t>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260250-0339-BB06-C29A-AD3300E13AB7}"/>
              </a:ext>
            </a:extLst>
          </p:cNvPr>
          <p:cNvSpPr/>
          <p:nvPr/>
        </p:nvSpPr>
        <p:spPr>
          <a:xfrm>
            <a:off x="2032000" y="1905000"/>
            <a:ext cx="2540000" cy="127000"/>
          </a:xfrm>
          <a:prstGeom prst="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E2F057-77D4-5BB4-CA63-F5AC454C017F}"/>
              </a:ext>
            </a:extLst>
          </p:cNvPr>
          <p:cNvSpPr/>
          <p:nvPr/>
        </p:nvSpPr>
        <p:spPr>
          <a:xfrm>
            <a:off x="2032000" y="1905000"/>
            <a:ext cx="2032000" cy="127000"/>
          </a:xfrm>
          <a:prstGeom prst="rect">
            <a:avLst/>
          </a:prstGeom>
          <a:solidFill>
            <a:srgbClr val="0F766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C5DA3B-02E2-2F6F-E9E1-DD4CF379D7DB}"/>
              </a:ext>
            </a:extLst>
          </p:cNvPr>
          <p:cNvSpPr txBox="1"/>
          <p:nvPr/>
        </p:nvSpPr>
        <p:spPr>
          <a:xfrm>
            <a:off x="4622800" y="1879600"/>
            <a:ext cx="889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>
                <a:solidFill>
                  <a:srgbClr val="475569"/>
                </a:solidFill>
                <a:latin typeface="Arial" panose="020B0604020202020204" pitchFamily="34" charset="0"/>
              </a:rPr>
              <a:t>20 / 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8CD9CB-F1F7-EC0A-FDD3-833EE9D897C5}"/>
              </a:ext>
            </a:extLst>
          </p:cNvPr>
          <p:cNvSpPr txBox="1"/>
          <p:nvPr/>
        </p:nvSpPr>
        <p:spPr>
          <a:xfrm>
            <a:off x="457200" y="2095500"/>
            <a:ext cx="1524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>
                <a:solidFill>
                  <a:srgbClr val="1F2937"/>
                </a:solidFill>
                <a:latin typeface="Arial" panose="020B0604020202020204" pitchFamily="34" charset="0"/>
              </a:rPr>
              <a:t>Prior failures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3F7F1C-3412-8755-CD84-A70220F10FB3}"/>
              </a:ext>
            </a:extLst>
          </p:cNvPr>
          <p:cNvSpPr/>
          <p:nvPr/>
        </p:nvSpPr>
        <p:spPr>
          <a:xfrm>
            <a:off x="2032000" y="2120900"/>
            <a:ext cx="2540000" cy="127000"/>
          </a:xfrm>
          <a:prstGeom prst="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AA3452-3101-13EB-76C8-F52BBF04C471}"/>
              </a:ext>
            </a:extLst>
          </p:cNvPr>
          <p:cNvSpPr/>
          <p:nvPr/>
        </p:nvSpPr>
        <p:spPr>
          <a:xfrm>
            <a:off x="2032000" y="2120900"/>
            <a:ext cx="2032000" cy="127000"/>
          </a:xfrm>
          <a:prstGeom prst="rect">
            <a:avLst/>
          </a:prstGeom>
          <a:solidFill>
            <a:srgbClr val="0F766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B9620A-7605-9AE8-ABC2-D4B82D47507D}"/>
              </a:ext>
            </a:extLst>
          </p:cNvPr>
          <p:cNvSpPr txBox="1"/>
          <p:nvPr/>
        </p:nvSpPr>
        <p:spPr>
          <a:xfrm>
            <a:off x="4622800" y="2095500"/>
            <a:ext cx="889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>
                <a:solidFill>
                  <a:srgbClr val="475569"/>
                </a:solidFill>
                <a:latin typeface="Arial" panose="020B0604020202020204" pitchFamily="34" charset="0"/>
              </a:rPr>
              <a:t>20 / 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3D9B91-B623-91E8-0E60-7966B29E5BAD}"/>
              </a:ext>
            </a:extLst>
          </p:cNvPr>
          <p:cNvSpPr txBox="1"/>
          <p:nvPr/>
        </p:nvSpPr>
        <p:spPr>
          <a:xfrm>
            <a:off x="457200" y="2311400"/>
            <a:ext cx="1524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>
                <a:solidFill>
                  <a:srgbClr val="1F2937"/>
                </a:solidFill>
                <a:latin typeface="Arial" panose="020B0604020202020204" pitchFamily="34" charset="0"/>
              </a:rPr>
              <a:t>Corrosion observation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19B797-742D-A804-0D56-73348CF70C43}"/>
              </a:ext>
            </a:extLst>
          </p:cNvPr>
          <p:cNvSpPr/>
          <p:nvPr/>
        </p:nvSpPr>
        <p:spPr>
          <a:xfrm>
            <a:off x="2032000" y="2336800"/>
            <a:ext cx="2540000" cy="127000"/>
          </a:xfrm>
          <a:prstGeom prst="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985816-86B9-8086-860D-E7AF59814219}"/>
              </a:ext>
            </a:extLst>
          </p:cNvPr>
          <p:cNvSpPr/>
          <p:nvPr/>
        </p:nvSpPr>
        <p:spPr>
          <a:xfrm>
            <a:off x="2032000" y="2336800"/>
            <a:ext cx="1219200" cy="127000"/>
          </a:xfrm>
          <a:prstGeom prst="rect">
            <a:avLst/>
          </a:prstGeom>
          <a:solidFill>
            <a:srgbClr val="0F766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89E7B8-6AA0-4FBE-96C5-877B32751432}"/>
              </a:ext>
            </a:extLst>
          </p:cNvPr>
          <p:cNvSpPr txBox="1"/>
          <p:nvPr/>
        </p:nvSpPr>
        <p:spPr>
          <a:xfrm>
            <a:off x="4622800" y="2311400"/>
            <a:ext cx="889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>
                <a:solidFill>
                  <a:srgbClr val="475569"/>
                </a:solidFill>
                <a:latin typeface="Arial" panose="020B0604020202020204" pitchFamily="34" charset="0"/>
              </a:rPr>
              <a:t>12 / 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B73E5F-9B9B-C317-BAA7-37C1E051A80A}"/>
              </a:ext>
            </a:extLst>
          </p:cNvPr>
          <p:cNvSpPr txBox="1"/>
          <p:nvPr/>
        </p:nvSpPr>
        <p:spPr>
          <a:xfrm>
            <a:off x="457200" y="2527300"/>
            <a:ext cx="1524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>
                <a:solidFill>
                  <a:srgbClr val="1F2937"/>
                </a:solidFill>
                <a:latin typeface="Arial" panose="020B0604020202020204" pitchFamily="34" charset="0"/>
              </a:rPr>
              <a:t>Pressure-per-flow trend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B7B6A0-7947-98E5-B643-6FCCA56ABD11}"/>
              </a:ext>
            </a:extLst>
          </p:cNvPr>
          <p:cNvSpPr/>
          <p:nvPr/>
        </p:nvSpPr>
        <p:spPr>
          <a:xfrm>
            <a:off x="2032000" y="2552700"/>
            <a:ext cx="2540000" cy="127000"/>
          </a:xfrm>
          <a:prstGeom prst="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D24C04-AB0D-4D16-6163-1276DF890672}"/>
              </a:ext>
            </a:extLst>
          </p:cNvPr>
          <p:cNvSpPr/>
          <p:nvPr/>
        </p:nvSpPr>
        <p:spPr>
          <a:xfrm>
            <a:off x="2032000" y="2552700"/>
            <a:ext cx="1219200" cy="127000"/>
          </a:xfrm>
          <a:prstGeom prst="rect">
            <a:avLst/>
          </a:prstGeom>
          <a:solidFill>
            <a:srgbClr val="0F766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4E21C1-5E77-518D-8394-8DB8A3B20424}"/>
              </a:ext>
            </a:extLst>
          </p:cNvPr>
          <p:cNvSpPr txBox="1"/>
          <p:nvPr/>
        </p:nvSpPr>
        <p:spPr>
          <a:xfrm>
            <a:off x="4622800" y="2527300"/>
            <a:ext cx="889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>
                <a:solidFill>
                  <a:srgbClr val="475569"/>
                </a:solidFill>
                <a:latin typeface="Arial" panose="020B0604020202020204" pitchFamily="34" charset="0"/>
              </a:rPr>
              <a:t>12 / 20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BE3B22-9101-410B-8BD5-9F37C325D20E}"/>
              </a:ext>
            </a:extLst>
          </p:cNvPr>
          <p:cNvSpPr txBox="1"/>
          <p:nvPr/>
        </p:nvSpPr>
        <p:spPr>
          <a:xfrm>
            <a:off x="457200" y="2743200"/>
            <a:ext cx="1524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>
                <a:solidFill>
                  <a:srgbClr val="1F2937"/>
                </a:solidFill>
                <a:latin typeface="Arial" panose="020B0604020202020204" pitchFamily="34" charset="0"/>
              </a:rPr>
              <a:t>Material susceptibility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BBA747-DFFD-D13F-293B-30B5BBE9DBBC}"/>
              </a:ext>
            </a:extLst>
          </p:cNvPr>
          <p:cNvSpPr/>
          <p:nvPr/>
        </p:nvSpPr>
        <p:spPr>
          <a:xfrm>
            <a:off x="2032000" y="2768600"/>
            <a:ext cx="2540000" cy="127000"/>
          </a:xfrm>
          <a:prstGeom prst="rect">
            <a:avLst/>
          </a:prstGeom>
          <a:solidFill>
            <a:srgbClr val="E2E8F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A1FD9FF-7619-3664-C7CB-A16F772F50C8}"/>
              </a:ext>
            </a:extLst>
          </p:cNvPr>
          <p:cNvSpPr/>
          <p:nvPr/>
        </p:nvSpPr>
        <p:spPr>
          <a:xfrm>
            <a:off x="2032000" y="2768600"/>
            <a:ext cx="812800" cy="127000"/>
          </a:xfrm>
          <a:prstGeom prst="rect">
            <a:avLst/>
          </a:prstGeom>
          <a:solidFill>
            <a:srgbClr val="0F766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A7B18A-EE34-3EA5-81A0-BD36FD1F4DE0}"/>
              </a:ext>
            </a:extLst>
          </p:cNvPr>
          <p:cNvSpPr txBox="1"/>
          <p:nvPr/>
        </p:nvSpPr>
        <p:spPr>
          <a:xfrm>
            <a:off x="4622800" y="2743200"/>
            <a:ext cx="889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>
                <a:solidFill>
                  <a:srgbClr val="475569"/>
                </a:solidFill>
                <a:latin typeface="Arial" panose="020B0604020202020204" pitchFamily="34" charset="0"/>
              </a:rPr>
              <a:t>8 / 10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A6A45B6-CA28-6CA6-E4E6-39D27443614E}"/>
              </a:ext>
            </a:extLst>
          </p:cNvPr>
          <p:cNvSpPr/>
          <p:nvPr/>
        </p:nvSpPr>
        <p:spPr>
          <a:xfrm>
            <a:off x="457200" y="2984500"/>
            <a:ext cx="2921000" cy="2540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00" b="1">
                <a:solidFill>
                  <a:srgbClr val="B45309"/>
                </a:solidFill>
                <a:latin typeface="Arial" panose="020B0604020202020204" pitchFamily="34" charset="0"/>
              </a:rPr>
              <a:t>Risk score 72 / 100 · HIGH · Inspect soon</a:t>
            </a:r>
            <a:endParaRPr lang="en-IN" sz="900" b="1">
              <a:solidFill>
                <a:srgbClr val="B45309"/>
              </a:solidFill>
              <a:latin typeface="Arial" panose="020B0604020202020204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42206B1-9532-FE5E-2AFC-304D790419AE}"/>
              </a:ext>
            </a:extLst>
          </p:cNvPr>
          <p:cNvSpPr/>
          <p:nvPr/>
        </p:nvSpPr>
        <p:spPr>
          <a:xfrm>
            <a:off x="584200" y="3340100"/>
            <a:ext cx="4927600" cy="3810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50">
                <a:solidFill>
                  <a:srgbClr val="1F2937"/>
                </a:solidFill>
                <a:latin typeface="Arial" panose="020B0604020202020204" pitchFamily="34" charset="0"/>
              </a:rPr>
              <a:t>Complaint #2048: "Low water" + photo</a:t>
            </a:r>
            <a:endParaRPr lang="en-IN" sz="9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11C524F-69C9-A18D-8833-60784A03543A}"/>
              </a:ext>
            </a:extLst>
          </p:cNvPr>
          <p:cNvCxnSpPr/>
          <p:nvPr/>
        </p:nvCxnSpPr>
        <p:spPr>
          <a:xfrm>
            <a:off x="3048000" y="3721100"/>
            <a:ext cx="0" cy="10160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DE4319B-8D50-E631-E7A8-464254971E78}"/>
              </a:ext>
            </a:extLst>
          </p:cNvPr>
          <p:cNvSpPr/>
          <p:nvPr/>
        </p:nvSpPr>
        <p:spPr>
          <a:xfrm>
            <a:off x="584200" y="3822700"/>
            <a:ext cx="4927600" cy="3810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50">
                <a:solidFill>
                  <a:srgbClr val="1F2937"/>
                </a:solidFill>
                <a:latin typeface="Arial" panose="020B0604020202020204" pitchFamily="34" charset="0"/>
              </a:rPr>
              <a:t>Simulated image check: "possible visible leak – inspection recommended"</a:t>
            </a:r>
            <a:endParaRPr lang="en-IN" sz="9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594FF97-1E0A-A1AF-7C1F-07191408B8B3}"/>
              </a:ext>
            </a:extLst>
          </p:cNvPr>
          <p:cNvCxnSpPr/>
          <p:nvPr/>
        </p:nvCxnSpPr>
        <p:spPr>
          <a:xfrm>
            <a:off x="3048000" y="4203700"/>
            <a:ext cx="0" cy="10160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0BDB819-7757-B959-0B57-FA0ED836FA81}"/>
              </a:ext>
            </a:extLst>
          </p:cNvPr>
          <p:cNvSpPr/>
          <p:nvPr/>
        </p:nvSpPr>
        <p:spPr>
          <a:xfrm>
            <a:off x="584200" y="4305300"/>
            <a:ext cx="4927600" cy="3810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50">
                <a:solidFill>
                  <a:srgbClr val="1F2937"/>
                </a:solidFill>
                <a:latin typeface="Arial" panose="020B0604020202020204" pitchFamily="34" charset="0"/>
              </a:rPr>
              <a:t>Fused with tail pressure −41% for 25 min + 2 nearby complaints → HIGH incident</a:t>
            </a:r>
            <a:endParaRPr lang="en-IN" sz="9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733B803-BAF1-C7D5-0880-737F07D57D25}"/>
              </a:ext>
            </a:extLst>
          </p:cNvPr>
          <p:cNvCxnSpPr/>
          <p:nvPr/>
        </p:nvCxnSpPr>
        <p:spPr>
          <a:xfrm>
            <a:off x="3048000" y="4686300"/>
            <a:ext cx="0" cy="10160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AA04477-F9C5-22F6-DF79-E28F36E9A5A9}"/>
              </a:ext>
            </a:extLst>
          </p:cNvPr>
          <p:cNvSpPr/>
          <p:nvPr/>
        </p:nvSpPr>
        <p:spPr>
          <a:xfrm>
            <a:off x="584200" y="4787900"/>
            <a:ext cx="4927600" cy="3810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50">
                <a:solidFill>
                  <a:srgbClr val="1F2937"/>
                </a:solidFill>
                <a:latin typeface="Arial" panose="020B0604020202020204" pitchFamily="34" charset="0"/>
              </a:rPr>
              <a:t>GP assigns maintenance task → repair logged with photo</a:t>
            </a:r>
            <a:endParaRPr lang="en-IN" sz="9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4574DC8-4658-5AC0-DAE5-1F7890F84EF6}"/>
              </a:ext>
            </a:extLst>
          </p:cNvPr>
          <p:cNvCxnSpPr/>
          <p:nvPr/>
        </p:nvCxnSpPr>
        <p:spPr>
          <a:xfrm>
            <a:off x="3048000" y="5168900"/>
            <a:ext cx="0" cy="10160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1D53206-22EA-C49C-609F-F9A40E253821}"/>
              </a:ext>
            </a:extLst>
          </p:cNvPr>
          <p:cNvSpPr/>
          <p:nvPr/>
        </p:nvSpPr>
        <p:spPr>
          <a:xfrm>
            <a:off x="584200" y="5270500"/>
            <a:ext cx="4927600" cy="3810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950">
                <a:solidFill>
                  <a:srgbClr val="1F2937"/>
                </a:solidFill>
                <a:latin typeface="Arial" panose="020B0604020202020204" pitchFamily="34" charset="0"/>
              </a:rPr>
              <a:t>Readings normal for 2 supply windows → Verified Restored → villager notified</a:t>
            </a:r>
            <a:endParaRPr lang="en-IN" sz="9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6B0245-B37E-FC59-F306-5FC8D856F977}"/>
              </a:ext>
            </a:extLst>
          </p:cNvPr>
          <p:cNvSpPr txBox="1"/>
          <p:nvPr/>
        </p:nvSpPr>
        <p:spPr>
          <a:xfrm>
            <a:off x="457200" y="5702300"/>
            <a:ext cx="5181600" cy="381000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800" i="1">
                <a:solidFill>
                  <a:srgbClr val="475569"/>
                </a:solidFill>
                <a:latin typeface="Arial" panose="020B0604020202020204" pitchFamily="34" charset="0"/>
              </a:rPr>
              <a:t>The risk score ranks inspection priority; it is not a failure probability. A photo cannot show buried-pipe condition.</a:t>
            </a:r>
            <a:endParaRPr lang="en-IN" sz="800" i="1">
              <a:solidFill>
                <a:srgbClr val="475569"/>
              </a:solidFill>
              <a:latin typeface="Arial" panose="020B0604020202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5EE22CB-9B66-E7CD-2D16-84FCE0531CF9}"/>
              </a:ext>
            </a:extLst>
          </p:cNvPr>
          <p:cNvSpPr/>
          <p:nvPr/>
        </p:nvSpPr>
        <p:spPr>
          <a:xfrm>
            <a:off x="5867400" y="1168400"/>
            <a:ext cx="5943600" cy="1244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AE138B-55E4-6478-1F64-51DF157282E6}"/>
              </a:ext>
            </a:extLst>
          </p:cNvPr>
          <p:cNvSpPr txBox="1"/>
          <p:nvPr/>
        </p:nvSpPr>
        <p:spPr>
          <a:xfrm>
            <a:off x="5943600" y="1219200"/>
            <a:ext cx="57912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50" b="1">
                <a:solidFill>
                  <a:srgbClr val="0F766E"/>
                </a:solidFill>
                <a:latin typeface="Arial" panose="020B0604020202020204" pitchFamily="34" charset="0"/>
              </a:rPr>
              <a:t>Analysis of the feasibility of the idea</a:t>
            </a:r>
            <a:endParaRPr lang="en-IN" sz="115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595ADE-F0E0-E346-EC41-4F589E48F43A}"/>
              </a:ext>
            </a:extLst>
          </p:cNvPr>
          <p:cNvSpPr txBox="1"/>
          <p:nvPr/>
        </p:nvSpPr>
        <p:spPr>
          <a:xfrm>
            <a:off x="5943600" y="1397000"/>
            <a:ext cx="57912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US" sz="1000">
                <a:solidFill>
                  <a:srgbClr val="1F2937"/>
                </a:solidFill>
                <a:latin typeface="Arial" panose="020B0604020202020204" pitchFamily="34" charset="0"/>
              </a:rPr>
              <a:t>Commodity, student-buildable hardware; open-source software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US" sz="1000">
                <a:solidFill>
                  <a:srgbClr val="1F2937"/>
                </a:solidFill>
                <a:latin typeface="Arial" panose="020B0604020202020204" pitchFamily="34" charset="0"/>
              </a:rPr>
              <a:t>Works from day one with rules; ML added as real data accumulates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US" sz="1000">
                <a:solidFill>
                  <a:srgbClr val="1F2937"/>
                </a:solidFill>
                <a:latin typeface="Arial" panose="020B0604020202020204" pitchFamily="34" charset="0"/>
              </a:rPr>
              <a:t>A few nodes per scheme + citizens as observers: far cheaper than per-house meters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US" sz="1000">
                <a:solidFill>
                  <a:srgbClr val="1F2937"/>
                </a:solidFill>
                <a:latin typeface="Arial" panose="020B0604020202020204" pitchFamily="34" charset="0"/>
              </a:rPr>
              <a:t>JJM pilots already ran off-grid (solar + battery) sensor monitoring with RF + cellular links [7]</a:t>
            </a:r>
            <a:endParaRPr lang="en-IN" sz="100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80973A8-74F8-0031-BA20-370E86368655}"/>
              </a:ext>
            </a:extLst>
          </p:cNvPr>
          <p:cNvSpPr/>
          <p:nvPr/>
        </p:nvSpPr>
        <p:spPr>
          <a:xfrm>
            <a:off x="5867400" y="2489200"/>
            <a:ext cx="5943600" cy="2260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CFAD66-DE27-E6D5-FD84-B5F77537C695}"/>
              </a:ext>
            </a:extLst>
          </p:cNvPr>
          <p:cNvSpPr txBox="1"/>
          <p:nvPr/>
        </p:nvSpPr>
        <p:spPr>
          <a:xfrm>
            <a:off x="5943600" y="2540000"/>
            <a:ext cx="57912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50" b="1">
                <a:solidFill>
                  <a:srgbClr val="0F766E"/>
                </a:solidFill>
                <a:latin typeface="Arial" panose="020B0604020202020204" pitchFamily="34" charset="0"/>
              </a:rPr>
              <a:t>Potential challenges and risks → Strategies for overcoming these challenges</a:t>
            </a:r>
            <a:endParaRPr lang="en-IN" sz="115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EDDF3A-2B36-F2D2-663C-6B631E8E6A52}"/>
              </a:ext>
            </a:extLst>
          </p:cNvPr>
          <p:cNvSpPr txBox="1"/>
          <p:nvPr/>
        </p:nvSpPr>
        <p:spPr>
          <a:xfrm>
            <a:off x="5943600" y="2743200"/>
            <a:ext cx="1651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 b="1">
                <a:solidFill>
                  <a:srgbClr val="B91C1C"/>
                </a:solidFill>
                <a:latin typeface="Arial" panose="020B0604020202020204" pitchFamily="34" charset="0"/>
              </a:rPr>
              <a:t>False alarms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8E641D-CE25-F7BD-03BE-0A681A759C13}"/>
              </a:ext>
            </a:extLst>
          </p:cNvPr>
          <p:cNvSpPr txBox="1"/>
          <p:nvPr/>
        </p:nvSpPr>
        <p:spPr>
          <a:xfrm>
            <a:off x="7594600" y="2743200"/>
            <a:ext cx="41656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850">
                <a:solidFill>
                  <a:srgbClr val="1F2937"/>
                </a:solidFill>
                <a:latin typeface="Arial" panose="020B0604020202020204" pitchFamily="34" charset="0"/>
              </a:rPr>
              <a:t>Persistence windows, schedule-aware rules; HIGH needs ≥ 2 evidence types</a:t>
            </a:r>
            <a:endParaRPr lang="en-IN" sz="8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B960D5-4B80-D6E8-28DA-03EA9EED1D5D}"/>
              </a:ext>
            </a:extLst>
          </p:cNvPr>
          <p:cNvSpPr txBox="1"/>
          <p:nvPr/>
        </p:nvSpPr>
        <p:spPr>
          <a:xfrm>
            <a:off x="5943600" y="3022600"/>
            <a:ext cx="1651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 b="1">
                <a:solidFill>
                  <a:srgbClr val="B91C1C"/>
                </a:solidFill>
                <a:latin typeface="Arial" panose="020B0604020202020204" pitchFamily="34" charset="0"/>
              </a:rPr>
              <a:t>Sensor fault or drift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39980F-5A64-16E2-E882-5231EBC3B998}"/>
              </a:ext>
            </a:extLst>
          </p:cNvPr>
          <p:cNvSpPr txBox="1"/>
          <p:nvPr/>
        </p:nvSpPr>
        <p:spPr>
          <a:xfrm>
            <a:off x="7594600" y="3022600"/>
            <a:ext cx="41656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850">
                <a:solidFill>
                  <a:srgbClr val="1F2937"/>
                </a:solidFill>
                <a:latin typeface="Arial" panose="020B0604020202020204" pitchFamily="34" charset="0"/>
              </a:rPr>
              <a:t>Heartbeat, stuck/out-of-range checks; "node offline" ≠ "no water"</a:t>
            </a:r>
            <a:endParaRPr lang="en-IN" sz="8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7925879-07CE-8A71-D45B-0197920E112F}"/>
              </a:ext>
            </a:extLst>
          </p:cNvPr>
          <p:cNvSpPr txBox="1"/>
          <p:nvPr/>
        </p:nvSpPr>
        <p:spPr>
          <a:xfrm>
            <a:off x="5943600" y="3302000"/>
            <a:ext cx="1651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 b="1">
                <a:solidFill>
                  <a:srgbClr val="B91C1C"/>
                </a:solidFill>
                <a:latin typeface="Arial" panose="020B0604020202020204" pitchFamily="34" charset="0"/>
              </a:rPr>
              <a:t>Low-cost sensor accuracy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E91CD5-10DA-11FB-08BE-404E2CCD27F0}"/>
              </a:ext>
            </a:extLst>
          </p:cNvPr>
          <p:cNvSpPr txBox="1"/>
          <p:nvPr/>
        </p:nvSpPr>
        <p:spPr>
          <a:xfrm>
            <a:off x="7594600" y="3302000"/>
            <a:ext cx="41656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850">
                <a:solidFill>
                  <a:srgbClr val="1F2937"/>
                </a:solidFill>
                <a:latin typeface="Arial" panose="020B0604020202020204" pitchFamily="34" charset="0"/>
              </a:rPr>
              <a:t>Bench calibration; deployment-grade EM flow, 4–20 mA pressure</a:t>
            </a:r>
            <a:endParaRPr lang="en-IN" sz="8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8A8939-55D7-0C17-1921-030B284D0C57}"/>
              </a:ext>
            </a:extLst>
          </p:cNvPr>
          <p:cNvSpPr txBox="1"/>
          <p:nvPr/>
        </p:nvSpPr>
        <p:spPr>
          <a:xfrm>
            <a:off x="5943600" y="3581400"/>
            <a:ext cx="1651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 b="1">
                <a:solidFill>
                  <a:srgbClr val="B91C1C"/>
                </a:solidFill>
                <a:latin typeface="Arial" panose="020B0604020202020204" pitchFamily="34" charset="0"/>
              </a:rPr>
              <a:t>Water-quality limits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44B9B9-14F0-1861-1F53-CE4A55CB0617}"/>
              </a:ext>
            </a:extLst>
          </p:cNvPr>
          <p:cNvSpPr txBox="1"/>
          <p:nvPr/>
        </p:nvSpPr>
        <p:spPr>
          <a:xfrm>
            <a:off x="7594600" y="3581400"/>
            <a:ext cx="41656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850">
                <a:solidFill>
                  <a:srgbClr val="1F2937"/>
                </a:solidFill>
                <a:latin typeface="Arial" panose="020B0604020202020204" pitchFamily="34" charset="0"/>
              </a:rPr>
              <a:t>pH / TDS / turbidity are indicators only → FTK / lab confirmation</a:t>
            </a:r>
            <a:endParaRPr lang="en-IN" sz="8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D2D399-C68D-5CC3-B310-4F1870622805}"/>
              </a:ext>
            </a:extLst>
          </p:cNvPr>
          <p:cNvSpPr txBox="1"/>
          <p:nvPr/>
        </p:nvSpPr>
        <p:spPr>
          <a:xfrm>
            <a:off x="5943600" y="3860800"/>
            <a:ext cx="1651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 b="1">
                <a:solidFill>
                  <a:srgbClr val="B91C1C"/>
                </a:solidFill>
                <a:latin typeface="Arial" panose="020B0604020202020204" pitchFamily="34" charset="0"/>
              </a:rPr>
              <a:t>Rural connectivity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8BBC61-A9A0-9252-AB68-14FBCBCA1023}"/>
              </a:ext>
            </a:extLst>
          </p:cNvPr>
          <p:cNvSpPr txBox="1"/>
          <p:nvPr/>
        </p:nvSpPr>
        <p:spPr>
          <a:xfrm>
            <a:off x="7594600" y="3860800"/>
            <a:ext cx="41656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850">
                <a:solidFill>
                  <a:srgbClr val="1F2937"/>
                </a:solidFill>
                <a:latin typeface="Arial" panose="020B0604020202020204" pitchFamily="34" charset="0"/>
              </a:rPr>
              <a:t>Gateway store-and-forward; replay when the network returns</a:t>
            </a:r>
            <a:endParaRPr lang="en-IN" sz="8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7CDDF8-8E1A-D5B3-52B3-D8CFD5F9413C}"/>
              </a:ext>
            </a:extLst>
          </p:cNvPr>
          <p:cNvSpPr txBox="1"/>
          <p:nvPr/>
        </p:nvSpPr>
        <p:spPr>
          <a:xfrm>
            <a:off x="5943600" y="4140200"/>
            <a:ext cx="1651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 b="1">
                <a:solidFill>
                  <a:srgbClr val="B91C1C"/>
                </a:solidFill>
                <a:latin typeface="Arial" panose="020B0604020202020204" pitchFamily="34" charset="0"/>
              </a:rPr>
              <a:t>Citizen privacy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D861A8-5C8C-35AE-076B-F0E00FBAC49B}"/>
              </a:ext>
            </a:extLst>
          </p:cNvPr>
          <p:cNvSpPr txBox="1"/>
          <p:nvPr/>
        </p:nvSpPr>
        <p:spPr>
          <a:xfrm>
            <a:off x="7594600" y="4140200"/>
            <a:ext cx="41656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>
                <a:solidFill>
                  <a:srgbClr val="1F2937"/>
                </a:solidFill>
                <a:latin typeface="Arial" panose="020B0604020202020204" pitchFamily="34" charset="0"/>
              </a:rPr>
              <a:t>Coarse location, role-based photo access, audit log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E37F27-A4BF-7871-18AF-9736B362DF1B}"/>
              </a:ext>
            </a:extLst>
          </p:cNvPr>
          <p:cNvSpPr txBox="1"/>
          <p:nvPr/>
        </p:nvSpPr>
        <p:spPr>
          <a:xfrm>
            <a:off x="5943600" y="4419600"/>
            <a:ext cx="1651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 b="1">
                <a:solidFill>
                  <a:srgbClr val="B91C1C"/>
                </a:solidFill>
                <a:latin typeface="Arial" panose="020B0604020202020204" pitchFamily="34" charset="0"/>
              </a:rPr>
              <a:t>Government integration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238662-7E74-482C-A799-B68B27B8F00E}"/>
              </a:ext>
            </a:extLst>
          </p:cNvPr>
          <p:cNvSpPr txBox="1"/>
          <p:nvPr/>
        </p:nvSpPr>
        <p:spPr>
          <a:xfrm>
            <a:off x="7594600" y="4419600"/>
            <a:ext cx="41656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850">
                <a:solidFill>
                  <a:srgbClr val="1F2937"/>
                </a:solidFill>
                <a:latin typeface="Arial" panose="020B0604020202020204" pitchFamily="34" charset="0"/>
              </a:rPr>
              <a:t>Mock IDs + adapter; live IMIS / Sujalam Bharat sync needs authorisation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50D57C3F-8AB7-5CC3-A137-9C47961B0223}"/>
              </a:ext>
            </a:extLst>
          </p:cNvPr>
          <p:cNvSpPr/>
          <p:nvPr/>
        </p:nvSpPr>
        <p:spPr>
          <a:xfrm>
            <a:off x="5867400" y="4826000"/>
            <a:ext cx="5943600" cy="1422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223273-9331-76C5-EE6E-B5EE25E12040}"/>
              </a:ext>
            </a:extLst>
          </p:cNvPr>
          <p:cNvSpPr txBox="1"/>
          <p:nvPr/>
        </p:nvSpPr>
        <p:spPr>
          <a:xfrm>
            <a:off x="5943600" y="4876800"/>
            <a:ext cx="57912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50" b="1">
                <a:solidFill>
                  <a:srgbClr val="0F766E"/>
                </a:solidFill>
                <a:latin typeface="Arial" panose="020B0604020202020204" pitchFamily="34" charset="0"/>
              </a:rPr>
              <a:t>Prototype status (as of submission)</a:t>
            </a:r>
            <a:endParaRPr lang="en-IN" sz="115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3BEFF2-0F80-21B4-BF2A-AAB7354AF89A}"/>
              </a:ext>
            </a:extLst>
          </p:cNvPr>
          <p:cNvSpPr txBox="1"/>
          <p:nvPr/>
        </p:nvSpPr>
        <p:spPr>
          <a:xfrm>
            <a:off x="5943600" y="5003800"/>
            <a:ext cx="2540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Clickable UI (Google Stitch)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4309152-CD6D-EF3A-91FF-B20D9C1C110A}"/>
              </a:ext>
            </a:extLst>
          </p:cNvPr>
          <p:cNvSpPr/>
          <p:nvPr/>
        </p:nvSpPr>
        <p:spPr>
          <a:xfrm>
            <a:off x="8585200" y="5080000"/>
            <a:ext cx="3124200" cy="1905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750" b="1">
                <a:solidFill>
                  <a:srgbClr val="0070C0"/>
                </a:solidFill>
                <a:latin typeface="Arial" panose="020B0604020202020204" pitchFamily="34" charset="0"/>
              </a:rPr>
              <a:t>IN PROGRESS</a:t>
            </a:r>
          </a:p>
        </p:txBody>
      </p:sp>
      <p:sp>
        <p:nvSpPr>
          <p:cNvPr id="17408" name="TextBox 17407">
            <a:extLst>
              <a:ext uri="{FF2B5EF4-FFF2-40B4-BE49-F238E27FC236}">
                <a16:creationId xmlns:a16="http://schemas.microsoft.com/office/drawing/2014/main" id="{0FE8D674-17FC-5785-0538-2F2BBCEF4E66}"/>
              </a:ext>
            </a:extLst>
          </p:cNvPr>
          <p:cNvSpPr txBox="1"/>
          <p:nvPr/>
        </p:nvSpPr>
        <p:spPr>
          <a:xfrm>
            <a:off x="5943600" y="5232400"/>
            <a:ext cx="2540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Sensor readings</a:t>
            </a:r>
          </a:p>
        </p:txBody>
      </p:sp>
      <p:sp>
        <p:nvSpPr>
          <p:cNvPr id="17411" name="Rectangle: Rounded Corners 17410">
            <a:extLst>
              <a:ext uri="{FF2B5EF4-FFF2-40B4-BE49-F238E27FC236}">
                <a16:creationId xmlns:a16="http://schemas.microsoft.com/office/drawing/2014/main" id="{595CD4D7-22A4-3109-7E3E-6F884F803992}"/>
              </a:ext>
            </a:extLst>
          </p:cNvPr>
          <p:cNvSpPr/>
          <p:nvPr/>
        </p:nvSpPr>
        <p:spPr>
          <a:xfrm>
            <a:off x="8585200" y="5308600"/>
            <a:ext cx="3124200" cy="1905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750" b="1">
                <a:solidFill>
                  <a:srgbClr val="B45309"/>
                </a:solidFill>
                <a:latin typeface="Arial" panose="020B0604020202020204" pitchFamily="34" charset="0"/>
              </a:rPr>
              <a:t>SIMULATED · bench rig planned</a:t>
            </a:r>
          </a:p>
        </p:txBody>
      </p:sp>
      <p:sp>
        <p:nvSpPr>
          <p:cNvPr id="17412" name="TextBox 17411">
            <a:extLst>
              <a:ext uri="{FF2B5EF4-FFF2-40B4-BE49-F238E27FC236}">
                <a16:creationId xmlns:a16="http://schemas.microsoft.com/office/drawing/2014/main" id="{76FED79B-0206-CD4A-B3F6-01E61107BA52}"/>
              </a:ext>
            </a:extLst>
          </p:cNvPr>
          <p:cNvSpPr txBox="1"/>
          <p:nvPr/>
        </p:nvSpPr>
        <p:spPr>
          <a:xfrm>
            <a:off x="5943600" y="5461000"/>
            <a:ext cx="2540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Risk score, fusion, verification logic</a:t>
            </a:r>
          </a:p>
        </p:txBody>
      </p:sp>
      <p:sp>
        <p:nvSpPr>
          <p:cNvPr id="17413" name="Rectangle: Rounded Corners 17412">
            <a:extLst>
              <a:ext uri="{FF2B5EF4-FFF2-40B4-BE49-F238E27FC236}">
                <a16:creationId xmlns:a16="http://schemas.microsoft.com/office/drawing/2014/main" id="{2663B124-8AC1-4F39-1B92-89CFC5B4AE2A}"/>
              </a:ext>
            </a:extLst>
          </p:cNvPr>
          <p:cNvSpPr/>
          <p:nvPr/>
        </p:nvSpPr>
        <p:spPr>
          <a:xfrm>
            <a:off x="8585200" y="5537200"/>
            <a:ext cx="3124200" cy="1905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750" b="1">
                <a:solidFill>
                  <a:srgbClr val="1F2937"/>
                </a:solidFill>
                <a:latin typeface="Arial" panose="020B0604020202020204" pitchFamily="34" charset="0"/>
              </a:rPr>
              <a:t>DESIGNED · code after submission</a:t>
            </a:r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E8FC8A2B-F114-F7BA-31AC-9BA61419CE60}"/>
              </a:ext>
            </a:extLst>
          </p:cNvPr>
          <p:cNvSpPr txBox="1"/>
          <p:nvPr/>
        </p:nvSpPr>
        <p:spPr>
          <a:xfrm>
            <a:off x="5943600" y="5689600"/>
            <a:ext cx="2540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Image analysis</a:t>
            </a:r>
          </a:p>
        </p:txBody>
      </p:sp>
      <p:sp>
        <p:nvSpPr>
          <p:cNvPr id="17415" name="Rectangle: Rounded Corners 17414">
            <a:extLst>
              <a:ext uri="{FF2B5EF4-FFF2-40B4-BE49-F238E27FC236}">
                <a16:creationId xmlns:a16="http://schemas.microsoft.com/office/drawing/2014/main" id="{9FAE9878-66B3-7D35-B24C-7E8B359541C0}"/>
              </a:ext>
            </a:extLst>
          </p:cNvPr>
          <p:cNvSpPr/>
          <p:nvPr/>
        </p:nvSpPr>
        <p:spPr>
          <a:xfrm>
            <a:off x="8585200" y="5765800"/>
            <a:ext cx="3124200" cy="1905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750" b="1">
                <a:solidFill>
                  <a:srgbClr val="B45309"/>
                </a:solidFill>
                <a:latin typeface="Arial" panose="020B0604020202020204" pitchFamily="34" charset="0"/>
              </a:rPr>
              <a:t>SIMULATED · clearly labelled</a:t>
            </a:r>
          </a:p>
        </p:txBody>
      </p:sp>
      <p:sp>
        <p:nvSpPr>
          <p:cNvPr id="17416" name="TextBox 17415">
            <a:extLst>
              <a:ext uri="{FF2B5EF4-FFF2-40B4-BE49-F238E27FC236}">
                <a16:creationId xmlns:a16="http://schemas.microsoft.com/office/drawing/2014/main" id="{3729774E-1E16-871E-4BC8-656E0F133895}"/>
              </a:ext>
            </a:extLst>
          </p:cNvPr>
          <p:cNvSpPr txBox="1"/>
          <p:nvPr/>
        </p:nvSpPr>
        <p:spPr>
          <a:xfrm>
            <a:off x="5943600" y="5918200"/>
            <a:ext cx="2540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ctr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IMIS / Sujal Gaon sync</a:t>
            </a:r>
          </a:p>
        </p:txBody>
      </p:sp>
      <p:sp>
        <p:nvSpPr>
          <p:cNvPr id="17417" name="Rectangle: Rounded Corners 17416">
            <a:extLst>
              <a:ext uri="{FF2B5EF4-FFF2-40B4-BE49-F238E27FC236}">
                <a16:creationId xmlns:a16="http://schemas.microsoft.com/office/drawing/2014/main" id="{152806ED-2650-C38C-0CC9-F8580116C78C}"/>
              </a:ext>
            </a:extLst>
          </p:cNvPr>
          <p:cNvSpPr/>
          <p:nvPr/>
        </p:nvSpPr>
        <p:spPr>
          <a:xfrm>
            <a:off x="8585200" y="5994400"/>
            <a:ext cx="3124200" cy="1905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750" b="1">
                <a:solidFill>
                  <a:srgbClr val="B91C1C"/>
                </a:solidFill>
                <a:latin typeface="Arial" panose="020B0604020202020204" pitchFamily="34" charset="0"/>
              </a:rPr>
              <a:t>NOT IMPLEMENTED · needs authorisation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/>
              <a:t>Team Vistaar</a:t>
            </a:r>
            <a:endParaRPr lang="en-IN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874F45-5BCF-9430-705A-7C1338E0A6C2}"/>
              </a:ext>
            </a:extLst>
          </p:cNvPr>
          <p:cNvSpPr txBox="1"/>
          <p:nvPr/>
        </p:nvSpPr>
        <p:spPr>
          <a:xfrm>
            <a:off x="381000" y="1117600"/>
            <a:ext cx="11430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200" b="1">
                <a:solidFill>
                  <a:srgbClr val="0F766E"/>
                </a:solidFill>
                <a:latin typeface="Arial" panose="020B0604020202020204" pitchFamily="34" charset="0"/>
              </a:rPr>
              <a:t>Potential impact on the target audience</a:t>
            </a:r>
            <a:endParaRPr lang="en-IN" sz="120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4B7FEAB-1E1A-3EDF-7008-E6B04FA5C435}"/>
              </a:ext>
            </a:extLst>
          </p:cNvPr>
          <p:cNvSpPr/>
          <p:nvPr/>
        </p:nvSpPr>
        <p:spPr>
          <a:xfrm>
            <a:off x="381000" y="1397000"/>
            <a:ext cx="3733800" cy="1625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363852-BE94-2810-2E1B-0C87AF71346A}"/>
              </a:ext>
            </a:extLst>
          </p:cNvPr>
          <p:cNvSpPr txBox="1"/>
          <p:nvPr/>
        </p:nvSpPr>
        <p:spPr>
          <a:xfrm>
            <a:off x="457200" y="1447800"/>
            <a:ext cx="3581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50" b="1">
                <a:solidFill>
                  <a:srgbClr val="0F766E"/>
                </a:solidFill>
                <a:latin typeface="Arial" panose="020B0604020202020204" pitchFamily="34" charset="0"/>
              </a:rPr>
              <a:t>Villagers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709FA-FB2F-8E05-D008-C8171E36BC40}"/>
              </a:ext>
            </a:extLst>
          </p:cNvPr>
          <p:cNvSpPr txBox="1"/>
          <p:nvPr/>
        </p:nvSpPr>
        <p:spPr>
          <a:xfrm>
            <a:off x="457200" y="1651000"/>
            <a:ext cx="3581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50" b="1">
                <a:solidFill>
                  <a:srgbClr val="B91C1C"/>
                </a:solidFill>
                <a:latin typeface="Arial" panose="020B0604020202020204" pitchFamily="34" charset="0"/>
              </a:rPr>
              <a:t>Before: </a:t>
            </a:r>
            <a:r>
              <a:rPr lang="en-US" sz="1150">
                <a:solidFill>
                  <a:srgbClr val="1F2937"/>
                </a:solidFill>
                <a:latin typeface="Arial" panose="020B0604020202020204" pitchFamily="34" charset="0"/>
              </a:rPr>
              <a:t>Complaint disappears; no update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50" b="1">
                <a:solidFill>
                  <a:srgbClr val="15803D"/>
                </a:solidFill>
                <a:latin typeface="Arial" panose="020B0604020202020204" pitchFamily="34" charset="0"/>
              </a:rPr>
              <a:t>After: </a:t>
            </a:r>
            <a:r>
              <a:rPr lang="en-US" sz="1150">
                <a:solidFill>
                  <a:srgbClr val="1F2937"/>
                </a:solidFill>
                <a:latin typeface="Arial" panose="020B0604020202020204" pitchFamily="34" charset="0"/>
              </a:rPr>
              <a:t>Report in their own language with a photo; told when water is actually restored</a:t>
            </a:r>
            <a:endParaRPr lang="en-IN" sz="11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560978-9FDF-F9FD-96B5-EAD12A88950C}"/>
              </a:ext>
            </a:extLst>
          </p:cNvPr>
          <p:cNvSpPr/>
          <p:nvPr/>
        </p:nvSpPr>
        <p:spPr>
          <a:xfrm>
            <a:off x="4229100" y="1397000"/>
            <a:ext cx="3733800" cy="1625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E83BD-4E5A-F132-8693-E73FB3DB6AE3}"/>
              </a:ext>
            </a:extLst>
          </p:cNvPr>
          <p:cNvSpPr txBox="1"/>
          <p:nvPr/>
        </p:nvSpPr>
        <p:spPr>
          <a:xfrm>
            <a:off x="4305300" y="1447800"/>
            <a:ext cx="3581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50" b="1">
                <a:solidFill>
                  <a:srgbClr val="0F766E"/>
                </a:solidFill>
                <a:latin typeface="Arial" panose="020B0604020202020204" pitchFamily="34" charset="0"/>
              </a:rPr>
              <a:t>Gram Panchayat / VWSC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661DCB-FC2B-5E27-5BD9-2FE292ED985C}"/>
              </a:ext>
            </a:extLst>
          </p:cNvPr>
          <p:cNvSpPr txBox="1"/>
          <p:nvPr/>
        </p:nvSpPr>
        <p:spPr>
          <a:xfrm>
            <a:off x="4305300" y="1651000"/>
            <a:ext cx="3581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50" b="1">
                <a:solidFill>
                  <a:srgbClr val="B91C1C"/>
                </a:solidFill>
                <a:latin typeface="Arial" panose="020B0604020202020204" pitchFamily="34" charset="0"/>
              </a:rPr>
              <a:t>Before: </a:t>
            </a:r>
            <a:r>
              <a:rPr lang="en-US" sz="1150">
                <a:solidFill>
                  <a:srgbClr val="1F2937"/>
                </a:solidFill>
                <a:latin typeface="Arial" panose="020B0604020202020204" pitchFamily="34" charset="0"/>
              </a:rPr>
              <a:t>Learns of failures late; no priority order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50" b="1">
                <a:solidFill>
                  <a:srgbClr val="15803D"/>
                </a:solidFill>
                <a:latin typeface="Arial" panose="020B0604020202020204" pitchFamily="34" charset="0"/>
              </a:rPr>
              <a:t>After: </a:t>
            </a:r>
            <a:r>
              <a:rPr lang="en-US" sz="1150">
                <a:solidFill>
                  <a:srgbClr val="1F2937"/>
                </a:solidFill>
                <a:latin typeface="Arial" panose="020B0604020202020204" pitchFamily="34" charset="0"/>
              </a:rPr>
              <a:t>Ranked inspection list with evidence; proof that a repair worked. Only 55.2% of villages had a VWSC and 58.1% skilled O&amp;M manpower [1]</a:t>
            </a:r>
            <a:endParaRPr lang="en-IN" sz="11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56A28E8-565F-043F-3435-4492BE7E744D}"/>
              </a:ext>
            </a:extLst>
          </p:cNvPr>
          <p:cNvSpPr/>
          <p:nvPr/>
        </p:nvSpPr>
        <p:spPr>
          <a:xfrm>
            <a:off x="8077200" y="1397000"/>
            <a:ext cx="3733800" cy="1625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9149C1-DEEE-C377-22A1-5B2541D73DCE}"/>
              </a:ext>
            </a:extLst>
          </p:cNvPr>
          <p:cNvSpPr txBox="1"/>
          <p:nvPr/>
        </p:nvSpPr>
        <p:spPr>
          <a:xfrm>
            <a:off x="8153400" y="1447800"/>
            <a:ext cx="3581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50" b="1">
                <a:solidFill>
                  <a:srgbClr val="0F766E"/>
                </a:solidFill>
                <a:latin typeface="Arial" panose="020B0604020202020204" pitchFamily="34" charset="0"/>
              </a:rPr>
              <a:t>District / State officers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F379D4-BB38-926E-BB14-14E092B9E85C}"/>
              </a:ext>
            </a:extLst>
          </p:cNvPr>
          <p:cNvSpPr txBox="1"/>
          <p:nvPr/>
        </p:nvSpPr>
        <p:spPr>
          <a:xfrm>
            <a:off x="8153400" y="1651000"/>
            <a:ext cx="3581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50" b="1">
                <a:solidFill>
                  <a:srgbClr val="B91C1C"/>
                </a:solidFill>
                <a:latin typeface="Arial" panose="020B0604020202020204" pitchFamily="34" charset="0"/>
              </a:rPr>
              <a:t>Before: </a:t>
            </a:r>
            <a:r>
              <a:rPr lang="en-US" sz="1150">
                <a:solidFill>
                  <a:srgbClr val="1F2937"/>
                </a:solidFill>
                <a:latin typeface="Arial" panose="020B0604020202020204" pitchFamily="34" charset="0"/>
              </a:rPr>
              <a:t>Coverage numbers, not service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50" b="1">
                <a:solidFill>
                  <a:srgbClr val="15803D"/>
                </a:solidFill>
                <a:latin typeface="Arial" panose="020B0604020202020204" pitchFamily="34" charset="0"/>
              </a:rPr>
              <a:t>After: </a:t>
            </a:r>
            <a:r>
              <a:rPr lang="en-US" sz="1150">
                <a:solidFill>
                  <a:srgbClr val="1F2937"/>
                </a:solidFill>
                <a:latin typeface="Arial" panose="020B0604020202020204" pitchFamily="34" charset="0"/>
              </a:rPr>
              <a:t>Repeat-failure hotspots, overdue repairs, verified resolution trends</a:t>
            </a:r>
            <a:endParaRPr lang="en-IN" sz="11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CF11C1-8D5F-EB08-C830-8A8AD00B600A}"/>
              </a:ext>
            </a:extLst>
          </p:cNvPr>
          <p:cNvSpPr txBox="1"/>
          <p:nvPr/>
        </p:nvSpPr>
        <p:spPr>
          <a:xfrm>
            <a:off x="381000" y="3124200"/>
            <a:ext cx="11430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200" b="1">
                <a:solidFill>
                  <a:srgbClr val="0F766E"/>
                </a:solidFill>
                <a:latin typeface="Arial" panose="020B0604020202020204" pitchFamily="34" charset="0"/>
              </a:rPr>
              <a:t>Benefits of the solution (social, economic, environmental, etc.)</a:t>
            </a:r>
            <a:endParaRPr lang="en-IN" sz="120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CCEDB92-5B9F-1000-3790-A6C811FCCCE3}"/>
              </a:ext>
            </a:extLst>
          </p:cNvPr>
          <p:cNvSpPr/>
          <p:nvPr/>
        </p:nvSpPr>
        <p:spPr>
          <a:xfrm>
            <a:off x="381000" y="3403600"/>
            <a:ext cx="2768600" cy="10414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847FD1-5DBF-71C4-A765-26E716FDC2C6}"/>
              </a:ext>
            </a:extLst>
          </p:cNvPr>
          <p:cNvSpPr txBox="1"/>
          <p:nvPr/>
        </p:nvSpPr>
        <p:spPr>
          <a:xfrm>
            <a:off x="457200" y="3454400"/>
            <a:ext cx="26162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200" b="1">
                <a:solidFill>
                  <a:srgbClr val="1F2937"/>
                </a:solidFill>
                <a:latin typeface="Arial" panose="020B0604020202020204" pitchFamily="34" charset="0"/>
              </a:rPr>
              <a:t>Social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050">
                <a:solidFill>
                  <a:srgbClr val="1F2937"/>
                </a:solidFill>
                <a:latin typeface="Arial" panose="020B0604020202020204" pitchFamily="34" charset="0"/>
              </a:rPr>
              <a:t>Less time lost to outages; quality-indicator anomalies trigger earlier testing</a:t>
            </a:r>
            <a:endParaRPr lang="en-IN" sz="10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19DEFFE-797D-6610-2061-DE8BB9342C49}"/>
              </a:ext>
            </a:extLst>
          </p:cNvPr>
          <p:cNvSpPr/>
          <p:nvPr/>
        </p:nvSpPr>
        <p:spPr>
          <a:xfrm>
            <a:off x="3263900" y="3403600"/>
            <a:ext cx="2768600" cy="10414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E62045-AC71-6193-D874-CA88423611D7}"/>
              </a:ext>
            </a:extLst>
          </p:cNvPr>
          <p:cNvSpPr txBox="1"/>
          <p:nvPr/>
        </p:nvSpPr>
        <p:spPr>
          <a:xfrm>
            <a:off x="3340100" y="3454400"/>
            <a:ext cx="26162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200" b="1">
                <a:solidFill>
                  <a:srgbClr val="1F2937"/>
                </a:solidFill>
                <a:latin typeface="Arial" panose="020B0604020202020204" pitchFamily="34" charset="0"/>
              </a:rPr>
              <a:t>Economic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050">
                <a:solidFill>
                  <a:srgbClr val="1F2937"/>
                </a:solidFill>
                <a:latin typeface="Arial" panose="020B0604020202020204" pitchFamily="34" charset="0"/>
              </a:rPr>
              <a:t>Inspect the riskiest pipes first; fewer repeat repairs and wasted visits</a:t>
            </a:r>
            <a:endParaRPr lang="en-IN" sz="10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EE37AFE-363A-AEC3-6074-3F60A5CDC987}"/>
              </a:ext>
            </a:extLst>
          </p:cNvPr>
          <p:cNvSpPr/>
          <p:nvPr/>
        </p:nvSpPr>
        <p:spPr>
          <a:xfrm>
            <a:off x="6146800" y="3403600"/>
            <a:ext cx="2768600" cy="1041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1034E2-7E09-9376-0AB8-6F71FB47E7F4}"/>
              </a:ext>
            </a:extLst>
          </p:cNvPr>
          <p:cNvSpPr txBox="1"/>
          <p:nvPr/>
        </p:nvSpPr>
        <p:spPr>
          <a:xfrm>
            <a:off x="6223000" y="3454400"/>
            <a:ext cx="26162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200" b="1">
                <a:solidFill>
                  <a:srgbClr val="1F2937"/>
                </a:solidFill>
                <a:latin typeface="Arial" panose="020B0604020202020204" pitchFamily="34" charset="0"/>
              </a:rPr>
              <a:t>Environmental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050">
                <a:solidFill>
                  <a:srgbClr val="1F2937"/>
                </a:solidFill>
                <a:latin typeface="Arial" panose="020B0604020202020204" pitchFamily="34" charset="0"/>
              </a:rPr>
              <a:t>Earlier leak detection reduces water and pumping-energy loss</a:t>
            </a:r>
            <a:endParaRPr lang="en-IN" sz="10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9DF8A73-E4F2-8944-2292-F8327916F3C6}"/>
              </a:ext>
            </a:extLst>
          </p:cNvPr>
          <p:cNvSpPr/>
          <p:nvPr/>
        </p:nvSpPr>
        <p:spPr>
          <a:xfrm>
            <a:off x="9029700" y="3403600"/>
            <a:ext cx="2768600" cy="1041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3E4068-4617-114F-7605-8F01820FF262}"/>
              </a:ext>
            </a:extLst>
          </p:cNvPr>
          <p:cNvSpPr txBox="1"/>
          <p:nvPr/>
        </p:nvSpPr>
        <p:spPr>
          <a:xfrm>
            <a:off x="9105900" y="3454400"/>
            <a:ext cx="26162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200" b="1">
                <a:solidFill>
                  <a:srgbClr val="1F2937"/>
                </a:solidFill>
                <a:latin typeface="Arial" panose="020B0604020202020204" pitchFamily="34" charset="0"/>
              </a:rPr>
              <a:t>Governance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050">
                <a:solidFill>
                  <a:srgbClr val="1F2937"/>
                </a:solidFill>
                <a:latin typeface="Arial" panose="020B0604020202020204" pitchFamily="34" charset="0"/>
              </a:rPr>
              <a:t>Verifiable service records aligned with JJM 2.0's service-delivery focus [4]</a:t>
            </a:r>
            <a:endParaRPr lang="en-IN" sz="105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4E6F5A-9ADF-74CA-6625-759F7A024906}"/>
              </a:ext>
            </a:extLst>
          </p:cNvPr>
          <p:cNvSpPr/>
          <p:nvPr/>
        </p:nvSpPr>
        <p:spPr>
          <a:xfrm>
            <a:off x="381000" y="4572000"/>
            <a:ext cx="5588000" cy="1676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D135B4-2B73-A3BC-DADF-928892538066}"/>
              </a:ext>
            </a:extLst>
          </p:cNvPr>
          <p:cNvSpPr txBox="1"/>
          <p:nvPr/>
        </p:nvSpPr>
        <p:spPr>
          <a:xfrm>
            <a:off x="457200" y="4622800"/>
            <a:ext cx="54356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50" b="1">
                <a:solidFill>
                  <a:srgbClr val="0F766E"/>
                </a:solidFill>
                <a:latin typeface="Arial" panose="020B0604020202020204" pitchFamily="34" charset="0"/>
              </a:rPr>
              <a:t>Scalability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C0829F-8CF4-9135-9F0D-056F33AAD385}"/>
              </a:ext>
            </a:extLst>
          </p:cNvPr>
          <p:cNvSpPr txBox="1"/>
          <p:nvPr/>
        </p:nvSpPr>
        <p:spPr>
          <a:xfrm>
            <a:off x="457200" y="4826000"/>
            <a:ext cx="54356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IN" sz="1050">
                <a:solidFill>
                  <a:srgbClr val="1F2937"/>
                </a:solidFill>
                <a:latin typeface="Arial" panose="020B0604020202020204" pitchFamily="34" charset="0"/>
              </a:rPr>
              <a:t>1 village → cluster per gateway → block → district → state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IN" sz="1050">
                <a:solidFill>
                  <a:srgbClr val="1F2937"/>
                </a:solidFill>
                <a:latin typeface="Arial" panose="020B0604020202020204" pitchFamily="34" charset="0"/>
              </a:rPr>
              <a:t>Keyed to service-area (Sujal Gaon) and scheme (Sujalam Bharat) identities [2]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IN" sz="1050">
                <a:solidFill>
                  <a:srgbClr val="1F2937"/>
                </a:solidFill>
                <a:latin typeface="Arial" panose="020B0604020202020204" pitchFamily="34" charset="0"/>
              </a:rPr>
              <a:t>Stateless APIs; PostgreSQL/PostGIS; LoRaWAN for multi-gateway networks</a:t>
            </a:r>
          </a:p>
          <a:p>
            <a:pPr marL="127000" indent="-127000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Font typeface="+mj-lt"/>
              <a:buChar char="•"/>
            </a:pPr>
            <a:r>
              <a:rPr lang="en-IN" sz="1050">
                <a:solidFill>
                  <a:srgbClr val="1F2937"/>
                </a:solidFill>
                <a:latin typeface="Arial" panose="020B0604020202020204" pitchFamily="34" charset="0"/>
              </a:rPr>
              <a:t>Rules transfer to new villages on day one; models retrain per region as data grows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9243721-59D0-3CBD-7998-CB28E3A4B425}"/>
              </a:ext>
            </a:extLst>
          </p:cNvPr>
          <p:cNvSpPr/>
          <p:nvPr/>
        </p:nvSpPr>
        <p:spPr>
          <a:xfrm>
            <a:off x="6096000" y="4572000"/>
            <a:ext cx="5715000" cy="1676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6511F1-4B23-4696-0005-52596DABC8C8}"/>
              </a:ext>
            </a:extLst>
          </p:cNvPr>
          <p:cNvSpPr txBox="1"/>
          <p:nvPr/>
        </p:nvSpPr>
        <p:spPr>
          <a:xfrm>
            <a:off x="6172200" y="4622800"/>
            <a:ext cx="55626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1150" b="1">
                <a:solidFill>
                  <a:srgbClr val="0F766E"/>
                </a:solidFill>
                <a:latin typeface="Arial" panose="020B0604020202020204" pitchFamily="34" charset="0"/>
              </a:rPr>
              <a:t>Roadmap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45AAF3F-BD8F-F9EE-7F27-1BAD709C11C2}"/>
              </a:ext>
            </a:extLst>
          </p:cNvPr>
          <p:cNvSpPr/>
          <p:nvPr/>
        </p:nvSpPr>
        <p:spPr>
          <a:xfrm>
            <a:off x="6197600" y="4902200"/>
            <a:ext cx="990600" cy="711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 b="1">
                <a:solidFill>
                  <a:srgbClr val="FFFFFF"/>
                </a:solidFill>
                <a:latin typeface="Arial" panose="020B0604020202020204" pitchFamily="34" charset="0"/>
              </a:rPr>
              <a:t>Idea + Stitch prototype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1C0375D-D106-4AE5-A8F0-355C6A08B06C}"/>
              </a:ext>
            </a:extLst>
          </p:cNvPr>
          <p:cNvCxnSpPr/>
          <p:nvPr/>
        </p:nvCxnSpPr>
        <p:spPr>
          <a:xfrm>
            <a:off x="7200900" y="5257800"/>
            <a:ext cx="101600" cy="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593CABA-3788-5FB9-FA1E-6CAEE83BFF3A}"/>
              </a:ext>
            </a:extLst>
          </p:cNvPr>
          <p:cNvSpPr/>
          <p:nvPr/>
        </p:nvSpPr>
        <p:spPr>
          <a:xfrm>
            <a:off x="7315200" y="4902200"/>
            <a:ext cx="990600" cy="711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Working app on simulated data</a:t>
            </a:r>
            <a:endParaRPr lang="en-IN" sz="8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FC9BEB2-0E2F-A55C-DD81-199BFE0A4586}"/>
              </a:ext>
            </a:extLst>
          </p:cNvPr>
          <p:cNvCxnSpPr/>
          <p:nvPr/>
        </p:nvCxnSpPr>
        <p:spPr>
          <a:xfrm>
            <a:off x="8318500" y="5257800"/>
            <a:ext cx="101600" cy="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758F241-8681-6374-D7F1-4FF09C219654}"/>
              </a:ext>
            </a:extLst>
          </p:cNvPr>
          <p:cNvSpPr/>
          <p:nvPr/>
        </p:nvSpPr>
        <p:spPr>
          <a:xfrm>
            <a:off x="8432800" y="4902200"/>
            <a:ext cx="990600" cy="711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 b="1">
                <a:solidFill>
                  <a:srgbClr val="FFFFFF"/>
                </a:solidFill>
                <a:latin typeface="Arial" panose="020B0604020202020204" pitchFamily="34" charset="0"/>
              </a:rPr>
              <a:t>Bench-rig integration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8CFEDFC-CBC0-6B85-42F0-577A3D8743BB}"/>
              </a:ext>
            </a:extLst>
          </p:cNvPr>
          <p:cNvCxnSpPr/>
          <p:nvPr/>
        </p:nvCxnSpPr>
        <p:spPr>
          <a:xfrm>
            <a:off x="9436100" y="5257800"/>
            <a:ext cx="101600" cy="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FDC338C-ED74-7ABA-4A31-5C5FB33E256A}"/>
              </a:ext>
            </a:extLst>
          </p:cNvPr>
          <p:cNvSpPr/>
          <p:nvPr/>
        </p:nvSpPr>
        <p:spPr>
          <a:xfrm>
            <a:off x="9550400" y="4902200"/>
            <a:ext cx="990600" cy="711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it-IT" sz="800" b="1">
                <a:solidFill>
                  <a:srgbClr val="FFFFFF"/>
                </a:solidFill>
                <a:latin typeface="Arial" panose="020B0604020202020204" pitchFamily="34" charset="0"/>
              </a:rPr>
              <a:t>Finale demo (proposed Dec 2026)</a:t>
            </a:r>
            <a:endParaRPr lang="en-IN" sz="8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CCB4EE5-6FCA-BAD1-FD60-FE72050935E5}"/>
              </a:ext>
            </a:extLst>
          </p:cNvPr>
          <p:cNvCxnSpPr/>
          <p:nvPr/>
        </p:nvCxnSpPr>
        <p:spPr>
          <a:xfrm>
            <a:off x="10553700" y="5257800"/>
            <a:ext cx="101600" cy="0"/>
          </a:xfrm>
          <a:prstGeom prst="line">
            <a:avLst/>
          </a:prstGeom>
          <a:ln w="1587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63E1831-46F0-4306-17BC-BA5BDC0596AD}"/>
              </a:ext>
            </a:extLst>
          </p:cNvPr>
          <p:cNvSpPr/>
          <p:nvPr/>
        </p:nvSpPr>
        <p:spPr>
          <a:xfrm>
            <a:off x="10668000" y="4902200"/>
            <a:ext cx="990600" cy="711200"/>
          </a:xfrm>
          <a:prstGeom prst="roundRect">
            <a:avLst>
              <a:gd name="adj" fmla="val 8000"/>
            </a:avLst>
          </a:prstGeom>
          <a:solidFill>
            <a:srgbClr val="47556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25400" rIns="254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00" b="1">
                <a:solidFill>
                  <a:srgbClr val="FFFFFF"/>
                </a:solidFill>
                <a:latin typeface="Arial" panose="020B0604020202020204" pitchFamily="34" charset="0"/>
              </a:rPr>
              <a:t>Field pilot (needs authorisation)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61E7B9-8C10-4BFF-42BA-47CE7B451F30}"/>
              </a:ext>
            </a:extLst>
          </p:cNvPr>
          <p:cNvSpPr txBox="1"/>
          <p:nvPr/>
        </p:nvSpPr>
        <p:spPr>
          <a:xfrm>
            <a:off x="6172200" y="5765800"/>
            <a:ext cx="55626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800" i="1">
                <a:solidFill>
                  <a:srgbClr val="475569"/>
                </a:solidFill>
                <a:latin typeface="Arial" panose="020B0604020202020204" pitchFamily="34" charset="0"/>
              </a:rPr>
              <a:t>Limitations: bench-scale validation only; no field data yet; risk weights are expert judgement until real failure records exist.</a:t>
            </a:r>
            <a:endParaRPr lang="en-IN" sz="800" i="1">
              <a:solidFill>
                <a:srgbClr val="47556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/>
              <a:t>Team Vistaar</a:t>
            </a:r>
            <a:endParaRPr lang="en-IN" sz="11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168441-CD97-457C-367B-B6A162A93D34}"/>
              </a:ext>
            </a:extLst>
          </p:cNvPr>
          <p:cNvSpPr txBox="1"/>
          <p:nvPr/>
        </p:nvSpPr>
        <p:spPr>
          <a:xfrm>
            <a:off x="381000" y="1117600"/>
            <a:ext cx="7112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200" b="1">
                <a:solidFill>
                  <a:srgbClr val="0F766E"/>
                </a:solidFill>
                <a:latin typeface="Arial" panose="020B0604020202020204" pitchFamily="34" charset="0"/>
              </a:rPr>
              <a:t>Details / Links of the reference and research work</a:t>
            </a:r>
            <a:endParaRPr lang="en-IN" sz="120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AD4D9F-DD5A-4C89-4BB8-5684B4B4FADC}"/>
              </a:ext>
            </a:extLst>
          </p:cNvPr>
          <p:cNvSpPr txBox="1"/>
          <p:nvPr/>
        </p:nvSpPr>
        <p:spPr>
          <a:xfrm>
            <a:off x="381000" y="1397000"/>
            <a:ext cx="7112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00" b="1">
                <a:solidFill>
                  <a:srgbClr val="0F766E"/>
                </a:solidFill>
                <a:latin typeface="Arial" panose="020B0604020202020204" pitchFamily="34" charset="0"/>
              </a:rPr>
              <a:t>[1] </a:t>
            </a: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DDWS – Functionality Assessment of Household Tap Connection, National Report 2024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750">
                <a:solidFill>
                  <a:srgbClr val="0070C0"/>
                </a:solidFill>
                <a:latin typeface="Arial" panose="020B0604020202020204" pitchFamily="34" charset="0"/>
                <a:hlinkClick r:id="rId4"/>
              </a:rPr>
              <a:t>jaljeevanmission.gov.in/sites/default/files/2025-12/FHTC_National%2…</a:t>
            </a:r>
            <a:endParaRPr lang="en-IN" sz="75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71E36-569A-ABAF-101A-0E49B92A30FD}"/>
              </a:ext>
            </a:extLst>
          </p:cNvPr>
          <p:cNvSpPr txBox="1"/>
          <p:nvPr/>
        </p:nvSpPr>
        <p:spPr>
          <a:xfrm>
            <a:off x="381000" y="1835150"/>
            <a:ext cx="7112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00" b="1">
                <a:solidFill>
                  <a:srgbClr val="0F766E"/>
                </a:solidFill>
                <a:latin typeface="Arial" panose="020B0604020202020204" pitchFamily="34" charset="0"/>
              </a:rPr>
              <a:t>[2] </a:t>
            </a: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PIB, 13 Aug 2026 – 75% of rural habitations covered with Sujal Gaon IDs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750">
                <a:solidFill>
                  <a:srgbClr val="0070C0"/>
                </a:solidFill>
                <a:latin typeface="Arial" panose="020B0604020202020204" pitchFamily="34" charset="0"/>
                <a:hlinkClick r:id="rId5"/>
              </a:rPr>
              <a:t>pib.gov.in/PressReleasePage.aspx?PRID=2298959</a:t>
            </a:r>
            <a:endParaRPr lang="en-IN" sz="75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89FF91-037A-9A5D-0F66-C3C3CD0E16C7}"/>
              </a:ext>
            </a:extLst>
          </p:cNvPr>
          <p:cNvSpPr txBox="1"/>
          <p:nvPr/>
        </p:nvSpPr>
        <p:spPr>
          <a:xfrm>
            <a:off x="381000" y="2273300"/>
            <a:ext cx="7112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00" b="1">
                <a:solidFill>
                  <a:srgbClr val="0F766E"/>
                </a:solidFill>
                <a:latin typeface="Arial" panose="020B0604020202020204" pitchFamily="34" charset="0"/>
              </a:rPr>
              <a:t>[3] </a:t>
            </a: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PIB, 30 Dec 2025 – Jal Seva Aankalan launched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750">
                <a:solidFill>
                  <a:srgbClr val="0070C0"/>
                </a:solidFill>
                <a:latin typeface="Arial" panose="020B0604020202020204" pitchFamily="34" charset="0"/>
                <a:hlinkClick r:id="rId6"/>
              </a:rPr>
              <a:t>pib.gov.in/PressReleasePage.aspx?PRID=2209798</a:t>
            </a:r>
            <a:endParaRPr lang="en-IN" sz="75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4367B3-EC80-A0C8-7F33-3D032BB76F20}"/>
              </a:ext>
            </a:extLst>
          </p:cNvPr>
          <p:cNvSpPr txBox="1"/>
          <p:nvPr/>
        </p:nvSpPr>
        <p:spPr>
          <a:xfrm>
            <a:off x="381000" y="2711450"/>
            <a:ext cx="7112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00" b="1">
                <a:solidFill>
                  <a:srgbClr val="0F766E"/>
                </a:solidFill>
                <a:latin typeface="Arial" panose="020B0604020202020204" pitchFamily="34" charset="0"/>
              </a:rPr>
              <a:t>[4] </a:t>
            </a: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Cabinet, Mar 2026 – JJM extended to Dec 2028 (₹8.69 lakh crore, service-delivery focus)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750">
                <a:solidFill>
                  <a:srgbClr val="0070C0"/>
                </a:solidFill>
                <a:latin typeface="Arial" panose="020B0604020202020204" pitchFamily="34" charset="0"/>
                <a:hlinkClick r:id="rId7"/>
              </a:rPr>
              <a:t>pmindia.gov.in/en/news_updates/cabinet-approves-extension-of-jal-je…</a:t>
            </a:r>
            <a:endParaRPr lang="en-IN" sz="75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5ABF23-614B-EE4E-285A-3788997C5635}"/>
              </a:ext>
            </a:extLst>
          </p:cNvPr>
          <p:cNvSpPr txBox="1"/>
          <p:nvPr/>
        </p:nvSpPr>
        <p:spPr>
          <a:xfrm>
            <a:off x="381000" y="3149600"/>
            <a:ext cx="7112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00" b="1">
                <a:solidFill>
                  <a:srgbClr val="0F766E"/>
                </a:solidFill>
                <a:latin typeface="Arial" panose="020B0604020202020204" pitchFamily="34" charset="0"/>
              </a:rPr>
              <a:t>[5] </a:t>
            </a: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JJM Dashboard (coverage, GIS, IoT pilot view)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750">
                <a:solidFill>
                  <a:srgbClr val="0070C0"/>
                </a:solidFill>
                <a:latin typeface="Arial" panose="020B0604020202020204" pitchFamily="34" charset="0"/>
                <a:hlinkClick r:id="rId8"/>
              </a:rPr>
              <a:t>ejalshakti.gov.in/JJMReport/JJMIndia.aspx</a:t>
            </a:r>
            <a:endParaRPr lang="en-IN" sz="75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E9FD1D-B544-B9F6-12BB-233F898E6E25}"/>
              </a:ext>
            </a:extLst>
          </p:cNvPr>
          <p:cNvSpPr txBox="1"/>
          <p:nvPr/>
        </p:nvSpPr>
        <p:spPr>
          <a:xfrm>
            <a:off x="381000" y="3587750"/>
            <a:ext cx="7112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00" b="1">
                <a:solidFill>
                  <a:srgbClr val="0F766E"/>
                </a:solidFill>
                <a:latin typeface="Arial" panose="020B0604020202020204" pitchFamily="34" charset="0"/>
              </a:rPr>
              <a:t>[6] </a:t>
            </a: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JJM-WQMIS (laboratory and FTK water-quality testing)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750">
                <a:solidFill>
                  <a:srgbClr val="0070C0"/>
                </a:solidFill>
                <a:latin typeface="Arial" panose="020B0604020202020204" pitchFamily="34" charset="0"/>
                <a:hlinkClick r:id="rId9"/>
              </a:rPr>
              <a:t>ejalshakti.gov.in/WQMIS/</a:t>
            </a:r>
            <a:endParaRPr lang="en-IN" sz="75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292E6C-7A89-7F84-EE72-08C1EC068AF9}"/>
              </a:ext>
            </a:extLst>
          </p:cNvPr>
          <p:cNvSpPr txBox="1"/>
          <p:nvPr/>
        </p:nvSpPr>
        <p:spPr>
          <a:xfrm>
            <a:off x="381000" y="4025900"/>
            <a:ext cx="7112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00" b="1">
                <a:solidFill>
                  <a:srgbClr val="0F766E"/>
                </a:solidFill>
                <a:latin typeface="Arial" panose="020B0604020202020204" pitchFamily="34" charset="0"/>
              </a:rPr>
              <a:t>[7] </a:t>
            </a: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PIB, 31 Mar 2021 – JJM deploys sensor-based IoT devices (off-grid solar + battery pilot)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750">
                <a:solidFill>
                  <a:srgbClr val="0070C0"/>
                </a:solidFill>
                <a:latin typeface="Arial" panose="020B0604020202020204" pitchFamily="34" charset="0"/>
                <a:hlinkClick r:id="rId10"/>
              </a:rPr>
              <a:t>pib.gov.in/PressReleaseIframePage.aspx?PRID=1708701</a:t>
            </a:r>
            <a:endParaRPr lang="en-IN" sz="75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7CA7E1-0B7B-C533-A5F3-8F1E3BC5B9B8}"/>
              </a:ext>
            </a:extLst>
          </p:cNvPr>
          <p:cNvSpPr txBox="1"/>
          <p:nvPr/>
        </p:nvSpPr>
        <p:spPr>
          <a:xfrm>
            <a:off x="381000" y="4464050"/>
            <a:ext cx="7112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00" b="1">
                <a:solidFill>
                  <a:srgbClr val="0F766E"/>
                </a:solidFill>
                <a:latin typeface="Arial" panose="020B0604020202020204" pitchFamily="34" charset="0"/>
              </a:rPr>
              <a:t>[8] </a:t>
            </a: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Jal Jeevan Samvad, Oct 2023 – IoT water-quality monitoring with complaint tracking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750">
                <a:solidFill>
                  <a:srgbClr val="0070C0"/>
                </a:solidFill>
                <a:latin typeface="Arial" panose="020B0604020202020204" pitchFamily="34" charset="0"/>
                <a:hlinkClick r:id="rId11"/>
              </a:rPr>
              <a:t>jaljeevanmission.gov.in/sites/default/files/2025-05/JalJeevanSamvad…</a:t>
            </a:r>
            <a:endParaRPr lang="en-IN" sz="75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CFEFBD-AA6A-B751-31C4-8FA1DDA3E6BA}"/>
              </a:ext>
            </a:extLst>
          </p:cNvPr>
          <p:cNvSpPr txBox="1"/>
          <p:nvPr/>
        </p:nvSpPr>
        <p:spPr>
          <a:xfrm>
            <a:off x="381000" y="4902200"/>
            <a:ext cx="7112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900" b="1">
                <a:solidFill>
                  <a:srgbClr val="0F766E"/>
                </a:solidFill>
                <a:latin typeface="Arial" panose="020B0604020202020204" pitchFamily="34" charset="0"/>
              </a:rPr>
              <a:t>[9] </a:t>
            </a:r>
            <a:r>
              <a:rPr lang="en-US" sz="900">
                <a:solidFill>
                  <a:srgbClr val="1F2937"/>
                </a:solidFill>
                <a:latin typeface="Arial" panose="020B0604020202020204" pitchFamily="34" charset="0"/>
              </a:rPr>
              <a:t>Systematic review: ML for anomaly detection in smart water metering networks (2024)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750">
                <a:solidFill>
                  <a:srgbClr val="0070C0"/>
                </a:solidFill>
                <a:latin typeface="Arial" panose="020B0604020202020204" pitchFamily="34" charset="0"/>
                <a:hlinkClick r:id="rId12"/>
              </a:rPr>
              <a:t>sciencedirect.com/science/article/pii/S1474706524000160</a:t>
            </a:r>
            <a:endParaRPr lang="en-IN" sz="75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B4B58D-CA3B-2242-ACDB-250516FDDA20}"/>
              </a:ext>
            </a:extLst>
          </p:cNvPr>
          <p:cNvSpPr txBox="1"/>
          <p:nvPr/>
        </p:nvSpPr>
        <p:spPr>
          <a:xfrm>
            <a:off x="381000" y="5340350"/>
            <a:ext cx="7112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00" b="1">
                <a:solidFill>
                  <a:srgbClr val="0F766E"/>
                </a:solidFill>
                <a:latin typeface="Arial" panose="020B0604020202020204" pitchFamily="34" charset="0"/>
              </a:rPr>
              <a:t>[10] </a:t>
            </a: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SIH 2026 problem statement SIH26255, Ministry of Jal Shakti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750">
                <a:solidFill>
                  <a:srgbClr val="0070C0"/>
                </a:solidFill>
                <a:latin typeface="Arial" panose="020B0604020202020204" pitchFamily="34" charset="0"/>
                <a:hlinkClick r:id="rId13"/>
              </a:rPr>
              <a:t>sih.gov.in/sih2026PS</a:t>
            </a:r>
            <a:endParaRPr lang="en-IN" sz="75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0C7844-8B9E-7248-65B9-E18C1A7411FB}"/>
              </a:ext>
            </a:extLst>
          </p:cNvPr>
          <p:cNvSpPr txBox="1"/>
          <p:nvPr/>
        </p:nvSpPr>
        <p:spPr>
          <a:xfrm>
            <a:off x="381000" y="5778500"/>
            <a:ext cx="71120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00" b="1">
                <a:solidFill>
                  <a:srgbClr val="0F766E"/>
                </a:solidFill>
                <a:latin typeface="Arial" panose="020B0604020202020204" pitchFamily="34" charset="0"/>
              </a:rPr>
              <a:t>[11] </a:t>
            </a: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JalRakshak clickable prototype – Google Stitch (simulated data)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750">
                <a:solidFill>
                  <a:srgbClr val="0070C0"/>
                </a:solidFill>
                <a:latin typeface="Arial" panose="020B0604020202020204" pitchFamily="34" charset="0"/>
                <a:hlinkClick r:id="rId14"/>
              </a:rPr>
              <a:t>stitch.google.com/projects/5969310015179761668</a:t>
            </a:r>
            <a:endParaRPr lang="en-IN" sz="75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67DC539-B2A5-41B8-F204-9D49416496C5}"/>
              </a:ext>
            </a:extLst>
          </p:cNvPr>
          <p:cNvSpPr/>
          <p:nvPr/>
        </p:nvSpPr>
        <p:spPr>
          <a:xfrm>
            <a:off x="7670800" y="1168400"/>
            <a:ext cx="4140200" cy="5080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5447BC-747B-C124-76E8-6FC74E2228C0}"/>
              </a:ext>
            </a:extLst>
          </p:cNvPr>
          <p:cNvSpPr txBox="1"/>
          <p:nvPr/>
        </p:nvSpPr>
        <p:spPr>
          <a:xfrm>
            <a:off x="7747000" y="1219200"/>
            <a:ext cx="39878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1150" b="1">
                <a:solidFill>
                  <a:srgbClr val="0F766E"/>
                </a:solidFill>
                <a:latin typeface="Arial" panose="020B0604020202020204" pitchFamily="34" charset="0"/>
              </a:rPr>
              <a:t>How to read our claims</a:t>
            </a:r>
            <a:endParaRPr lang="en-IN" sz="115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BDA14AF-EF61-6A60-A5BC-060D06641A57}"/>
              </a:ext>
            </a:extLst>
          </p:cNvPr>
          <p:cNvSpPr/>
          <p:nvPr/>
        </p:nvSpPr>
        <p:spPr>
          <a:xfrm>
            <a:off x="7772400" y="1473200"/>
            <a:ext cx="1905000" cy="2286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50" b="1">
                <a:solidFill>
                  <a:srgbClr val="15803D"/>
                </a:solidFill>
                <a:latin typeface="Arial" panose="020B0604020202020204" pitchFamily="34" charset="0"/>
              </a:rPr>
              <a:t>VERIFIED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F1A698-9725-5DF2-C962-F4D53E6AA3C7}"/>
              </a:ext>
            </a:extLst>
          </p:cNvPr>
          <p:cNvSpPr txBox="1"/>
          <p:nvPr/>
        </p:nvSpPr>
        <p:spPr>
          <a:xfrm>
            <a:off x="7772400" y="1727200"/>
            <a:ext cx="3962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900">
                <a:solidFill>
                  <a:srgbClr val="1F2937"/>
                </a:solidFill>
                <a:latin typeface="Arial" panose="020B0604020202020204" pitchFamily="34" charset="0"/>
              </a:rPr>
              <a:t>Figures with a [n] citation, checked against official sources on 16 Oct 2026</a:t>
            </a:r>
            <a:endParaRPr lang="en-IN" sz="90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C6C2595-EC41-929C-53E8-057CB3F3A35D}"/>
              </a:ext>
            </a:extLst>
          </p:cNvPr>
          <p:cNvSpPr/>
          <p:nvPr/>
        </p:nvSpPr>
        <p:spPr>
          <a:xfrm>
            <a:off x="7772400" y="2463800"/>
            <a:ext cx="190500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50" b="1">
                <a:solidFill>
                  <a:srgbClr val="0070C0"/>
                </a:solidFill>
                <a:latin typeface="Arial" panose="020B0604020202020204" pitchFamily="34" charset="0"/>
              </a:rPr>
              <a:t>PROPOSED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E4F495-9CB4-1601-4522-C55C1DF4CBA2}"/>
              </a:ext>
            </a:extLst>
          </p:cNvPr>
          <p:cNvSpPr txBox="1"/>
          <p:nvPr/>
        </p:nvSpPr>
        <p:spPr>
          <a:xfrm>
            <a:off x="7772400" y="2717800"/>
            <a:ext cx="3962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900">
                <a:solidFill>
                  <a:srgbClr val="1F2937"/>
                </a:solidFill>
                <a:latin typeface="Arial" panose="020B0604020202020204" pitchFamily="34" charset="0"/>
              </a:rPr>
              <a:t>Architecture, risk scoring, evidence fusion and verification: our design</a:t>
            </a:r>
            <a:endParaRPr lang="en-IN" sz="90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1E8C1CB-028E-378F-785F-04F08F7074A2}"/>
              </a:ext>
            </a:extLst>
          </p:cNvPr>
          <p:cNvSpPr/>
          <p:nvPr/>
        </p:nvSpPr>
        <p:spPr>
          <a:xfrm>
            <a:off x="7772400" y="3454400"/>
            <a:ext cx="1905000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50" b="1">
                <a:solidFill>
                  <a:srgbClr val="B45309"/>
                </a:solidFill>
                <a:latin typeface="Arial" panose="020B0604020202020204" pitchFamily="34" charset="0"/>
              </a:rPr>
              <a:t>SIMULATED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E10A6D-8975-3153-8891-25D264C8DF66}"/>
              </a:ext>
            </a:extLst>
          </p:cNvPr>
          <p:cNvSpPr txBox="1"/>
          <p:nvPr/>
        </p:nvSpPr>
        <p:spPr>
          <a:xfrm>
            <a:off x="7772400" y="3708400"/>
            <a:ext cx="3962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900">
                <a:solidFill>
                  <a:srgbClr val="1F2937"/>
                </a:solidFill>
                <a:latin typeface="Arial" panose="020B0604020202020204" pitchFamily="34" charset="0"/>
              </a:rPr>
              <a:t>Village, Pipeline P-21, Complaint #2048, sensor readings, image analysis and scores: demo data, labelled on screen</a:t>
            </a:r>
            <a:endParaRPr lang="en-IN" sz="900">
              <a:solidFill>
                <a:srgbClr val="1F2937"/>
              </a:solidFill>
              <a:latin typeface="Arial" panose="020B06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D60636C-3420-C60E-DF2E-F5C1DA5EDA65}"/>
              </a:ext>
            </a:extLst>
          </p:cNvPr>
          <p:cNvSpPr/>
          <p:nvPr/>
        </p:nvSpPr>
        <p:spPr>
          <a:xfrm>
            <a:off x="7772400" y="4445000"/>
            <a:ext cx="1905000" cy="2286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Ins="50800" bIns="25400" rtlCol="0" anchor="ctr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IN" sz="850" b="1">
                <a:solidFill>
                  <a:srgbClr val="B91C1C"/>
                </a:solidFill>
                <a:latin typeface="Arial" panose="020B0604020202020204" pitchFamily="34" charset="0"/>
              </a:rPr>
              <a:t>NOT YET IMPLEMENTED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542ECA-8770-464A-5D6E-36B69BD1081B}"/>
              </a:ext>
            </a:extLst>
          </p:cNvPr>
          <p:cNvSpPr txBox="1"/>
          <p:nvPr/>
        </p:nvSpPr>
        <p:spPr>
          <a:xfrm>
            <a:off x="7772400" y="4699000"/>
            <a:ext cx="3962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IN" sz="900">
                <a:solidFill>
                  <a:srgbClr val="1F2937"/>
                </a:solidFill>
                <a:latin typeface="Arial" panose="020B0604020202020204" pitchFamily="34" charset="0"/>
              </a:rPr>
              <a:t>Field deployment, trained vision model, IMIS / Sujalam Bharat / JJM API integration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8AF989-AF7A-9D66-46B6-B3E851779F00}"/>
              </a:ext>
            </a:extLst>
          </p:cNvPr>
          <p:cNvSpPr txBox="1"/>
          <p:nvPr/>
        </p:nvSpPr>
        <p:spPr>
          <a:xfrm>
            <a:off x="7772400" y="5461000"/>
            <a:ext cx="3962400" cy="369332"/>
          </a:xfrm>
          <a:prstGeom prst="rect">
            <a:avLst/>
          </a:prstGeom>
          <a:noFill/>
        </p:spPr>
        <p:txBody>
          <a:bodyPr vert="horz" wrap="square" lIns="50800" tIns="25400" rIns="50800" bIns="25400" rtlCol="0" anchor="t"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sz="850" i="1">
                <a:solidFill>
                  <a:srgbClr val="475569"/>
                </a:solidFill>
                <a:latin typeface="Arial" panose="020B0604020202020204" pitchFamily="34" charset="0"/>
              </a:rPr>
              <a:t>No model accuracy, field results or supplier prices are claimed. pH, TDS and turbidity readings are indicators that trigger confirmatory testing, not a safety certification.</a:t>
            </a:r>
            <a:endParaRPr lang="en-IN" sz="850" i="1">
              <a:solidFill>
                <a:srgbClr val="47556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1769</Words>
  <Application>Microsoft Office PowerPoint</Application>
  <PresentationFormat>Widescreen</PresentationFormat>
  <Paragraphs>214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JalRakshak: Closed-Loop Water-Service Assurance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Holkundi Ganesh</cp:lastModifiedBy>
  <cp:revision>149</cp:revision>
  <dcterms:created xsi:type="dcterms:W3CDTF">2013-12-12T18:46:50Z</dcterms:created>
  <dcterms:modified xsi:type="dcterms:W3CDTF">2026-10-16T14:33:10Z</dcterms:modified>
  <cp:category/>
</cp:coreProperties>
</file>